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5"/>
  </p:notesMasterIdLst>
  <p:handoutMasterIdLst>
    <p:handoutMasterId r:id="rId26"/>
  </p:handoutMasterIdLst>
  <p:sldIdLst>
    <p:sldId id="410" r:id="rId5"/>
    <p:sldId id="383" r:id="rId6"/>
    <p:sldId id="416" r:id="rId7"/>
    <p:sldId id="418" r:id="rId8"/>
    <p:sldId id="391" r:id="rId9"/>
    <p:sldId id="420" r:id="rId10"/>
    <p:sldId id="427" r:id="rId11"/>
    <p:sldId id="428" r:id="rId12"/>
    <p:sldId id="429" r:id="rId13"/>
    <p:sldId id="430" r:id="rId14"/>
    <p:sldId id="431" r:id="rId15"/>
    <p:sldId id="422" r:id="rId16"/>
    <p:sldId id="421" r:id="rId17"/>
    <p:sldId id="423" r:id="rId18"/>
    <p:sldId id="424" r:id="rId19"/>
    <p:sldId id="425" r:id="rId20"/>
    <p:sldId id="426" r:id="rId21"/>
    <p:sldId id="417" r:id="rId22"/>
    <p:sldId id="419" r:id="rId23"/>
    <p:sldId id="39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CA6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D7AC3CCA-C797-4891-BE02-D94E43425B78}" styleName="Stile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D5ABB26-0587-4C30-8999-92F81FD0307C}" styleName="Nessuno stile, nessuna grigli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Stile chi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76129" autoAdjust="0"/>
  </p:normalViewPr>
  <p:slideViewPr>
    <p:cSldViewPr snapToGrid="0">
      <p:cViewPr varScale="1">
        <p:scale>
          <a:sx n="73" d="100"/>
          <a:sy n="73" d="100"/>
        </p:scale>
        <p:origin x="812" y="4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ssone  Tommaso Francesco" userId="2c3c5e9e-7042-46e3-8079-713617fec319" providerId="ADAL" clId="{C29AC721-C890-4C8E-9795-70F84FAD450F}"/>
    <pc:docChg chg="modSld">
      <pc:chgData name="Massone  Tommaso Francesco" userId="2c3c5e9e-7042-46e3-8079-713617fec319" providerId="ADAL" clId="{C29AC721-C890-4C8E-9795-70F84FAD450F}" dt="2025-01-03T16:39:39.349" v="6"/>
      <pc:docMkLst>
        <pc:docMk/>
      </pc:docMkLst>
      <pc:sldChg chg="modNotesTx">
        <pc:chgData name="Massone  Tommaso Francesco" userId="2c3c5e9e-7042-46e3-8079-713617fec319" providerId="ADAL" clId="{C29AC721-C890-4C8E-9795-70F84FAD450F}" dt="2025-01-03T16:36:39.747" v="5" actId="20577"/>
        <pc:sldMkLst>
          <pc:docMk/>
          <pc:sldMk cId="3907535366" sldId="416"/>
        </pc:sldMkLst>
      </pc:sldChg>
      <pc:sldChg chg="modNotesTx">
        <pc:chgData name="Massone  Tommaso Francesco" userId="2c3c5e9e-7042-46e3-8079-713617fec319" providerId="ADAL" clId="{C29AC721-C890-4C8E-9795-70F84FAD450F}" dt="2025-01-03T16:39:39.349" v="6"/>
        <pc:sldMkLst>
          <pc:docMk/>
          <pc:sldMk cId="3842757368" sldId="41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1/3/2025</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‹N›</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1/3/2025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‹N›</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GB" dirty="0"/>
              <a:t>Good morning, everyone. Today, we will talk about the influence of rims and tires on vehicle aerodynamics, focusing on both cars and motorcycles.</a:t>
            </a:r>
          </a:p>
          <a:p>
            <a:r>
              <a:rPr lang="en-GB" dirty="0"/>
              <a:t>First, let’s consider the importance of aerodynamics. Aerodynamics significantly impacts vehicle performance, affecting fuel consumption, speed, and stability. Among the various components, rims and tires play a crucial role in shaping airflow around the vehicle. The objectives of this study are to </a:t>
            </a:r>
            <a:r>
              <a:rPr lang="en-GB" dirty="0" err="1"/>
              <a:t>analyze</a:t>
            </a:r>
            <a:r>
              <a:rPr lang="en-GB" dirty="0"/>
              <a:t> the effects of these components and understand how differences, such as rotating vs. stationary wheels or tire geometries, influence the overall aerodynamic performance.</a:t>
            </a:r>
          </a:p>
          <a:p>
            <a:r>
              <a:rPr lang="en-GB" dirty="0"/>
              <a:t>For cars, we’ll explore how wheel rotation creates vortexes, how tire deformations and grooves impact airflow, and how rim designs affect drag and lift. For motorcycles, the interaction between the tires and the fairing is even more critical, as it directly affects stability.</a:t>
            </a:r>
          </a:p>
          <a:p>
            <a:endParaRPr lang="en-GB" dirty="0"/>
          </a:p>
        </p:txBody>
      </p:sp>
      <p:sp>
        <p:nvSpPr>
          <p:cNvPr id="4" name="Segnaposto numero diapositiva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1174919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First of </a:t>
            </a:r>
            <a:r>
              <a:rPr lang="it-IT" dirty="0" err="1"/>
              <a:t>all</a:t>
            </a:r>
            <a:r>
              <a:rPr lang="it-IT" dirty="0"/>
              <a:t> </a:t>
            </a:r>
            <a:r>
              <a:rPr lang="it-IT" dirty="0" err="1"/>
              <a:t>we</a:t>
            </a:r>
            <a:r>
              <a:rPr lang="it-IT" dirty="0"/>
              <a:t> focus </a:t>
            </a:r>
            <a:r>
              <a:rPr lang="it-IT" dirty="0" err="1"/>
              <a:t>our</a:t>
            </a:r>
            <a:r>
              <a:rPr lang="it-IT" dirty="0"/>
              <a:t> </a:t>
            </a:r>
            <a:r>
              <a:rPr lang="it-IT" dirty="0" err="1"/>
              <a:t>attention</a:t>
            </a:r>
            <a:r>
              <a:rPr lang="it-IT" dirty="0"/>
              <a:t> on the </a:t>
            </a:r>
            <a:r>
              <a:rPr lang="it-IT" dirty="0" err="1"/>
              <a:t>influence</a:t>
            </a:r>
            <a:r>
              <a:rPr lang="it-IT" dirty="0"/>
              <a:t> of </a:t>
            </a:r>
            <a:r>
              <a:rPr lang="it-IT" dirty="0" err="1"/>
              <a:t>different</a:t>
            </a:r>
            <a:r>
              <a:rPr lang="it-IT" dirty="0"/>
              <a:t> </a:t>
            </a:r>
            <a:r>
              <a:rPr lang="it-IT" dirty="0" err="1"/>
              <a:t>geometries</a:t>
            </a:r>
            <a:r>
              <a:rPr lang="it-IT" dirty="0"/>
              <a:t> and </a:t>
            </a:r>
            <a:r>
              <a:rPr lang="it-IT" dirty="0" err="1"/>
              <a:t>configurations</a:t>
            </a:r>
            <a:r>
              <a:rPr lang="it-IT" dirty="0"/>
              <a:t> of </a:t>
            </a:r>
            <a:r>
              <a:rPr lang="it-IT" dirty="0" err="1"/>
              <a:t>rim</a:t>
            </a:r>
            <a:r>
              <a:rPr lang="it-IT" dirty="0"/>
              <a:t> and </a:t>
            </a:r>
            <a:r>
              <a:rPr lang="it-IT" dirty="0" err="1"/>
              <a:t>tyre</a:t>
            </a:r>
            <a:r>
              <a:rPr lang="it-IT" dirty="0"/>
              <a:t> on the car </a:t>
            </a:r>
            <a:r>
              <a:rPr lang="it-IT" dirty="0" err="1"/>
              <a:t>aerodynamic</a:t>
            </a:r>
            <a:r>
              <a:rPr lang="it-IT" dirty="0"/>
              <a:t>, </a:t>
            </a:r>
            <a:r>
              <a:rPr lang="it-IT" dirty="0" err="1"/>
              <a:t>tyre</a:t>
            </a:r>
            <a:r>
              <a:rPr lang="it-IT" dirty="0"/>
              <a:t> pattern and </a:t>
            </a:r>
            <a:r>
              <a:rPr lang="it-IT" dirty="0" err="1"/>
              <a:t>rim</a:t>
            </a:r>
            <a:r>
              <a:rPr lang="it-IT" dirty="0"/>
              <a:t> </a:t>
            </a:r>
            <a:r>
              <a:rPr lang="it-IT" dirty="0" err="1"/>
              <a:t>configurations</a:t>
            </a:r>
            <a:r>
              <a:rPr lang="it-IT" dirty="0"/>
              <a:t> </a:t>
            </a:r>
            <a:r>
              <a:rPr lang="it-IT" dirty="0" err="1"/>
              <a:t>as</a:t>
            </a:r>
            <a:r>
              <a:rPr lang="it-IT" dirty="0"/>
              <a:t> </a:t>
            </a:r>
            <a:r>
              <a:rPr lang="it-IT" dirty="0" err="1"/>
              <a:t>most</a:t>
            </a:r>
            <a:r>
              <a:rPr lang="it-IT" dirty="0"/>
              <a:t> </a:t>
            </a:r>
            <a:r>
              <a:rPr lang="it-IT" dirty="0" err="1"/>
              <a:t>important</a:t>
            </a:r>
            <a:r>
              <a:rPr lang="it-IT" dirty="0"/>
              <a:t> </a:t>
            </a:r>
            <a:r>
              <a:rPr lang="it-IT" dirty="0" err="1"/>
              <a:t>parameters</a:t>
            </a:r>
            <a:r>
              <a:rPr lang="it-IT" dirty="0"/>
              <a:t> </a:t>
            </a: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90A0A-25BC-F54E-FB2E-130E38F5EA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2FCBB3-9744-39CC-7550-F02D9308CE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530CA1-E4A1-99C5-288D-A42E0775B700}"/>
              </a:ext>
            </a:extLst>
          </p:cNvPr>
          <p:cNvSpPr>
            <a:spLocks noGrp="1"/>
          </p:cNvSpPr>
          <p:nvPr>
            <p:ph type="body" idx="1"/>
          </p:nvPr>
        </p:nvSpPr>
        <p:spPr/>
        <p:txBody>
          <a:bodyPr/>
          <a:lstStyle/>
          <a:p>
            <a:r>
              <a:rPr lang="it-IT" dirty="0"/>
              <a:t>The first </a:t>
            </a:r>
            <a:r>
              <a:rPr lang="it-IT" dirty="0" err="1"/>
              <a:t>aspect</a:t>
            </a:r>
            <a:r>
              <a:rPr lang="it-IT" dirty="0"/>
              <a:t> that </a:t>
            </a:r>
            <a:r>
              <a:rPr lang="it-IT" dirty="0" err="1"/>
              <a:t>we</a:t>
            </a:r>
            <a:r>
              <a:rPr lang="it-IT" dirty="0"/>
              <a:t> </a:t>
            </a:r>
            <a:r>
              <a:rPr lang="it-IT" dirty="0" err="1"/>
              <a:t>consider</a:t>
            </a:r>
            <a:r>
              <a:rPr lang="it-IT" dirty="0"/>
              <a:t> </a:t>
            </a:r>
            <a:r>
              <a:rPr lang="it-IT" dirty="0" err="1"/>
              <a:t>is</a:t>
            </a:r>
            <a:r>
              <a:rPr lang="it-IT" dirty="0"/>
              <a:t> </a:t>
            </a:r>
            <a:r>
              <a:rPr lang="it-IT" dirty="0" err="1"/>
              <a:t>fundamendal</a:t>
            </a:r>
            <a:r>
              <a:rPr lang="it-IT" dirty="0"/>
              <a:t> to </a:t>
            </a:r>
            <a:r>
              <a:rPr lang="it-IT" dirty="0" err="1"/>
              <a:t>correcty</a:t>
            </a:r>
            <a:r>
              <a:rPr lang="it-IT" dirty="0"/>
              <a:t> </a:t>
            </a:r>
            <a:r>
              <a:rPr lang="it-IT" dirty="0" err="1"/>
              <a:t>develop</a:t>
            </a:r>
            <a:r>
              <a:rPr lang="it-IT" dirty="0"/>
              <a:t> CFD </a:t>
            </a:r>
            <a:r>
              <a:rPr lang="it-IT" dirty="0" err="1"/>
              <a:t>simulations</a:t>
            </a:r>
            <a:r>
              <a:rPr lang="it-IT" dirty="0"/>
              <a:t> and the wind tunnel </a:t>
            </a:r>
            <a:r>
              <a:rPr lang="it-IT" dirty="0" err="1"/>
              <a:t>measurements</a:t>
            </a:r>
            <a:r>
              <a:rPr lang="it-IT" dirty="0"/>
              <a:t>, that </a:t>
            </a:r>
            <a:r>
              <a:rPr lang="it-IT" dirty="0" err="1"/>
              <a:t>is</a:t>
            </a:r>
            <a:r>
              <a:rPr lang="it-IT" dirty="0"/>
              <a:t> the </a:t>
            </a:r>
            <a:r>
              <a:rPr lang="it-IT" dirty="0" err="1"/>
              <a:t>influence</a:t>
            </a:r>
            <a:r>
              <a:rPr lang="it-IT" dirty="0"/>
              <a:t> of the </a:t>
            </a:r>
            <a:r>
              <a:rPr lang="it-IT" dirty="0" err="1"/>
              <a:t>rotation</a:t>
            </a:r>
            <a:r>
              <a:rPr lang="it-IT" dirty="0"/>
              <a:t> of the </a:t>
            </a:r>
            <a:r>
              <a:rPr lang="it-IT" dirty="0" err="1"/>
              <a:t>wheel</a:t>
            </a:r>
            <a:r>
              <a:rPr lang="it-IT" dirty="0"/>
              <a:t>. In this case a race car </a:t>
            </a:r>
            <a:r>
              <a:rPr lang="it-IT" dirty="0" err="1"/>
              <a:t>has</a:t>
            </a:r>
            <a:r>
              <a:rPr lang="it-IT" dirty="0"/>
              <a:t> </a:t>
            </a:r>
            <a:r>
              <a:rPr lang="it-IT" dirty="0" err="1"/>
              <a:t>been</a:t>
            </a:r>
            <a:r>
              <a:rPr lang="it-IT" dirty="0"/>
              <a:t> </a:t>
            </a:r>
            <a:r>
              <a:rPr lang="it-IT" dirty="0" err="1"/>
              <a:t>analyzed</a:t>
            </a:r>
            <a:r>
              <a:rPr lang="it-IT" dirty="0"/>
              <a:t> (like a formula 1 car), by a CFD </a:t>
            </a:r>
            <a:r>
              <a:rPr lang="it-IT" dirty="0" err="1"/>
              <a:t>simulation</a:t>
            </a:r>
            <a:r>
              <a:rPr lang="it-IT" dirty="0"/>
              <a:t> </a:t>
            </a:r>
            <a:r>
              <a:rPr lang="it-IT" dirty="0" err="1"/>
              <a:t>considering</a:t>
            </a:r>
            <a:r>
              <a:rPr lang="it-IT" dirty="0"/>
              <a:t> 4 </a:t>
            </a:r>
            <a:r>
              <a:rPr lang="it-IT" dirty="0" err="1"/>
              <a:t>different</a:t>
            </a:r>
            <a:r>
              <a:rPr lang="it-IT" dirty="0"/>
              <a:t> </a:t>
            </a:r>
            <a:r>
              <a:rPr lang="it-IT" dirty="0" err="1"/>
              <a:t>sections</a:t>
            </a:r>
            <a:r>
              <a:rPr lang="it-IT" dirty="0"/>
              <a:t> </a:t>
            </a:r>
            <a:r>
              <a:rPr lang="it-IT" dirty="0" err="1"/>
              <a:t>planes</a:t>
            </a:r>
            <a:r>
              <a:rPr lang="it-IT" dirty="0"/>
              <a:t> </a:t>
            </a:r>
            <a:r>
              <a:rPr lang="it-IT" dirty="0" err="1"/>
              <a:t>located</a:t>
            </a:r>
            <a:r>
              <a:rPr lang="it-IT" dirty="0"/>
              <a:t> </a:t>
            </a:r>
            <a:r>
              <a:rPr lang="it-IT" dirty="0" err="1"/>
              <a:t>at</a:t>
            </a:r>
            <a:r>
              <a:rPr lang="it-IT" dirty="0"/>
              <a:t> </a:t>
            </a:r>
            <a:r>
              <a:rPr lang="it-IT" dirty="0" err="1"/>
              <a:t>different</a:t>
            </a:r>
            <a:r>
              <a:rPr lang="it-IT" dirty="0"/>
              <a:t> </a:t>
            </a:r>
            <a:r>
              <a:rPr lang="it-IT" dirty="0" err="1"/>
              <a:t>distances</a:t>
            </a:r>
            <a:r>
              <a:rPr lang="it-IT" dirty="0"/>
              <a:t> from the front </a:t>
            </a:r>
            <a:r>
              <a:rPr lang="it-IT" dirty="0" err="1"/>
              <a:t>wing</a:t>
            </a:r>
            <a:r>
              <a:rPr lang="it-IT" dirty="0"/>
              <a:t> of the car to the </a:t>
            </a:r>
            <a:r>
              <a:rPr lang="it-IT" dirty="0" err="1"/>
              <a:t>rear</a:t>
            </a:r>
            <a:r>
              <a:rPr lang="it-IT" dirty="0"/>
              <a:t> part (from A to D) and </a:t>
            </a:r>
            <a:r>
              <a:rPr lang="it-IT" dirty="0" err="1"/>
              <a:t>two</a:t>
            </a:r>
            <a:r>
              <a:rPr lang="it-IT" dirty="0"/>
              <a:t> </a:t>
            </a:r>
            <a:r>
              <a:rPr lang="it-IT" dirty="0" err="1"/>
              <a:t>different</a:t>
            </a:r>
            <a:r>
              <a:rPr lang="it-IT" dirty="0"/>
              <a:t> </a:t>
            </a:r>
            <a:r>
              <a:rPr lang="it-IT" dirty="0" err="1"/>
              <a:t>configurations</a:t>
            </a:r>
            <a:r>
              <a:rPr lang="it-IT" dirty="0"/>
              <a:t> </a:t>
            </a:r>
            <a:r>
              <a:rPr lang="it-IT" dirty="0" err="1"/>
              <a:t>has</a:t>
            </a:r>
            <a:r>
              <a:rPr lang="it-IT" dirty="0"/>
              <a:t> </a:t>
            </a:r>
            <a:r>
              <a:rPr lang="it-IT" dirty="0" err="1"/>
              <a:t>been</a:t>
            </a:r>
            <a:r>
              <a:rPr lang="it-IT" dirty="0"/>
              <a:t> </a:t>
            </a:r>
            <a:r>
              <a:rPr lang="it-IT" dirty="0" err="1"/>
              <a:t>examined</a:t>
            </a:r>
            <a:r>
              <a:rPr lang="it-IT" dirty="0"/>
              <a:t>: one with </a:t>
            </a:r>
            <a:r>
              <a:rPr lang="it-IT" dirty="0" err="1"/>
              <a:t>rotating</a:t>
            </a:r>
            <a:r>
              <a:rPr lang="it-IT" dirty="0"/>
              <a:t> </a:t>
            </a:r>
            <a:r>
              <a:rPr lang="it-IT" dirty="0" err="1"/>
              <a:t>wheels</a:t>
            </a:r>
            <a:r>
              <a:rPr lang="it-IT" dirty="0"/>
              <a:t> (the </a:t>
            </a:r>
            <a:r>
              <a:rPr lang="it-IT" dirty="0" err="1"/>
              <a:t>column</a:t>
            </a:r>
            <a:r>
              <a:rPr lang="it-IT" dirty="0"/>
              <a:t> on the </a:t>
            </a:r>
            <a:r>
              <a:rPr lang="it-IT" dirty="0" err="1"/>
              <a:t>right</a:t>
            </a:r>
            <a:r>
              <a:rPr lang="it-IT" dirty="0"/>
              <a:t>) and </a:t>
            </a:r>
            <a:r>
              <a:rPr lang="it-IT" dirty="0" err="1"/>
              <a:t>another</a:t>
            </a:r>
            <a:r>
              <a:rPr lang="it-IT" dirty="0"/>
              <a:t> one with </a:t>
            </a:r>
            <a:r>
              <a:rPr lang="it-IT" dirty="0" err="1"/>
              <a:t>stationary</a:t>
            </a:r>
            <a:r>
              <a:rPr lang="it-IT" dirty="0"/>
              <a:t> </a:t>
            </a:r>
            <a:r>
              <a:rPr lang="it-IT" dirty="0" err="1"/>
              <a:t>wheels</a:t>
            </a:r>
            <a:r>
              <a:rPr lang="it-IT" dirty="0"/>
              <a:t> (the </a:t>
            </a:r>
            <a:r>
              <a:rPr lang="it-IT" dirty="0" err="1"/>
              <a:t>column</a:t>
            </a:r>
            <a:r>
              <a:rPr lang="it-IT" dirty="0"/>
              <a:t> on the </a:t>
            </a:r>
            <a:r>
              <a:rPr lang="it-IT" dirty="0" err="1"/>
              <a:t>left</a:t>
            </a:r>
            <a:r>
              <a:rPr lang="it-IT" dirty="0"/>
              <a:t>). From the </a:t>
            </a:r>
            <a:r>
              <a:rPr lang="it-IT" dirty="0" err="1"/>
              <a:t>reported</a:t>
            </a:r>
            <a:r>
              <a:rPr lang="it-IT" dirty="0"/>
              <a:t> pictures it can be </a:t>
            </a:r>
            <a:r>
              <a:rPr lang="it-IT" dirty="0" err="1"/>
              <a:t>noticed</a:t>
            </a:r>
            <a:r>
              <a:rPr lang="it-IT" dirty="0"/>
              <a:t> the generation of low speed </a:t>
            </a:r>
            <a:r>
              <a:rPr lang="it-IT" dirty="0" err="1"/>
              <a:t>regions</a:t>
            </a:r>
            <a:r>
              <a:rPr lang="it-IT" dirty="0"/>
              <a:t> and </a:t>
            </a:r>
            <a:r>
              <a:rPr lang="it-IT" dirty="0" err="1"/>
              <a:t>vortexes</a:t>
            </a:r>
            <a:r>
              <a:rPr lang="it-IT" dirty="0"/>
              <a:t> </a:t>
            </a:r>
            <a:r>
              <a:rPr lang="it-IT" dirty="0" err="1"/>
              <a:t>structure</a:t>
            </a:r>
            <a:r>
              <a:rPr lang="it-IT" dirty="0"/>
              <a:t> for </a:t>
            </a:r>
            <a:r>
              <a:rPr lang="it-IT" dirty="0" err="1"/>
              <a:t>both</a:t>
            </a:r>
            <a:r>
              <a:rPr lang="it-IT" dirty="0"/>
              <a:t> </a:t>
            </a:r>
            <a:r>
              <a:rPr lang="it-IT" dirty="0" err="1"/>
              <a:t>configurations</a:t>
            </a:r>
            <a:r>
              <a:rPr lang="it-IT" dirty="0"/>
              <a:t>, the </a:t>
            </a:r>
            <a:r>
              <a:rPr lang="it-IT" dirty="0" err="1"/>
              <a:t>shape</a:t>
            </a:r>
            <a:r>
              <a:rPr lang="it-IT" dirty="0"/>
              <a:t> of the </a:t>
            </a:r>
            <a:r>
              <a:rPr lang="it-IT" dirty="0" err="1"/>
              <a:t>vortexes</a:t>
            </a:r>
            <a:r>
              <a:rPr lang="it-IT" dirty="0"/>
              <a:t> </a:t>
            </a:r>
            <a:r>
              <a:rPr lang="it-IT" dirty="0" err="1"/>
              <a:t>is</a:t>
            </a:r>
            <a:r>
              <a:rPr lang="it-IT" dirty="0"/>
              <a:t> </a:t>
            </a:r>
            <a:r>
              <a:rPr lang="it-IT" dirty="0" err="1"/>
              <a:t>different</a:t>
            </a:r>
            <a:r>
              <a:rPr lang="it-IT" dirty="0"/>
              <a:t>, for </a:t>
            </a:r>
            <a:r>
              <a:rPr lang="it-IT" dirty="0" err="1"/>
              <a:t>example</a:t>
            </a:r>
            <a:r>
              <a:rPr lang="it-IT" dirty="0"/>
              <a:t> </a:t>
            </a:r>
            <a:r>
              <a:rPr lang="it-IT" dirty="0" err="1"/>
              <a:t>we</a:t>
            </a:r>
            <a:r>
              <a:rPr lang="it-IT" dirty="0"/>
              <a:t> can </a:t>
            </a:r>
            <a:r>
              <a:rPr lang="it-IT" dirty="0" err="1"/>
              <a:t>notice</a:t>
            </a:r>
            <a:r>
              <a:rPr lang="it-IT" dirty="0"/>
              <a:t> that in the </a:t>
            </a:r>
            <a:r>
              <a:rPr lang="it-IT" dirty="0" err="1"/>
              <a:t>stationary</a:t>
            </a:r>
            <a:r>
              <a:rPr lang="it-IT" dirty="0"/>
              <a:t> case the vortex </a:t>
            </a:r>
            <a:r>
              <a:rPr lang="it-IT" dirty="0" err="1"/>
              <a:t>is</a:t>
            </a:r>
            <a:r>
              <a:rPr lang="it-IT" dirty="0"/>
              <a:t> close to the car body. </a:t>
            </a:r>
            <a:r>
              <a:rPr lang="it-IT" dirty="0" err="1"/>
              <a:t>Another</a:t>
            </a:r>
            <a:r>
              <a:rPr lang="it-IT" dirty="0"/>
              <a:t> </a:t>
            </a:r>
            <a:r>
              <a:rPr lang="it-IT" dirty="0" err="1"/>
              <a:t>important</a:t>
            </a:r>
            <a:r>
              <a:rPr lang="it-IT" dirty="0"/>
              <a:t> </a:t>
            </a:r>
            <a:r>
              <a:rPr lang="it-IT" dirty="0" err="1"/>
              <a:t>difference</a:t>
            </a:r>
            <a:r>
              <a:rPr lang="it-IT" dirty="0"/>
              <a:t> </a:t>
            </a:r>
            <a:r>
              <a:rPr lang="it-IT" dirty="0" err="1"/>
              <a:t>is</a:t>
            </a:r>
            <a:r>
              <a:rPr lang="it-IT" dirty="0"/>
              <a:t> that in the </a:t>
            </a:r>
            <a:r>
              <a:rPr lang="it-IT" dirty="0" err="1"/>
              <a:t>rotating</a:t>
            </a:r>
            <a:r>
              <a:rPr lang="it-IT" dirty="0"/>
              <a:t> </a:t>
            </a:r>
            <a:r>
              <a:rPr lang="it-IT" dirty="0" err="1"/>
              <a:t>wheel</a:t>
            </a:r>
            <a:r>
              <a:rPr lang="it-IT" dirty="0"/>
              <a:t> case </a:t>
            </a:r>
            <a:r>
              <a:rPr lang="it-IT" dirty="0" err="1"/>
              <a:t>there</a:t>
            </a:r>
            <a:r>
              <a:rPr lang="it-IT" dirty="0"/>
              <a:t> </a:t>
            </a:r>
            <a:r>
              <a:rPr lang="it-IT" dirty="0" err="1"/>
              <a:t>is</a:t>
            </a:r>
            <a:r>
              <a:rPr lang="it-IT" dirty="0"/>
              <a:t> a </a:t>
            </a:r>
            <a:r>
              <a:rPr lang="it-IT" dirty="0" err="1"/>
              <a:t>gedual</a:t>
            </a:r>
            <a:r>
              <a:rPr lang="it-IT" dirty="0"/>
              <a:t> pressure </a:t>
            </a:r>
            <a:r>
              <a:rPr lang="it-IT" dirty="0" err="1"/>
              <a:t>reduction</a:t>
            </a:r>
            <a:r>
              <a:rPr lang="it-IT" dirty="0"/>
              <a:t> </a:t>
            </a:r>
            <a:r>
              <a:rPr lang="it-IT" dirty="0" err="1"/>
              <a:t>while</a:t>
            </a:r>
            <a:r>
              <a:rPr lang="it-IT" dirty="0"/>
              <a:t> in the </a:t>
            </a:r>
            <a:r>
              <a:rPr lang="it-IT" dirty="0" err="1"/>
              <a:t>stationary</a:t>
            </a:r>
            <a:r>
              <a:rPr lang="it-IT" dirty="0"/>
              <a:t> one it </a:t>
            </a:r>
            <a:r>
              <a:rPr lang="it-IT" dirty="0" err="1"/>
              <a:t>is</a:t>
            </a:r>
            <a:r>
              <a:rPr lang="it-IT" dirty="0"/>
              <a:t> </a:t>
            </a:r>
            <a:r>
              <a:rPr lang="it-IT" dirty="0" err="1"/>
              <a:t>greater</a:t>
            </a:r>
            <a:r>
              <a:rPr lang="it-IT" dirty="0"/>
              <a:t>.</a:t>
            </a:r>
          </a:p>
        </p:txBody>
      </p:sp>
      <p:sp>
        <p:nvSpPr>
          <p:cNvPr id="4" name="Slide Number Placeholder 3">
            <a:extLst>
              <a:ext uri="{FF2B5EF4-FFF2-40B4-BE49-F238E27FC236}">
                <a16:creationId xmlns:a16="http://schemas.microsoft.com/office/drawing/2014/main" id="{4489F139-6901-CC3F-CE95-86CCB09B2C35}"/>
              </a:ext>
            </a:extLst>
          </p:cNvPr>
          <p:cNvSpPr>
            <a:spLocks noGrp="1"/>
          </p:cNvSpPr>
          <p:nvPr>
            <p:ph type="sldNum" sz="quarter" idx="5"/>
          </p:nvPr>
        </p:nvSpPr>
        <p:spPr/>
        <p:txBody>
          <a:bodyPr/>
          <a:lstStyle/>
          <a:p>
            <a:fld id="{A89C7E07-3C67-C64C-8DA0-0404F6303970}" type="slidenum">
              <a:rPr lang="en-US" smtClean="0"/>
              <a:t>6</a:t>
            </a:fld>
            <a:endParaRPr lang="en-US"/>
          </a:p>
        </p:txBody>
      </p:sp>
    </p:spTree>
    <p:extLst>
      <p:ext uri="{BB962C8B-B14F-4D97-AF65-F5344CB8AC3E}">
        <p14:creationId xmlns:p14="http://schemas.microsoft.com/office/powerpoint/2010/main" val="28304861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5821B-999E-16CF-BCA0-B18592F67F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D8CC27-BC05-6CAB-7138-E9964C312C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A4DA37-4D85-76DD-1863-EBA3D68B0FFB}"/>
              </a:ext>
            </a:extLst>
          </p:cNvPr>
          <p:cNvSpPr>
            <a:spLocks noGrp="1"/>
          </p:cNvSpPr>
          <p:nvPr>
            <p:ph type="body" idx="1"/>
          </p:nvPr>
        </p:nvSpPr>
        <p:spPr/>
        <p:txBody>
          <a:bodyPr/>
          <a:lstStyle/>
          <a:p>
            <a:pPr>
              <a:lnSpc>
                <a:spcPct val="90000"/>
              </a:lnSpc>
              <a:spcBef>
                <a:spcPts val="1800"/>
              </a:spcBef>
            </a:pPr>
            <a:r>
              <a:rPr lang="it-IT" dirty="0"/>
              <a:t>Here </a:t>
            </a:r>
            <a:r>
              <a:rPr lang="it-IT" dirty="0" err="1"/>
              <a:t>we</a:t>
            </a:r>
            <a:r>
              <a:rPr lang="it-IT" dirty="0"/>
              <a:t> are </a:t>
            </a:r>
            <a:r>
              <a:rPr lang="it-IT" dirty="0" err="1"/>
              <a:t>analyzing</a:t>
            </a:r>
            <a:r>
              <a:rPr lang="it-IT" dirty="0"/>
              <a:t> the </a:t>
            </a:r>
            <a:r>
              <a:rPr lang="it-IT" dirty="0" err="1"/>
              <a:t>effect</a:t>
            </a:r>
            <a:r>
              <a:rPr lang="it-IT" dirty="0"/>
              <a:t> of the </a:t>
            </a:r>
            <a:r>
              <a:rPr lang="it-IT" dirty="0" err="1"/>
              <a:t>deformation</a:t>
            </a:r>
            <a:r>
              <a:rPr lang="it-IT" dirty="0"/>
              <a:t> on the </a:t>
            </a:r>
            <a:r>
              <a:rPr lang="it-IT" dirty="0" err="1"/>
              <a:t>wheel</a:t>
            </a:r>
            <a:r>
              <a:rPr lang="it-IT" dirty="0"/>
              <a:t> and the contact patch, </a:t>
            </a:r>
            <a:r>
              <a:rPr lang="it-IT" dirty="0" err="1"/>
              <a:t>two</a:t>
            </a:r>
            <a:r>
              <a:rPr lang="it-IT" dirty="0"/>
              <a:t> </a:t>
            </a:r>
            <a:r>
              <a:rPr lang="it-IT" dirty="0" err="1"/>
              <a:t>solutions</a:t>
            </a:r>
            <a:r>
              <a:rPr lang="it-IT" dirty="0"/>
              <a:t> are </a:t>
            </a:r>
            <a:r>
              <a:rPr lang="it-IT" dirty="0" err="1"/>
              <a:t>proposed</a:t>
            </a:r>
            <a:r>
              <a:rPr lang="it-IT" dirty="0"/>
              <a:t> in </a:t>
            </a:r>
            <a:r>
              <a:rPr lang="it-IT" dirty="0" err="1"/>
              <a:t>order</a:t>
            </a:r>
            <a:r>
              <a:rPr lang="it-IT" dirty="0"/>
              <a:t> to </a:t>
            </a:r>
            <a:r>
              <a:rPr lang="it-IT" dirty="0" err="1"/>
              <a:t>find</a:t>
            </a:r>
            <a:r>
              <a:rPr lang="it-IT" dirty="0"/>
              <a:t> the best one to be </a:t>
            </a:r>
            <a:r>
              <a:rPr lang="it-IT" dirty="0" err="1"/>
              <a:t>used</a:t>
            </a:r>
            <a:r>
              <a:rPr lang="it-IT" dirty="0"/>
              <a:t> in </a:t>
            </a:r>
            <a:r>
              <a:rPr lang="it-IT" dirty="0" err="1"/>
              <a:t>further</a:t>
            </a:r>
            <a:r>
              <a:rPr lang="it-IT" dirty="0"/>
              <a:t> CFD </a:t>
            </a:r>
            <a:r>
              <a:rPr lang="it-IT" dirty="0" err="1"/>
              <a:t>simulations</a:t>
            </a:r>
            <a:r>
              <a:rPr lang="it-IT" dirty="0"/>
              <a:t>. </a:t>
            </a:r>
            <a:r>
              <a:rPr lang="it-IT" dirty="0" err="1"/>
              <a:t>We</a:t>
            </a:r>
            <a:r>
              <a:rPr lang="it-IT" dirty="0"/>
              <a:t> can </a:t>
            </a:r>
            <a:r>
              <a:rPr lang="it-IT" dirty="0" err="1"/>
              <a:t>notice</a:t>
            </a:r>
            <a:r>
              <a:rPr lang="it-IT" dirty="0"/>
              <a:t> a </a:t>
            </a:r>
            <a:r>
              <a:rPr lang="it-IT" dirty="0" err="1"/>
              <a:t>different</a:t>
            </a:r>
            <a:r>
              <a:rPr lang="it-IT" dirty="0"/>
              <a:t> drag </a:t>
            </a:r>
            <a:r>
              <a:rPr lang="it-IT" dirty="0" err="1"/>
              <a:t>distribution</a:t>
            </a:r>
            <a:r>
              <a:rPr lang="it-IT" dirty="0"/>
              <a:t> </a:t>
            </a:r>
            <a:r>
              <a:rPr lang="it-IT" dirty="0" err="1"/>
              <a:t>particularly</a:t>
            </a:r>
            <a:r>
              <a:rPr lang="it-IT" dirty="0"/>
              <a:t> in the contact patch zone with an </a:t>
            </a:r>
            <a:r>
              <a:rPr lang="it-IT" dirty="0" err="1"/>
              <a:t>increase</a:t>
            </a:r>
            <a:r>
              <a:rPr lang="it-IT" dirty="0"/>
              <a:t> drag </a:t>
            </a:r>
            <a:r>
              <a:rPr lang="it-IT" dirty="0" err="1"/>
              <a:t>effect</a:t>
            </a:r>
            <a:r>
              <a:rPr lang="it-IT" dirty="0"/>
              <a:t> for the case in </a:t>
            </a:r>
            <a:r>
              <a:rPr lang="it-IT" dirty="0" err="1"/>
              <a:t>which</a:t>
            </a:r>
            <a:r>
              <a:rPr lang="it-IT" dirty="0"/>
              <a:t> </a:t>
            </a:r>
            <a:r>
              <a:rPr lang="it-IT" dirty="0" err="1"/>
              <a:t>grooves</a:t>
            </a:r>
            <a:r>
              <a:rPr lang="it-IT" dirty="0"/>
              <a:t> are </a:t>
            </a:r>
            <a:r>
              <a:rPr lang="it-IT" dirty="0" err="1"/>
              <a:t>not</a:t>
            </a:r>
            <a:r>
              <a:rPr lang="it-IT" dirty="0"/>
              <a:t> </a:t>
            </a:r>
            <a:r>
              <a:rPr lang="it-IT" dirty="0" err="1"/>
              <a:t>preserved</a:t>
            </a:r>
            <a:r>
              <a:rPr lang="it-IT" dirty="0"/>
              <a:t>, in </a:t>
            </a:r>
            <a:r>
              <a:rPr lang="it-IT" dirty="0" err="1"/>
              <a:t>both</a:t>
            </a:r>
            <a:r>
              <a:rPr lang="it-IT" dirty="0"/>
              <a:t> </a:t>
            </a:r>
            <a:r>
              <a:rPr lang="it-IT" dirty="0" err="1"/>
              <a:t>cases</a:t>
            </a:r>
            <a:r>
              <a:rPr lang="it-IT" dirty="0"/>
              <a:t> by </a:t>
            </a:r>
            <a:r>
              <a:rPr lang="it-IT" dirty="0" err="1"/>
              <a:t>analyzing</a:t>
            </a:r>
            <a:r>
              <a:rPr lang="it-IT" dirty="0"/>
              <a:t> the impact on the </a:t>
            </a:r>
            <a:r>
              <a:rPr lang="it-IT" dirty="0" err="1"/>
              <a:t>whole</a:t>
            </a:r>
            <a:r>
              <a:rPr lang="it-IT" dirty="0"/>
              <a:t> </a:t>
            </a:r>
            <a:r>
              <a:rPr lang="it-IT" dirty="0" err="1"/>
              <a:t>vehicle</a:t>
            </a:r>
            <a:r>
              <a:rPr lang="it-IT" dirty="0"/>
              <a:t> </a:t>
            </a:r>
            <a:r>
              <a:rPr lang="it-IT" dirty="0" err="1"/>
              <a:t>we</a:t>
            </a:r>
            <a:r>
              <a:rPr lang="it-IT" dirty="0"/>
              <a:t> can </a:t>
            </a:r>
            <a:r>
              <a:rPr lang="it-IT" dirty="0" err="1"/>
              <a:t>see</a:t>
            </a:r>
            <a:r>
              <a:rPr lang="it-IT" dirty="0"/>
              <a:t> </a:t>
            </a:r>
            <a:r>
              <a:rPr lang="it-IT" dirty="0" err="1"/>
              <a:t>that</a:t>
            </a:r>
            <a:r>
              <a:rPr lang="it-IT" dirty="0"/>
              <a:t> </a:t>
            </a:r>
            <a:r>
              <a:rPr lang="it-IT" dirty="0" err="1"/>
              <a:t>this</a:t>
            </a:r>
            <a:r>
              <a:rPr lang="it-IT" dirty="0"/>
              <a:t> </a:t>
            </a:r>
            <a:r>
              <a:rPr lang="it-IT" dirty="0" err="1"/>
              <a:t>change</a:t>
            </a:r>
            <a:r>
              <a:rPr lang="it-IT" dirty="0"/>
              <a:t> </a:t>
            </a:r>
            <a:r>
              <a:rPr lang="it-IT" dirty="0" err="1"/>
              <a:t>does</a:t>
            </a:r>
            <a:r>
              <a:rPr lang="it-IT" dirty="0"/>
              <a:t> </a:t>
            </a:r>
            <a:r>
              <a:rPr lang="it-IT" dirty="0" err="1"/>
              <a:t>not</a:t>
            </a:r>
            <a:r>
              <a:rPr lang="it-IT" dirty="0"/>
              <a:t> </a:t>
            </a:r>
            <a:r>
              <a:rPr lang="it-IT" dirty="0" err="1"/>
              <a:t>have</a:t>
            </a:r>
            <a:r>
              <a:rPr lang="it-IT" dirty="0"/>
              <a:t> a </a:t>
            </a:r>
            <a:r>
              <a:rPr lang="it-IT" dirty="0" err="1"/>
              <a:t>significant</a:t>
            </a:r>
            <a:r>
              <a:rPr lang="it-IT" dirty="0"/>
              <a:t> </a:t>
            </a:r>
            <a:r>
              <a:rPr lang="it-IT" dirty="0" err="1"/>
              <a:t>influence</a:t>
            </a:r>
            <a:r>
              <a:rPr lang="it-IT" dirty="0"/>
              <a:t> on the </a:t>
            </a:r>
            <a:r>
              <a:rPr lang="it-IT" dirty="0" err="1"/>
              <a:t>rear</a:t>
            </a:r>
            <a:r>
              <a:rPr lang="it-IT" dirty="0"/>
              <a:t> </a:t>
            </a:r>
            <a:r>
              <a:rPr lang="it-IT" dirty="0" err="1"/>
              <a:t>wake</a:t>
            </a:r>
            <a:r>
              <a:rPr lang="it-IT" dirty="0"/>
              <a:t>. In </a:t>
            </a:r>
            <a:r>
              <a:rPr lang="it-IT" dirty="0" err="1"/>
              <a:t>any</a:t>
            </a:r>
            <a:r>
              <a:rPr lang="it-IT" dirty="0"/>
              <a:t> case </a:t>
            </a:r>
            <a:r>
              <a:rPr lang="it-IT" dirty="0" err="1"/>
              <a:t>since</a:t>
            </a:r>
            <a:r>
              <a:rPr lang="it-IT" dirty="0"/>
              <a:t> the case B </a:t>
            </a:r>
            <a:r>
              <a:rPr lang="it-IT" dirty="0" err="1"/>
              <a:t>is</a:t>
            </a:r>
            <a:r>
              <a:rPr lang="it-IT" dirty="0"/>
              <a:t> the one </a:t>
            </a:r>
            <a:r>
              <a:rPr lang="it-IT" dirty="0" err="1"/>
              <a:t>closer</a:t>
            </a:r>
            <a:r>
              <a:rPr lang="it-IT" dirty="0"/>
              <a:t> to reality the following </a:t>
            </a:r>
            <a:r>
              <a:rPr lang="it-IT" dirty="0" err="1"/>
              <a:t>analysis</a:t>
            </a:r>
            <a:r>
              <a:rPr lang="it-IT" dirty="0"/>
              <a:t> are </a:t>
            </a:r>
            <a:r>
              <a:rPr lang="it-IT" dirty="0" err="1"/>
              <a:t>performed</a:t>
            </a:r>
            <a:r>
              <a:rPr lang="it-IT" dirty="0"/>
              <a:t> with </a:t>
            </a:r>
            <a:r>
              <a:rPr lang="it-IT" dirty="0" err="1"/>
              <a:t>that</a:t>
            </a:r>
            <a:r>
              <a:rPr lang="it-IT" dirty="0"/>
              <a:t> </a:t>
            </a:r>
            <a:r>
              <a:rPr lang="it-IT" dirty="0" err="1"/>
              <a:t>configuration</a:t>
            </a:r>
            <a:r>
              <a:rPr lang="it-IT" dirty="0"/>
              <a:t>.  </a:t>
            </a:r>
            <a:endParaRPr lang="it-IT" dirty="0">
              <a:ea typeface="Calibri"/>
              <a:cs typeface="Calibri"/>
            </a:endParaRPr>
          </a:p>
          <a:p>
            <a:pPr marL="342900" indent="-342900">
              <a:lnSpc>
                <a:spcPct val="90000"/>
              </a:lnSpc>
              <a:spcBef>
                <a:spcPts val="1800"/>
              </a:spcBef>
              <a:buFont typeface="Arial,Sans-Serif"/>
              <a:buChar char="•"/>
            </a:pPr>
            <a:endParaRPr lang="it-IT" dirty="0">
              <a:ea typeface="Calibri"/>
              <a:cs typeface="Calibri"/>
            </a:endParaRPr>
          </a:p>
          <a:p>
            <a:pPr>
              <a:lnSpc>
                <a:spcPct val="90000"/>
              </a:lnSpc>
              <a:spcBef>
                <a:spcPts val="1800"/>
              </a:spcBef>
            </a:pPr>
            <a:endParaRPr lang="it-IT"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07F5B5DB-677A-5205-737B-0137B8494A50}"/>
              </a:ext>
            </a:extLst>
          </p:cNvPr>
          <p:cNvSpPr>
            <a:spLocks noGrp="1"/>
          </p:cNvSpPr>
          <p:nvPr>
            <p:ph type="sldNum" sz="quarter" idx="5"/>
          </p:nvPr>
        </p:nvSpPr>
        <p:spPr/>
        <p:txBody>
          <a:bodyPr/>
          <a:lstStyle/>
          <a:p>
            <a:fld id="{A89C7E07-3C67-C64C-8DA0-0404F6303970}" type="slidenum">
              <a:rPr lang="en-US" smtClean="0"/>
              <a:t>7</a:t>
            </a:fld>
            <a:endParaRPr lang="en-US"/>
          </a:p>
        </p:txBody>
      </p:sp>
    </p:spTree>
    <p:extLst>
      <p:ext uri="{BB962C8B-B14F-4D97-AF65-F5344CB8AC3E}">
        <p14:creationId xmlns:p14="http://schemas.microsoft.com/office/powerpoint/2010/main" val="726825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7C608-50D3-6133-F050-9C9D2CC6FB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621900-FF09-A95D-86A7-6927ABC286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D25F91-3598-AB85-57B0-8A481B0CC7A3}"/>
              </a:ext>
            </a:extLst>
          </p:cNvPr>
          <p:cNvSpPr>
            <a:spLocks noGrp="1"/>
          </p:cNvSpPr>
          <p:nvPr>
            <p:ph type="body" idx="1"/>
          </p:nvPr>
        </p:nvSpPr>
        <p:spPr/>
        <p:txBody>
          <a:bodyPr/>
          <a:lstStyle/>
          <a:p>
            <a:r>
              <a:rPr lang="en-US" dirty="0">
                <a:ea typeface="Calibri"/>
                <a:cs typeface="Calibri"/>
              </a:rPr>
              <a:t>With this paper we are analyzing the effect of the wheel pattern and of the rim openings. In particular 3 different pattern for the </a:t>
            </a:r>
            <a:r>
              <a:rPr lang="en-US" dirty="0" err="1">
                <a:ea typeface="Calibri"/>
                <a:cs typeface="Calibri"/>
              </a:rPr>
              <a:t>tyre</a:t>
            </a:r>
            <a:r>
              <a:rPr lang="en-US" dirty="0">
                <a:ea typeface="Calibri"/>
                <a:cs typeface="Calibri"/>
              </a:rPr>
              <a:t> are considered and 2 configurations for the rim, the closed and the open one, the idea is to fix one parameter and by changing the others, study the effect that it has on the drag and lift coefficients.</a:t>
            </a:r>
          </a:p>
        </p:txBody>
      </p:sp>
      <p:sp>
        <p:nvSpPr>
          <p:cNvPr id="4" name="Slide Number Placeholder 3">
            <a:extLst>
              <a:ext uri="{FF2B5EF4-FFF2-40B4-BE49-F238E27FC236}">
                <a16:creationId xmlns:a16="http://schemas.microsoft.com/office/drawing/2014/main" id="{7D9EBB66-F947-5195-38AF-D279BF5B0734}"/>
              </a:ext>
            </a:extLst>
          </p:cNvPr>
          <p:cNvSpPr>
            <a:spLocks noGrp="1"/>
          </p:cNvSpPr>
          <p:nvPr>
            <p:ph type="sldNum" sz="quarter" idx="5"/>
          </p:nvPr>
        </p:nvSpPr>
        <p:spPr/>
        <p:txBody>
          <a:bodyPr/>
          <a:lstStyle/>
          <a:p>
            <a:fld id="{A89C7E07-3C67-C64C-8DA0-0404F6303970}" type="slidenum">
              <a:rPr lang="en-US" smtClean="0"/>
              <a:t>8</a:t>
            </a:fld>
            <a:endParaRPr lang="en-US"/>
          </a:p>
        </p:txBody>
      </p:sp>
    </p:spTree>
    <p:extLst>
      <p:ext uri="{BB962C8B-B14F-4D97-AF65-F5344CB8AC3E}">
        <p14:creationId xmlns:p14="http://schemas.microsoft.com/office/powerpoint/2010/main" val="2848184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6FB34-5E68-7BC3-2304-FD37EE95CA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A496E2-BCBB-56C1-E703-FD2A9EC516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063B8F-F2ED-776E-1532-BBB3E4039D95}"/>
              </a:ext>
            </a:extLst>
          </p:cNvPr>
          <p:cNvSpPr>
            <a:spLocks noGrp="1"/>
          </p:cNvSpPr>
          <p:nvPr>
            <p:ph type="body" idx="1"/>
          </p:nvPr>
        </p:nvSpPr>
        <p:spPr/>
        <p:txBody>
          <a:bodyPr/>
          <a:lstStyle/>
          <a:p>
            <a:r>
              <a:rPr lang="en-US" dirty="0">
                <a:ea typeface="Calibri"/>
                <a:cs typeface="Calibri"/>
              </a:rPr>
              <a:t>Here we want to start by analyzing the influence of the </a:t>
            </a:r>
            <a:r>
              <a:rPr lang="en-US" dirty="0" err="1">
                <a:ea typeface="Calibri"/>
                <a:cs typeface="Calibri"/>
              </a:rPr>
              <a:t>tyre</a:t>
            </a:r>
            <a:r>
              <a:rPr lang="en-US" dirty="0">
                <a:ea typeface="Calibri"/>
                <a:cs typeface="Calibri"/>
              </a:rPr>
              <a:t> grooves, in the case on the left we consider a wheel with rain grooves and closed rim and we study the impact on the aerodynamic coefficients when we add the lateral grooves and the side one. We can see that the general drag reduction is related to the fact that the main grooves allows the connection between the high pressure region in front of the </a:t>
            </a:r>
            <a:r>
              <a:rPr lang="en-US" dirty="0" err="1">
                <a:ea typeface="Calibri"/>
                <a:cs typeface="Calibri"/>
              </a:rPr>
              <a:t>tyre</a:t>
            </a:r>
            <a:r>
              <a:rPr lang="en-US" dirty="0">
                <a:ea typeface="Calibri"/>
                <a:cs typeface="Calibri"/>
              </a:rPr>
              <a:t> to the low pressure one behind it. The same procedure has been followed for the lateral grooves addition and in this case is even more complicated to identify a clear trend. </a:t>
            </a:r>
          </a:p>
        </p:txBody>
      </p:sp>
      <p:sp>
        <p:nvSpPr>
          <p:cNvPr id="4" name="Slide Number Placeholder 3">
            <a:extLst>
              <a:ext uri="{FF2B5EF4-FFF2-40B4-BE49-F238E27FC236}">
                <a16:creationId xmlns:a16="http://schemas.microsoft.com/office/drawing/2014/main" id="{4E44ED0B-3937-99C9-A04C-9BE81A668A47}"/>
              </a:ext>
            </a:extLst>
          </p:cNvPr>
          <p:cNvSpPr>
            <a:spLocks noGrp="1"/>
          </p:cNvSpPr>
          <p:nvPr>
            <p:ph type="sldNum" sz="quarter" idx="5"/>
          </p:nvPr>
        </p:nvSpPr>
        <p:spPr/>
        <p:txBody>
          <a:bodyPr/>
          <a:lstStyle/>
          <a:p>
            <a:fld id="{A89C7E07-3C67-C64C-8DA0-0404F6303970}" type="slidenum">
              <a:rPr lang="en-US" smtClean="0"/>
              <a:t>9</a:t>
            </a:fld>
            <a:endParaRPr lang="en-US"/>
          </a:p>
        </p:txBody>
      </p:sp>
    </p:spTree>
    <p:extLst>
      <p:ext uri="{BB962C8B-B14F-4D97-AF65-F5344CB8AC3E}">
        <p14:creationId xmlns:p14="http://schemas.microsoft.com/office/powerpoint/2010/main" val="15432433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EB4E4-3272-ACCD-D8D9-93C1BBCC65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A9DE28-CFF7-56D6-5784-B79EDD5823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7217A1-5DA7-1869-A5B2-7F9ED24D94AB}"/>
              </a:ext>
            </a:extLst>
          </p:cNvPr>
          <p:cNvSpPr>
            <a:spLocks noGrp="1"/>
          </p:cNvSpPr>
          <p:nvPr>
            <p:ph type="body" idx="1"/>
          </p:nvPr>
        </p:nvSpPr>
        <p:spPr/>
        <p:txBody>
          <a:bodyPr/>
          <a:lstStyle/>
          <a:p>
            <a:r>
              <a:rPr lang="en-US" dirty="0">
                <a:ea typeface="Calibri"/>
                <a:cs typeface="Calibri"/>
              </a:rPr>
              <a:t>Finally we consider the presence of the side grooves, a general increase both in the drag and in the lift coefficient is present and by looking at the picture on the right we can identify a greater flow separation in the case with side grooves </a:t>
            </a:r>
            <a:r>
              <a:rPr lang="en-US" dirty="0" err="1">
                <a:ea typeface="Calibri"/>
                <a:cs typeface="Calibri"/>
              </a:rPr>
              <a:t>tyre</a:t>
            </a:r>
            <a:r>
              <a:rPr lang="en-US" dirty="0">
                <a:ea typeface="Calibri"/>
                <a:cs typeface="Calibri"/>
              </a:rPr>
              <a:t> with respect to the slick one, this behavior generates a general increase in the drag for the whole vehicle. For the closed rim the effect is not as bad as for the open rim solution. </a:t>
            </a:r>
            <a:endParaRPr lang="en-US" dirty="0"/>
          </a:p>
        </p:txBody>
      </p:sp>
      <p:sp>
        <p:nvSpPr>
          <p:cNvPr id="4" name="Slide Number Placeholder 3">
            <a:extLst>
              <a:ext uri="{FF2B5EF4-FFF2-40B4-BE49-F238E27FC236}">
                <a16:creationId xmlns:a16="http://schemas.microsoft.com/office/drawing/2014/main" id="{32E2FD25-54C0-2BFC-CA38-48E4771EBDA6}"/>
              </a:ext>
            </a:extLst>
          </p:cNvPr>
          <p:cNvSpPr>
            <a:spLocks noGrp="1"/>
          </p:cNvSpPr>
          <p:nvPr>
            <p:ph type="sldNum" sz="quarter" idx="5"/>
          </p:nvPr>
        </p:nvSpPr>
        <p:spPr/>
        <p:txBody>
          <a:bodyPr/>
          <a:lstStyle/>
          <a:p>
            <a:fld id="{A89C7E07-3C67-C64C-8DA0-0404F6303970}" type="slidenum">
              <a:rPr lang="en-US" smtClean="0"/>
              <a:t>10</a:t>
            </a:fld>
            <a:endParaRPr lang="en-US"/>
          </a:p>
        </p:txBody>
      </p:sp>
    </p:spTree>
    <p:extLst>
      <p:ext uri="{BB962C8B-B14F-4D97-AF65-F5344CB8AC3E}">
        <p14:creationId xmlns:p14="http://schemas.microsoft.com/office/powerpoint/2010/main" val="1618800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40A5D-BC42-0389-E804-D4BADD9CF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6DD668-95B6-DBAC-3F61-4B92A3D94E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82CF35-F942-EEAE-9809-5CC1AB98569A}"/>
              </a:ext>
            </a:extLst>
          </p:cNvPr>
          <p:cNvSpPr>
            <a:spLocks noGrp="1"/>
          </p:cNvSpPr>
          <p:nvPr>
            <p:ph type="body" idx="1"/>
          </p:nvPr>
        </p:nvSpPr>
        <p:spPr/>
        <p:txBody>
          <a:bodyPr/>
          <a:lstStyle/>
          <a:p>
            <a:r>
              <a:rPr lang="en-US" dirty="0">
                <a:ea typeface="Calibri"/>
                <a:cs typeface="Calibri"/>
              </a:rPr>
              <a:t>Here we want to study the effect of the rim opening by </a:t>
            </a:r>
            <a:r>
              <a:rPr lang="en-US" dirty="0" err="1">
                <a:ea typeface="Calibri"/>
                <a:cs typeface="Calibri"/>
              </a:rPr>
              <a:t>chaging</a:t>
            </a:r>
            <a:r>
              <a:rPr lang="en-US" dirty="0">
                <a:ea typeface="Calibri"/>
                <a:cs typeface="Calibri"/>
              </a:rPr>
              <a:t> them on the same </a:t>
            </a:r>
            <a:r>
              <a:rPr lang="en-US" dirty="0" err="1">
                <a:ea typeface="Calibri"/>
                <a:cs typeface="Calibri"/>
              </a:rPr>
              <a:t>tyre</a:t>
            </a:r>
            <a:r>
              <a:rPr lang="en-US" dirty="0">
                <a:ea typeface="Calibri"/>
                <a:cs typeface="Calibri"/>
              </a:rPr>
              <a:t> pattern. We can see that there is not a uniform trend for all the </a:t>
            </a:r>
            <a:r>
              <a:rPr lang="en-US" dirty="0" err="1">
                <a:ea typeface="Calibri"/>
                <a:cs typeface="Calibri"/>
              </a:rPr>
              <a:t>tyres</a:t>
            </a:r>
            <a:r>
              <a:rPr lang="en-US" dirty="0">
                <a:ea typeface="Calibri"/>
                <a:cs typeface="Calibri"/>
              </a:rPr>
              <a:t> configurations, in general the trend is positive or negative for both coefficients for the closed and for the open rim solutions, the only exception is present when we are considering the drag and combing rain grooves and closed or open rim. We can say that with lateral and side grooved </a:t>
            </a:r>
            <a:r>
              <a:rPr lang="en-US" dirty="0" err="1">
                <a:ea typeface="Calibri"/>
                <a:cs typeface="Calibri"/>
              </a:rPr>
              <a:t>tyre</a:t>
            </a:r>
            <a:r>
              <a:rPr lang="en-US" dirty="0">
                <a:ea typeface="Calibri"/>
                <a:cs typeface="Calibri"/>
              </a:rPr>
              <a:t> there is a worsening of the aerodynamic behavior with both rim configurations.</a:t>
            </a:r>
          </a:p>
        </p:txBody>
      </p:sp>
      <p:sp>
        <p:nvSpPr>
          <p:cNvPr id="4" name="Slide Number Placeholder 3">
            <a:extLst>
              <a:ext uri="{FF2B5EF4-FFF2-40B4-BE49-F238E27FC236}">
                <a16:creationId xmlns:a16="http://schemas.microsoft.com/office/drawing/2014/main" id="{AE27B0C5-E512-463F-2FE9-6132C0DF6201}"/>
              </a:ext>
            </a:extLst>
          </p:cNvPr>
          <p:cNvSpPr>
            <a:spLocks noGrp="1"/>
          </p:cNvSpPr>
          <p:nvPr>
            <p:ph type="sldNum" sz="quarter" idx="5"/>
          </p:nvPr>
        </p:nvSpPr>
        <p:spPr/>
        <p:txBody>
          <a:bodyPr/>
          <a:lstStyle/>
          <a:p>
            <a:fld id="{A89C7E07-3C67-C64C-8DA0-0404F6303970}" type="slidenum">
              <a:rPr lang="en-US" smtClean="0"/>
              <a:t>11</a:t>
            </a:fld>
            <a:endParaRPr lang="en-US"/>
          </a:p>
        </p:txBody>
      </p:sp>
    </p:spTree>
    <p:extLst>
      <p:ext uri="{BB962C8B-B14F-4D97-AF65-F5344CB8AC3E}">
        <p14:creationId xmlns:p14="http://schemas.microsoft.com/office/powerpoint/2010/main" val="1732738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575FA-06CC-3064-9E33-2B9DA3CA93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8831A1-0A9E-FD5F-AE18-8CF0D1E614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9DC9ED-901E-FC53-1A20-D0E1CEBD8969}"/>
              </a:ext>
            </a:extLst>
          </p:cNvPr>
          <p:cNvSpPr>
            <a:spLocks noGrp="1"/>
          </p:cNvSpPr>
          <p:nvPr>
            <p:ph type="body" idx="1"/>
          </p:nvPr>
        </p:nvSpPr>
        <p:spPr/>
        <p:txBody>
          <a:bodyPr/>
          <a:lstStyle/>
          <a:p>
            <a:r>
              <a:rPr lang="it-IT"/>
              <a:t>Drag </a:t>
            </a:r>
            <a:r>
              <a:rPr lang="it-IT" err="1"/>
              <a:t>reduction</a:t>
            </a:r>
            <a:r>
              <a:rPr lang="it-IT"/>
              <a:t> with </a:t>
            </a:r>
            <a:r>
              <a:rPr lang="it-IT" err="1"/>
              <a:t>closed</a:t>
            </a:r>
            <a:r>
              <a:rPr lang="it-IT"/>
              <a:t> </a:t>
            </a:r>
            <a:r>
              <a:rPr lang="it-IT" err="1"/>
              <a:t>rim</a:t>
            </a:r>
            <a:r>
              <a:rPr lang="it-IT"/>
              <a:t> in NS </a:t>
            </a:r>
            <a:r>
              <a:rPr lang="it-IT" err="1"/>
              <a:t>configuration</a:t>
            </a:r>
            <a:r>
              <a:rPr lang="it-IT"/>
              <a:t> due to </a:t>
            </a:r>
            <a:r>
              <a:rPr lang="it-IT" err="1"/>
              <a:t>reduction</a:t>
            </a:r>
            <a:r>
              <a:rPr lang="it-IT"/>
              <a:t> in the flow </a:t>
            </a:r>
            <a:r>
              <a:rPr lang="it-IT" err="1"/>
              <a:t>separation</a:t>
            </a:r>
            <a:r>
              <a:rPr lang="it-IT"/>
              <a:t>, </a:t>
            </a:r>
            <a:r>
              <a:rPr lang="it-IT" err="1"/>
              <a:t>increase</a:t>
            </a:r>
            <a:r>
              <a:rPr lang="it-IT"/>
              <a:t> in drag with NTNS </a:t>
            </a:r>
            <a:r>
              <a:rPr lang="it-IT" err="1"/>
              <a:t>configuration</a:t>
            </a:r>
            <a:r>
              <a:rPr lang="it-IT"/>
              <a:t> </a:t>
            </a:r>
            <a:r>
              <a:rPr lang="it-IT" err="1"/>
              <a:t>since</a:t>
            </a:r>
            <a:r>
              <a:rPr lang="it-IT"/>
              <a:t> generation of vortex downstream the </a:t>
            </a:r>
            <a:r>
              <a:rPr lang="it-IT" err="1"/>
              <a:t>tyre</a:t>
            </a:r>
            <a:r>
              <a:rPr lang="it-IT"/>
              <a:t>, </a:t>
            </a:r>
            <a:r>
              <a:rPr lang="it-IT" err="1"/>
              <a:t>larger</a:t>
            </a:r>
            <a:r>
              <a:rPr lang="it-IT"/>
              <a:t> drag delta for the open </a:t>
            </a:r>
            <a:r>
              <a:rPr lang="it-IT" err="1"/>
              <a:t>rim</a:t>
            </a:r>
            <a:r>
              <a:rPr lang="it-IT"/>
              <a:t> </a:t>
            </a:r>
            <a:r>
              <a:rPr lang="it-IT" err="1"/>
              <a:t>beacuse</a:t>
            </a:r>
            <a:r>
              <a:rPr lang="it-IT"/>
              <a:t> of the generation of the </a:t>
            </a:r>
            <a:r>
              <a:rPr lang="it-IT" err="1"/>
              <a:t>wake</a:t>
            </a:r>
            <a:r>
              <a:rPr lang="it-IT"/>
              <a:t> going </a:t>
            </a:r>
            <a:r>
              <a:rPr lang="it-IT" err="1"/>
              <a:t>aout</a:t>
            </a:r>
            <a:r>
              <a:rPr lang="it-IT"/>
              <a:t> of the </a:t>
            </a:r>
            <a:r>
              <a:rPr lang="it-IT" err="1"/>
              <a:t>rim</a:t>
            </a:r>
            <a:endParaRPr lang="en-US"/>
          </a:p>
        </p:txBody>
      </p:sp>
      <p:sp>
        <p:nvSpPr>
          <p:cNvPr id="4" name="Slide Number Placeholder 3">
            <a:extLst>
              <a:ext uri="{FF2B5EF4-FFF2-40B4-BE49-F238E27FC236}">
                <a16:creationId xmlns:a16="http://schemas.microsoft.com/office/drawing/2014/main" id="{8B4543E3-0887-47F9-6DF7-C45B04FA5304}"/>
              </a:ext>
            </a:extLst>
          </p:cNvPr>
          <p:cNvSpPr>
            <a:spLocks noGrp="1"/>
          </p:cNvSpPr>
          <p:nvPr>
            <p:ph type="sldNum" sz="quarter" idx="5"/>
          </p:nvPr>
        </p:nvSpPr>
        <p:spPr/>
        <p:txBody>
          <a:bodyPr/>
          <a:lstStyle/>
          <a:p>
            <a:fld id="{A89C7E07-3C67-C64C-8DA0-0404F6303970}" type="slidenum">
              <a:rPr lang="en-US" smtClean="0"/>
              <a:t>12</a:t>
            </a:fld>
            <a:endParaRPr lang="en-US"/>
          </a:p>
        </p:txBody>
      </p:sp>
    </p:spTree>
    <p:extLst>
      <p:ext uri="{BB962C8B-B14F-4D97-AF65-F5344CB8AC3E}">
        <p14:creationId xmlns:p14="http://schemas.microsoft.com/office/powerpoint/2010/main" val="34925512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7048A-A669-8A99-3B8A-C64F5166D1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5A79A-69BC-6B18-CAC6-4DAA2E27EF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ADC2CB-BD26-949B-3BE4-8CC0E0B74E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02099E-3485-3DD0-B3E1-4290BAF1131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63628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DE574-EE69-AC94-62C9-CB72DE105E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7E50ED-2203-C1E3-7D18-4F29209FE0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328007-9366-65D2-391F-E614CE9D2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2B71A0-7203-0005-EA1A-8A7AAC635038}"/>
              </a:ext>
            </a:extLst>
          </p:cNvPr>
          <p:cNvSpPr>
            <a:spLocks noGrp="1"/>
          </p:cNvSpPr>
          <p:nvPr>
            <p:ph type="sldNum" sz="quarter" idx="5"/>
          </p:nvPr>
        </p:nvSpPr>
        <p:spPr/>
        <p:txBody>
          <a:bodyPr/>
          <a:lstStyle/>
          <a:p>
            <a:fld id="{A89C7E07-3C67-C64C-8DA0-0404F6303970}" type="slidenum">
              <a:rPr lang="en-US" smtClean="0"/>
              <a:t>14</a:t>
            </a:fld>
            <a:endParaRPr lang="en-US" dirty="0"/>
          </a:p>
        </p:txBody>
      </p:sp>
    </p:spTree>
    <p:extLst>
      <p:ext uri="{BB962C8B-B14F-4D97-AF65-F5344CB8AC3E}">
        <p14:creationId xmlns:p14="http://schemas.microsoft.com/office/powerpoint/2010/main" val="32024348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CBDA2-6268-F451-09BE-C02BD08F46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5A3800-48DB-F51D-F601-E005A01A90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E37DB-8DE0-10F1-1EE7-CAD21EF2CB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5AFEAA-0E76-7F7C-2F52-605D0C6DA2A3}"/>
              </a:ext>
            </a:extLst>
          </p:cNvPr>
          <p:cNvSpPr>
            <a:spLocks noGrp="1"/>
          </p:cNvSpPr>
          <p:nvPr>
            <p:ph type="sldNum" sz="quarter" idx="5"/>
          </p:nvPr>
        </p:nvSpPr>
        <p:spPr/>
        <p:txBody>
          <a:bodyPr/>
          <a:lstStyle/>
          <a:p>
            <a:fld id="{A89C7E07-3C67-C64C-8DA0-0404F6303970}" type="slidenum">
              <a:rPr lang="en-US" smtClean="0"/>
              <a:t>15</a:t>
            </a:fld>
            <a:endParaRPr lang="en-US" dirty="0"/>
          </a:p>
        </p:txBody>
      </p:sp>
    </p:spTree>
    <p:extLst>
      <p:ext uri="{BB962C8B-B14F-4D97-AF65-F5344CB8AC3E}">
        <p14:creationId xmlns:p14="http://schemas.microsoft.com/office/powerpoint/2010/main" val="38964328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04B36-DB68-FD39-6602-F2B1114CA5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DB737E-EC67-0103-4075-E4071669D2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022B0-06BE-0849-DAB3-751570972CD4}"/>
              </a:ext>
            </a:extLst>
          </p:cNvPr>
          <p:cNvSpPr>
            <a:spLocks noGrp="1"/>
          </p:cNvSpPr>
          <p:nvPr>
            <p:ph type="body" idx="1"/>
          </p:nvPr>
        </p:nvSpPr>
        <p:spPr/>
        <p:txBody>
          <a:bodyPr/>
          <a:lstStyle/>
          <a:p>
            <a:r>
              <a:rPr lang="en-US" dirty="0"/>
              <a:t>Rotating wheels Cd=0,41131 Cl=0,05076 ; Non-rotating wheels Cd=0,42033 Cl=0,04197 ; -2,15% and +20,94%</a:t>
            </a:r>
          </a:p>
          <a:p>
            <a:r>
              <a:rPr lang="en-US" dirty="0"/>
              <a:t>Wheel rotation creates downforce even if we don’t have flow redirectors, wheel’s wake is crucial to being able to create vortexes in the lower part in straight and leaning cases.</a:t>
            </a:r>
          </a:p>
          <a:p>
            <a:r>
              <a:rPr lang="en-US" dirty="0"/>
              <a:t>How rotating or non-rotating wheels affect the global aerodynamics, directing the flow trough other under-fairings in different ways and creates downforce.</a:t>
            </a:r>
          </a:p>
          <a:p>
            <a:r>
              <a:rPr lang="en-US" dirty="0"/>
              <a:t>STRAIGHT:</a:t>
            </a:r>
          </a:p>
          <a:p>
            <a:r>
              <a:rPr lang="en-US" dirty="0"/>
              <a:t>Rotating: More flow on the flow redirector when the wheel is rotating, moreover the wake is lifted, creating a high-speed flow near the fairing. (1:1)</a:t>
            </a:r>
          </a:p>
          <a:p>
            <a:r>
              <a:rPr lang="en-US" dirty="0"/>
              <a:t>Non-rotating wheels: flow redirector has more flow around and not inside, generating vortex on the exit but less energetic. (6:1)</a:t>
            </a:r>
          </a:p>
        </p:txBody>
      </p:sp>
      <p:sp>
        <p:nvSpPr>
          <p:cNvPr id="4" name="Slide Number Placeholder 3">
            <a:extLst>
              <a:ext uri="{FF2B5EF4-FFF2-40B4-BE49-F238E27FC236}">
                <a16:creationId xmlns:a16="http://schemas.microsoft.com/office/drawing/2014/main" id="{8C7C66FA-489A-F920-8A75-10C4936B65FC}"/>
              </a:ext>
            </a:extLst>
          </p:cNvPr>
          <p:cNvSpPr>
            <a:spLocks noGrp="1"/>
          </p:cNvSpPr>
          <p:nvPr>
            <p:ph type="sldNum" sz="quarter" idx="5"/>
          </p:nvPr>
        </p:nvSpPr>
        <p:spPr/>
        <p:txBody>
          <a:bodyPr/>
          <a:lstStyle/>
          <a:p>
            <a:fld id="{A89C7E07-3C67-C64C-8DA0-0404F6303970}" type="slidenum">
              <a:rPr lang="en-US" smtClean="0"/>
              <a:t>16</a:t>
            </a:fld>
            <a:endParaRPr lang="en-US" dirty="0"/>
          </a:p>
        </p:txBody>
      </p:sp>
    </p:spTree>
    <p:extLst>
      <p:ext uri="{BB962C8B-B14F-4D97-AF65-F5344CB8AC3E}">
        <p14:creationId xmlns:p14="http://schemas.microsoft.com/office/powerpoint/2010/main" val="13996064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77E0B-F3BE-9DA4-FE52-A3762CD7B7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73E004-D3D1-3E25-61A8-D5F790CE78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418EB0-3309-34FD-BAB2-F0B63CC99D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1B0F0A-4022-1FFD-6146-763FFAFC5640}"/>
              </a:ext>
            </a:extLst>
          </p:cNvPr>
          <p:cNvSpPr>
            <a:spLocks noGrp="1"/>
          </p:cNvSpPr>
          <p:nvPr>
            <p:ph type="sldNum" sz="quarter" idx="5"/>
          </p:nvPr>
        </p:nvSpPr>
        <p:spPr/>
        <p:txBody>
          <a:bodyPr/>
          <a:lstStyle/>
          <a:p>
            <a:fld id="{A89C7E07-3C67-C64C-8DA0-0404F6303970}" type="slidenum">
              <a:rPr lang="en-US" smtClean="0"/>
              <a:t>17</a:t>
            </a:fld>
            <a:endParaRPr lang="en-US" dirty="0"/>
          </a:p>
        </p:txBody>
      </p:sp>
    </p:spTree>
    <p:extLst>
      <p:ext uri="{BB962C8B-B14F-4D97-AF65-F5344CB8AC3E}">
        <p14:creationId xmlns:p14="http://schemas.microsoft.com/office/powerpoint/2010/main" val="41706170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GB" dirty="0"/>
              <a:t>To summarize the findings for cars, rotating wheels generate multiple vortex structures and distinct pressure distributions, which can be optimized to reduce aerodynamic drag. Tire geometry, such as deformations and grooves, plays a significant role in shaping airflow and improving efficiency.</a:t>
            </a:r>
          </a:p>
          <a:p>
            <a:r>
              <a:rPr lang="en-GB" dirty="0"/>
              <a:t>For motorcycles, rims and tires have a much greater influence due to their interaction with the fairing. These interactions are essential for ensuring stability and </a:t>
            </a:r>
            <a:r>
              <a:rPr lang="en-GB" dirty="0" err="1"/>
              <a:t>maneuverability</a:t>
            </a:r>
            <a:r>
              <a:rPr lang="en-GB" dirty="0"/>
              <a:t>, especially at higher speeds.</a:t>
            </a:r>
          </a:p>
          <a:p>
            <a:r>
              <a:rPr lang="en-GB" dirty="0"/>
              <a:t>In conclusion, optimizing rims and tires not only enhances performance but also improves safety. Future research should focus on real-world scenarios to further explore the synergies between aerodynamic and dynamic components.</a:t>
            </a:r>
          </a:p>
          <a:p>
            <a:r>
              <a:rPr lang="en-GB"/>
              <a:t>Thank you for your attention. </a:t>
            </a:r>
          </a:p>
          <a:p>
            <a:endParaRPr lang="en-GB" dirty="0"/>
          </a:p>
        </p:txBody>
      </p:sp>
      <p:sp>
        <p:nvSpPr>
          <p:cNvPr id="4" name="Segnaposto numero diapositiva 3"/>
          <p:cNvSpPr>
            <a:spLocks noGrp="1"/>
          </p:cNvSpPr>
          <p:nvPr>
            <p:ph type="sldNum" sz="quarter" idx="5"/>
          </p:nvPr>
        </p:nvSpPr>
        <p:spPr/>
        <p:txBody>
          <a:bodyPr/>
          <a:lstStyle/>
          <a:p>
            <a:fld id="{A89C7E07-3C67-C64C-8DA0-0404F6303970}" type="slidenum">
              <a:rPr lang="en-US" smtClean="0"/>
              <a:t>18</a:t>
            </a:fld>
            <a:endParaRPr lang="en-US" dirty="0"/>
          </a:p>
        </p:txBody>
      </p:sp>
    </p:spTree>
    <p:extLst>
      <p:ext uri="{BB962C8B-B14F-4D97-AF65-F5344CB8AC3E}">
        <p14:creationId xmlns:p14="http://schemas.microsoft.com/office/powerpoint/2010/main" val="28326064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20</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‹N›</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‹N›</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‹N›</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‹N›</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‹N›</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‹N›</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‹N›</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‹N›</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‹N›</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11.png"/><Relationship Id="rId12"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6.png"/><Relationship Id="rId5" Type="http://schemas.openxmlformats.org/officeDocument/2006/relationships/image" Target="../media/image8.png"/><Relationship Id="rId15" Type="http://schemas.openxmlformats.org/officeDocument/2006/relationships/image" Target="../media/image17.png"/><Relationship Id="rId10" Type="http://schemas.openxmlformats.org/officeDocument/2006/relationships/image" Target="../media/image7.png"/><Relationship Id="rId4" Type="http://schemas.openxmlformats.org/officeDocument/2006/relationships/image" Target="../media/image5.png"/><Relationship Id="rId9" Type="http://schemas.openxmlformats.org/officeDocument/2006/relationships/image" Target="../media/image13.png"/><Relationship Id="rId14"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6.png"/><Relationship Id="rId5" Type="http://schemas.openxmlformats.org/officeDocument/2006/relationships/image" Target="../media/image1.png"/><Relationship Id="rId10"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20.png"/><Relationship Id="rId18" Type="http://schemas.openxmlformats.org/officeDocument/2006/relationships/image" Target="../media/image24.png"/><Relationship Id="rId3" Type="http://schemas.openxmlformats.org/officeDocument/2006/relationships/image" Target="../media/image1.png"/><Relationship Id="rId7" Type="http://schemas.openxmlformats.org/officeDocument/2006/relationships/image" Target="../media/image8.png"/><Relationship Id="rId12" Type="http://schemas.openxmlformats.org/officeDocument/2006/relationships/image" Target="../media/image29.png"/><Relationship Id="rId17" Type="http://schemas.openxmlformats.org/officeDocument/2006/relationships/image" Target="../media/image21.png"/><Relationship Id="rId2" Type="http://schemas.openxmlformats.org/officeDocument/2006/relationships/notesSlide" Target="../notesSlides/notesSlide10.xml"/><Relationship Id="rId16"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28.png"/><Relationship Id="rId5" Type="http://schemas.openxmlformats.org/officeDocument/2006/relationships/image" Target="../media/image6.png"/><Relationship Id="rId15" Type="http://schemas.openxmlformats.org/officeDocument/2006/relationships/image" Target="../media/image23.png"/><Relationship Id="rId4" Type="http://schemas.openxmlformats.org/officeDocument/2006/relationships/image" Target="../media/image5.png"/><Relationship Id="rId9" Type="http://schemas.openxmlformats.org/officeDocument/2006/relationships/image" Target="../media/image11.png"/><Relationship Id="rId1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6309904" y="411479"/>
            <a:ext cx="5486400" cy="3291840"/>
          </a:xfrm>
        </p:spPr>
        <p:txBody>
          <a:bodyPr/>
          <a:lstStyle/>
          <a:p>
            <a:r>
              <a:rPr lang="en-US" dirty="0"/>
              <a:t>Aerodynamic</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a:lstStyle/>
          <a:p>
            <a:r>
              <a:rPr lang="en-US" dirty="0"/>
              <a:t>Outline</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593725" y="2281238"/>
            <a:ext cx="6788150" cy="3709987"/>
          </a:xfrm>
        </p:spPr>
        <p:txBody>
          <a:bodyPr tIns="457200"/>
          <a:lstStyle/>
          <a:p>
            <a:r>
              <a:rPr lang="en-US" dirty="0"/>
              <a:t>Introduction</a:t>
            </a:r>
          </a:p>
          <a:p>
            <a:r>
              <a:rPr lang="en-US" dirty="0"/>
              <a:t>Rim and </a:t>
            </a:r>
            <a:r>
              <a:rPr lang="en-US" dirty="0" err="1"/>
              <a:t>tyre</a:t>
            </a:r>
            <a:r>
              <a:rPr lang="en-US" dirty="0"/>
              <a:t> influence on car aerodynamic</a:t>
            </a:r>
          </a:p>
          <a:p>
            <a:r>
              <a:rPr lang="en-US" dirty="0"/>
              <a:t>Rim and </a:t>
            </a:r>
            <a:r>
              <a:rPr lang="en-US" dirty="0" err="1"/>
              <a:t>tyre</a:t>
            </a:r>
            <a:r>
              <a:rPr lang="en-US" dirty="0"/>
              <a:t> influence on motorbike aerodynamic</a:t>
            </a:r>
          </a:p>
          <a:p>
            <a:r>
              <a:rPr lang="en-US" dirty="0"/>
              <a:t>Conclusions</a:t>
            </a:r>
          </a:p>
        </p:txBody>
      </p:sp>
      <p:pic>
        <p:nvPicPr>
          <p:cNvPr id="4" name="Picture 3">
            <a:extLst>
              <a:ext uri="{FF2B5EF4-FFF2-40B4-BE49-F238E27FC236}">
                <a16:creationId xmlns:a16="http://schemas.microsoft.com/office/drawing/2014/main" id="{6D99E85C-5B72-8BD9-C76F-2381AD96B074}"/>
              </a:ext>
            </a:extLst>
          </p:cNvPr>
          <p:cNvPicPr>
            <a:picLocks noChangeAspect="1"/>
          </p:cNvPicPr>
          <p:nvPr/>
        </p:nvPicPr>
        <p:blipFill>
          <a:blip r:embed="rId3"/>
          <a:stretch>
            <a:fillRect/>
          </a:stretch>
        </p:blipFill>
        <p:spPr>
          <a:xfrm>
            <a:off x="11227317" y="102875"/>
            <a:ext cx="876422" cy="838317"/>
          </a:xfrm>
          <a:prstGeom prst="rect">
            <a:avLst/>
          </a:prstGeom>
        </p:spPr>
      </p:pic>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B5DA3F8-4CAB-757F-A891-160F389C8D80}"/>
              </a:ext>
            </a:extLst>
          </p:cNvPr>
          <p:cNvSpPr>
            <a:spLocks noGrp="1"/>
          </p:cNvSpPr>
          <p:nvPr>
            <p:ph type="title"/>
          </p:nvPr>
        </p:nvSpPr>
        <p:spPr>
          <a:xfrm>
            <a:off x="594361" y="189572"/>
            <a:ext cx="5249228" cy="1593507"/>
          </a:xfrm>
        </p:spPr>
        <p:txBody>
          <a:bodyPr/>
          <a:lstStyle/>
          <a:p>
            <a:r>
              <a:rPr lang="it-IT" dirty="0" err="1"/>
              <a:t>Introduction</a:t>
            </a:r>
            <a:r>
              <a:rPr lang="it-IT" dirty="0"/>
              <a:t>: General </a:t>
            </a:r>
            <a:r>
              <a:rPr lang="it-IT" dirty="0" err="1"/>
              <a:t>Context</a:t>
            </a:r>
            <a:r>
              <a:rPr lang="it-IT" dirty="0"/>
              <a:t> </a:t>
            </a:r>
            <a:endParaRPr lang="en-GB" dirty="0"/>
          </a:p>
        </p:txBody>
      </p:sp>
      <p:sp>
        <p:nvSpPr>
          <p:cNvPr id="3" name="Segnaposto contenuto 2">
            <a:extLst>
              <a:ext uri="{FF2B5EF4-FFF2-40B4-BE49-F238E27FC236}">
                <a16:creationId xmlns:a16="http://schemas.microsoft.com/office/drawing/2014/main" id="{AD2325BE-91B1-24E8-9E9C-BE2EB3C304E6}"/>
              </a:ext>
            </a:extLst>
          </p:cNvPr>
          <p:cNvSpPr>
            <a:spLocks noGrp="1"/>
          </p:cNvSpPr>
          <p:nvPr>
            <p:ph sz="quarter" idx="13"/>
          </p:nvPr>
        </p:nvSpPr>
        <p:spPr/>
        <p:txBody>
          <a:bodyPr/>
          <a:lstStyle/>
          <a:p>
            <a:r>
              <a:rPr lang="it-IT" sz="2000" dirty="0" err="1"/>
              <a:t>Importance</a:t>
            </a:r>
            <a:r>
              <a:rPr lang="it-IT" sz="2000" dirty="0"/>
              <a:t> of </a:t>
            </a:r>
            <a:r>
              <a:rPr lang="it-IT" sz="2000" dirty="0" err="1"/>
              <a:t>Aerodymics</a:t>
            </a:r>
            <a:r>
              <a:rPr lang="it-IT" sz="2000" dirty="0"/>
              <a:t>:</a:t>
            </a:r>
          </a:p>
          <a:p>
            <a:r>
              <a:rPr lang="it-IT" sz="1800" b="0" dirty="0" err="1">
                <a:solidFill>
                  <a:schemeClr val="bg1"/>
                </a:solidFill>
              </a:rPr>
              <a:t>Aerodymics</a:t>
            </a:r>
            <a:r>
              <a:rPr lang="it-IT" sz="1800" b="0" dirty="0">
                <a:solidFill>
                  <a:schemeClr val="bg1"/>
                </a:solidFill>
              </a:rPr>
              <a:t> plays a </a:t>
            </a:r>
            <a:r>
              <a:rPr lang="it-IT" sz="1800" b="0" dirty="0" err="1">
                <a:solidFill>
                  <a:schemeClr val="bg1"/>
                </a:solidFill>
              </a:rPr>
              <a:t>crucial</a:t>
            </a:r>
            <a:r>
              <a:rPr lang="it-IT" sz="1800" b="0" dirty="0">
                <a:solidFill>
                  <a:schemeClr val="bg1"/>
                </a:solidFill>
              </a:rPr>
              <a:t> </a:t>
            </a:r>
            <a:r>
              <a:rPr lang="it-IT" sz="1800" b="0" dirty="0" err="1">
                <a:solidFill>
                  <a:schemeClr val="bg1"/>
                </a:solidFill>
              </a:rPr>
              <a:t>role</a:t>
            </a:r>
            <a:r>
              <a:rPr lang="it-IT" sz="1800" b="0" dirty="0">
                <a:solidFill>
                  <a:schemeClr val="bg1"/>
                </a:solidFill>
              </a:rPr>
              <a:t> in </a:t>
            </a:r>
            <a:r>
              <a:rPr lang="it-IT" sz="1800" b="0" dirty="0" err="1">
                <a:solidFill>
                  <a:schemeClr val="bg1"/>
                </a:solidFill>
              </a:rPr>
              <a:t>vehicle</a:t>
            </a:r>
            <a:r>
              <a:rPr lang="it-IT" sz="1800" b="0" dirty="0">
                <a:solidFill>
                  <a:schemeClr val="bg1"/>
                </a:solidFill>
              </a:rPr>
              <a:t> performance and </a:t>
            </a:r>
            <a:r>
              <a:rPr lang="it-IT" sz="1800" b="0" dirty="0" err="1">
                <a:solidFill>
                  <a:schemeClr val="bg1"/>
                </a:solidFill>
              </a:rPr>
              <a:t>effiency</a:t>
            </a:r>
            <a:r>
              <a:rPr lang="it-IT" sz="1800" b="0" dirty="0">
                <a:solidFill>
                  <a:schemeClr val="bg1"/>
                </a:solidFill>
              </a:rPr>
              <a:t>, </a:t>
            </a:r>
            <a:r>
              <a:rPr lang="it-IT" sz="1800" b="0" dirty="0" err="1">
                <a:solidFill>
                  <a:schemeClr val="bg1"/>
                </a:solidFill>
              </a:rPr>
              <a:t>affecting</a:t>
            </a:r>
            <a:r>
              <a:rPr lang="it-IT" sz="1800" b="0" dirty="0">
                <a:solidFill>
                  <a:schemeClr val="bg1"/>
                </a:solidFill>
              </a:rPr>
              <a:t> </a:t>
            </a:r>
            <a:r>
              <a:rPr lang="it-IT" sz="1800" b="0" dirty="0" err="1">
                <a:solidFill>
                  <a:schemeClr val="bg1"/>
                </a:solidFill>
              </a:rPr>
              <a:t>fuel</a:t>
            </a:r>
            <a:r>
              <a:rPr lang="it-IT" sz="1800" b="0" dirty="0">
                <a:solidFill>
                  <a:schemeClr val="bg1"/>
                </a:solidFill>
              </a:rPr>
              <a:t> </a:t>
            </a:r>
            <a:r>
              <a:rPr lang="it-IT" sz="1800" b="0" dirty="0" err="1">
                <a:solidFill>
                  <a:schemeClr val="bg1"/>
                </a:solidFill>
              </a:rPr>
              <a:t>consumption</a:t>
            </a:r>
            <a:r>
              <a:rPr lang="it-IT" sz="1800" b="0" dirty="0">
                <a:solidFill>
                  <a:schemeClr val="bg1"/>
                </a:solidFill>
              </a:rPr>
              <a:t>, speed and </a:t>
            </a:r>
            <a:r>
              <a:rPr lang="it-IT" sz="1800" b="0" dirty="0" err="1">
                <a:solidFill>
                  <a:schemeClr val="bg1"/>
                </a:solidFill>
              </a:rPr>
              <a:t>stability</a:t>
            </a:r>
            <a:r>
              <a:rPr lang="it-IT" sz="1800" b="0" dirty="0">
                <a:solidFill>
                  <a:schemeClr val="bg1"/>
                </a:solidFill>
              </a:rPr>
              <a:t>.</a:t>
            </a:r>
          </a:p>
          <a:p>
            <a:r>
              <a:rPr lang="it-IT" sz="1800" b="0" dirty="0" err="1">
                <a:solidFill>
                  <a:schemeClr val="bg1"/>
                </a:solidFill>
              </a:rPr>
              <a:t>Rims</a:t>
            </a:r>
            <a:r>
              <a:rPr lang="it-IT" sz="1800" b="0" dirty="0">
                <a:solidFill>
                  <a:schemeClr val="bg1"/>
                </a:solidFill>
              </a:rPr>
              <a:t> and </a:t>
            </a:r>
            <a:r>
              <a:rPr lang="it-IT" sz="1800" b="0" dirty="0" err="1">
                <a:solidFill>
                  <a:schemeClr val="bg1"/>
                </a:solidFill>
              </a:rPr>
              <a:t>tyres</a:t>
            </a:r>
            <a:r>
              <a:rPr lang="it-IT" sz="1800" b="0" dirty="0">
                <a:solidFill>
                  <a:schemeClr val="bg1"/>
                </a:solidFill>
              </a:rPr>
              <a:t> are key </a:t>
            </a:r>
            <a:r>
              <a:rPr lang="it-IT" sz="1800" b="0" dirty="0" err="1">
                <a:solidFill>
                  <a:schemeClr val="bg1"/>
                </a:solidFill>
              </a:rPr>
              <a:t>components</a:t>
            </a:r>
            <a:r>
              <a:rPr lang="it-IT" sz="1800" b="0" dirty="0">
                <a:solidFill>
                  <a:schemeClr val="bg1"/>
                </a:solidFill>
              </a:rPr>
              <a:t>, </a:t>
            </a:r>
            <a:r>
              <a:rPr lang="it-IT" sz="1800" b="0" dirty="0" err="1">
                <a:solidFill>
                  <a:schemeClr val="bg1"/>
                </a:solidFill>
              </a:rPr>
              <a:t>capable</a:t>
            </a:r>
            <a:r>
              <a:rPr lang="it-IT" sz="1800" b="0" dirty="0">
                <a:solidFill>
                  <a:schemeClr val="bg1"/>
                </a:solidFill>
              </a:rPr>
              <a:t> of </a:t>
            </a:r>
            <a:r>
              <a:rPr lang="it-IT" sz="1800" b="0" dirty="0" err="1">
                <a:solidFill>
                  <a:schemeClr val="bg1"/>
                </a:solidFill>
              </a:rPr>
              <a:t>generating</a:t>
            </a:r>
            <a:r>
              <a:rPr lang="it-IT" sz="1800" b="0" dirty="0">
                <a:solidFill>
                  <a:schemeClr val="bg1"/>
                </a:solidFill>
              </a:rPr>
              <a:t> </a:t>
            </a:r>
            <a:r>
              <a:rPr lang="it-IT" sz="1800" b="0" dirty="0" err="1">
                <a:solidFill>
                  <a:schemeClr val="bg1"/>
                </a:solidFill>
              </a:rPr>
              <a:t>significant</a:t>
            </a:r>
            <a:r>
              <a:rPr lang="it-IT" sz="1800" b="0" dirty="0">
                <a:solidFill>
                  <a:schemeClr val="bg1"/>
                </a:solidFill>
              </a:rPr>
              <a:t> </a:t>
            </a:r>
            <a:r>
              <a:rPr lang="it-IT" sz="1800" b="0" dirty="0" err="1">
                <a:solidFill>
                  <a:schemeClr val="bg1"/>
                </a:solidFill>
              </a:rPr>
              <a:t>effects</a:t>
            </a:r>
            <a:r>
              <a:rPr lang="it-IT" sz="1800" b="0" dirty="0">
                <a:solidFill>
                  <a:schemeClr val="bg1"/>
                </a:solidFill>
              </a:rPr>
              <a:t> on </a:t>
            </a:r>
            <a:r>
              <a:rPr lang="it-IT" sz="1800" b="0" dirty="0" err="1">
                <a:solidFill>
                  <a:schemeClr val="bg1"/>
                </a:solidFill>
              </a:rPr>
              <a:t>airflow</a:t>
            </a:r>
            <a:r>
              <a:rPr lang="it-IT" sz="1800" b="0" dirty="0">
                <a:solidFill>
                  <a:schemeClr val="bg1"/>
                </a:solidFill>
              </a:rPr>
              <a:t>.</a:t>
            </a:r>
          </a:p>
          <a:p>
            <a:r>
              <a:rPr lang="it-IT" sz="2000" dirty="0"/>
              <a:t>Study </a:t>
            </a:r>
            <a:r>
              <a:rPr lang="it-IT" sz="2000" dirty="0" err="1"/>
              <a:t>Objectives</a:t>
            </a:r>
            <a:r>
              <a:rPr lang="it-IT" sz="2000" dirty="0"/>
              <a:t>:</a:t>
            </a:r>
          </a:p>
          <a:p>
            <a:r>
              <a:rPr lang="it-IT" sz="1800" b="0" dirty="0" err="1">
                <a:solidFill>
                  <a:schemeClr val="bg1"/>
                </a:solidFill>
              </a:rPr>
              <a:t>Analyze</a:t>
            </a:r>
            <a:r>
              <a:rPr lang="it-IT" sz="1800" b="0" dirty="0">
                <a:solidFill>
                  <a:schemeClr val="bg1"/>
                </a:solidFill>
              </a:rPr>
              <a:t> the impact of </a:t>
            </a:r>
            <a:r>
              <a:rPr lang="it-IT" sz="1800" b="0" dirty="0" err="1">
                <a:solidFill>
                  <a:schemeClr val="bg1"/>
                </a:solidFill>
              </a:rPr>
              <a:t>rims</a:t>
            </a:r>
            <a:r>
              <a:rPr lang="it-IT" sz="1800" b="0" dirty="0">
                <a:solidFill>
                  <a:schemeClr val="bg1"/>
                </a:solidFill>
              </a:rPr>
              <a:t> and </a:t>
            </a:r>
            <a:r>
              <a:rPr lang="it-IT" sz="1800" b="0" dirty="0" err="1">
                <a:solidFill>
                  <a:schemeClr val="bg1"/>
                </a:solidFill>
              </a:rPr>
              <a:t>tires</a:t>
            </a:r>
            <a:r>
              <a:rPr lang="it-IT" sz="1800" b="0" dirty="0">
                <a:solidFill>
                  <a:schemeClr val="bg1"/>
                </a:solidFill>
              </a:rPr>
              <a:t> on cars and </a:t>
            </a:r>
            <a:r>
              <a:rPr lang="it-IT" sz="1800" b="0" dirty="0" err="1">
                <a:solidFill>
                  <a:schemeClr val="bg1"/>
                </a:solidFill>
              </a:rPr>
              <a:t>motorcycles</a:t>
            </a:r>
            <a:r>
              <a:rPr lang="it-IT" sz="1800" b="0" dirty="0">
                <a:solidFill>
                  <a:schemeClr val="bg1"/>
                </a:solidFill>
              </a:rPr>
              <a:t>.</a:t>
            </a:r>
          </a:p>
          <a:p>
            <a:r>
              <a:rPr lang="it-IT" sz="1800" b="0" dirty="0" err="1">
                <a:solidFill>
                  <a:schemeClr val="bg1"/>
                </a:solidFill>
              </a:rPr>
              <a:t>Examine</a:t>
            </a:r>
            <a:r>
              <a:rPr lang="it-IT" sz="1800" b="0" dirty="0">
                <a:solidFill>
                  <a:schemeClr val="bg1"/>
                </a:solidFill>
              </a:rPr>
              <a:t> the </a:t>
            </a:r>
            <a:r>
              <a:rPr lang="it-IT" sz="1800" b="0" dirty="0" err="1">
                <a:solidFill>
                  <a:schemeClr val="bg1"/>
                </a:solidFill>
              </a:rPr>
              <a:t>differences</a:t>
            </a:r>
            <a:r>
              <a:rPr lang="it-IT" sz="1800" b="0" dirty="0">
                <a:solidFill>
                  <a:schemeClr val="bg1"/>
                </a:solidFill>
              </a:rPr>
              <a:t> </a:t>
            </a:r>
            <a:r>
              <a:rPr lang="it-IT" sz="1800" b="0" dirty="0" err="1">
                <a:solidFill>
                  <a:schemeClr val="bg1"/>
                </a:solidFill>
              </a:rPr>
              <a:t>between</a:t>
            </a:r>
            <a:r>
              <a:rPr lang="it-IT" sz="1800" b="0" dirty="0">
                <a:solidFill>
                  <a:schemeClr val="bg1"/>
                </a:solidFill>
              </a:rPr>
              <a:t> </a:t>
            </a:r>
            <a:r>
              <a:rPr lang="it-IT" sz="1800" b="0" dirty="0" err="1">
                <a:solidFill>
                  <a:schemeClr val="bg1"/>
                </a:solidFill>
              </a:rPr>
              <a:t>rotating</a:t>
            </a:r>
            <a:r>
              <a:rPr lang="it-IT" sz="1800" b="0" dirty="0">
                <a:solidFill>
                  <a:schemeClr val="bg1"/>
                </a:solidFill>
              </a:rPr>
              <a:t> and </a:t>
            </a:r>
            <a:r>
              <a:rPr lang="it-IT" sz="1800" b="0" dirty="0" err="1">
                <a:solidFill>
                  <a:schemeClr val="bg1"/>
                </a:solidFill>
              </a:rPr>
              <a:t>stationary</a:t>
            </a:r>
            <a:r>
              <a:rPr lang="it-IT" sz="1800" b="0" dirty="0">
                <a:solidFill>
                  <a:schemeClr val="bg1"/>
                </a:solidFill>
              </a:rPr>
              <a:t> </a:t>
            </a:r>
            <a:r>
              <a:rPr lang="it-IT" sz="1800" b="0" dirty="0" err="1">
                <a:solidFill>
                  <a:schemeClr val="bg1"/>
                </a:solidFill>
              </a:rPr>
              <a:t>wheels</a:t>
            </a:r>
            <a:r>
              <a:rPr lang="it-IT" sz="1800" b="0" dirty="0">
                <a:solidFill>
                  <a:schemeClr val="bg1"/>
                </a:solidFill>
              </a:rPr>
              <a:t>, </a:t>
            </a:r>
            <a:r>
              <a:rPr lang="it-IT" sz="1800" b="0" dirty="0" err="1">
                <a:solidFill>
                  <a:schemeClr val="bg1"/>
                </a:solidFill>
              </a:rPr>
              <a:t>tyre</a:t>
            </a:r>
            <a:r>
              <a:rPr lang="it-IT" sz="1800" b="0" dirty="0">
                <a:solidFill>
                  <a:schemeClr val="bg1"/>
                </a:solidFill>
              </a:rPr>
              <a:t> </a:t>
            </a:r>
            <a:r>
              <a:rPr lang="it-IT" sz="1800" b="0" dirty="0" err="1">
                <a:solidFill>
                  <a:schemeClr val="bg1"/>
                </a:solidFill>
              </a:rPr>
              <a:t>geometry</a:t>
            </a:r>
            <a:r>
              <a:rPr lang="it-IT" sz="1800" b="0" dirty="0">
                <a:solidFill>
                  <a:schemeClr val="bg1"/>
                </a:solidFill>
              </a:rPr>
              <a:t> and </a:t>
            </a:r>
            <a:r>
              <a:rPr lang="it-IT" sz="1800" b="0" dirty="0" err="1">
                <a:solidFill>
                  <a:schemeClr val="bg1"/>
                </a:solidFill>
              </a:rPr>
              <a:t>rim</a:t>
            </a:r>
            <a:r>
              <a:rPr lang="it-IT" sz="1800" b="0" dirty="0">
                <a:solidFill>
                  <a:schemeClr val="bg1"/>
                </a:solidFill>
              </a:rPr>
              <a:t> </a:t>
            </a:r>
            <a:r>
              <a:rPr lang="it-IT" sz="1800" b="0" dirty="0" err="1">
                <a:solidFill>
                  <a:schemeClr val="bg1"/>
                </a:solidFill>
              </a:rPr>
              <a:t>configurations</a:t>
            </a:r>
            <a:r>
              <a:rPr lang="it-IT" sz="1800" b="0" dirty="0">
                <a:solidFill>
                  <a:schemeClr val="bg1"/>
                </a:solidFill>
              </a:rPr>
              <a:t>.</a:t>
            </a:r>
            <a:endParaRPr lang="it-IT" sz="1800" dirty="0"/>
          </a:p>
          <a:p>
            <a:endParaRPr lang="it-IT" sz="1800" b="0" dirty="0">
              <a:solidFill>
                <a:schemeClr val="bg1"/>
              </a:solidFill>
            </a:endParaRPr>
          </a:p>
          <a:p>
            <a:pPr marL="0" indent="0">
              <a:buNone/>
            </a:pPr>
            <a:endParaRPr lang="it-IT" dirty="0"/>
          </a:p>
          <a:p>
            <a:endParaRPr lang="it-IT" dirty="0"/>
          </a:p>
          <a:p>
            <a:endParaRPr lang="en-GB" dirty="0"/>
          </a:p>
        </p:txBody>
      </p:sp>
    </p:spTree>
    <p:extLst>
      <p:ext uri="{BB962C8B-B14F-4D97-AF65-F5344CB8AC3E}">
        <p14:creationId xmlns:p14="http://schemas.microsoft.com/office/powerpoint/2010/main" val="3907535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403B977-7C23-2108-5934-79F038BF86C2}"/>
              </a:ext>
            </a:extLst>
          </p:cNvPr>
          <p:cNvSpPr>
            <a:spLocks noGrp="1"/>
          </p:cNvSpPr>
          <p:nvPr>
            <p:ph type="title"/>
          </p:nvPr>
        </p:nvSpPr>
        <p:spPr/>
        <p:txBody>
          <a:bodyPr/>
          <a:lstStyle/>
          <a:p>
            <a:r>
              <a:rPr lang="it-IT" dirty="0" err="1"/>
              <a:t>Specific</a:t>
            </a:r>
            <a:r>
              <a:rPr lang="it-IT" dirty="0"/>
              <a:t> </a:t>
            </a:r>
            <a:r>
              <a:rPr lang="it-IT" dirty="0" err="1"/>
              <a:t>Topics</a:t>
            </a:r>
            <a:r>
              <a:rPr lang="it-IT" dirty="0"/>
              <a:t> </a:t>
            </a:r>
            <a:endParaRPr lang="en-GB" dirty="0"/>
          </a:p>
        </p:txBody>
      </p:sp>
      <p:sp>
        <p:nvSpPr>
          <p:cNvPr id="3" name="Segnaposto contenuto 2">
            <a:extLst>
              <a:ext uri="{FF2B5EF4-FFF2-40B4-BE49-F238E27FC236}">
                <a16:creationId xmlns:a16="http://schemas.microsoft.com/office/drawing/2014/main" id="{9740183A-9B39-3EFB-F85C-ED3BC2D2E2BA}"/>
              </a:ext>
            </a:extLst>
          </p:cNvPr>
          <p:cNvSpPr>
            <a:spLocks noGrp="1"/>
          </p:cNvSpPr>
          <p:nvPr>
            <p:ph sz="quarter" idx="13"/>
          </p:nvPr>
        </p:nvSpPr>
        <p:spPr/>
        <p:txBody>
          <a:bodyPr>
            <a:normAutofit fontScale="92500" lnSpcReduction="20000"/>
          </a:bodyPr>
          <a:lstStyle/>
          <a:p>
            <a:r>
              <a:rPr lang="it-IT" sz="2200" dirty="0"/>
              <a:t>Cars:</a:t>
            </a:r>
          </a:p>
          <a:p>
            <a:r>
              <a:rPr lang="it-IT" sz="1900" b="0" dirty="0" err="1">
                <a:solidFill>
                  <a:schemeClr val="bg1"/>
                </a:solidFill>
              </a:rPr>
              <a:t>Effects</a:t>
            </a:r>
            <a:r>
              <a:rPr lang="it-IT" sz="1900" b="0" dirty="0">
                <a:solidFill>
                  <a:schemeClr val="bg1"/>
                </a:solidFill>
              </a:rPr>
              <a:t> of </a:t>
            </a:r>
            <a:r>
              <a:rPr lang="it-IT" sz="1900" b="0" dirty="0" err="1">
                <a:solidFill>
                  <a:schemeClr val="bg1"/>
                </a:solidFill>
              </a:rPr>
              <a:t>wheel</a:t>
            </a:r>
            <a:r>
              <a:rPr lang="it-IT" sz="1900" b="0" dirty="0">
                <a:solidFill>
                  <a:schemeClr val="bg1"/>
                </a:solidFill>
              </a:rPr>
              <a:t> </a:t>
            </a:r>
            <a:r>
              <a:rPr lang="it-IT" sz="1900" b="0" dirty="0" err="1">
                <a:solidFill>
                  <a:schemeClr val="bg1"/>
                </a:solidFill>
              </a:rPr>
              <a:t>rotation</a:t>
            </a:r>
            <a:endParaRPr lang="it-IT" sz="1900" b="0" dirty="0">
              <a:solidFill>
                <a:schemeClr val="bg1"/>
              </a:solidFill>
            </a:endParaRPr>
          </a:p>
          <a:p>
            <a:r>
              <a:rPr lang="it-IT" sz="1900" b="0" dirty="0" err="1">
                <a:solidFill>
                  <a:schemeClr val="bg1"/>
                </a:solidFill>
              </a:rPr>
              <a:t>Influence</a:t>
            </a:r>
            <a:r>
              <a:rPr lang="it-IT" sz="1900" b="0" dirty="0">
                <a:solidFill>
                  <a:schemeClr val="bg1"/>
                </a:solidFill>
              </a:rPr>
              <a:t> of </a:t>
            </a:r>
            <a:r>
              <a:rPr lang="it-IT" sz="1900" b="0" dirty="0" err="1">
                <a:solidFill>
                  <a:schemeClr val="bg1"/>
                </a:solidFill>
              </a:rPr>
              <a:t>tyre</a:t>
            </a:r>
            <a:r>
              <a:rPr lang="it-IT" sz="1900" b="0" dirty="0">
                <a:solidFill>
                  <a:schemeClr val="bg1"/>
                </a:solidFill>
              </a:rPr>
              <a:t> </a:t>
            </a:r>
            <a:r>
              <a:rPr lang="it-IT" sz="1900" b="0" dirty="0" err="1">
                <a:solidFill>
                  <a:schemeClr val="bg1"/>
                </a:solidFill>
              </a:rPr>
              <a:t>deformations</a:t>
            </a:r>
            <a:endParaRPr lang="it-IT" sz="1900" b="0" dirty="0">
              <a:solidFill>
                <a:schemeClr val="bg1"/>
              </a:solidFill>
            </a:endParaRPr>
          </a:p>
          <a:p>
            <a:r>
              <a:rPr lang="it-IT" sz="1900" b="0" dirty="0" err="1">
                <a:solidFill>
                  <a:schemeClr val="bg1"/>
                </a:solidFill>
              </a:rPr>
              <a:t>Contribution</a:t>
            </a:r>
            <a:r>
              <a:rPr lang="it-IT" sz="1900" b="0" dirty="0">
                <a:solidFill>
                  <a:schemeClr val="bg1"/>
                </a:solidFill>
              </a:rPr>
              <a:t> of </a:t>
            </a:r>
            <a:r>
              <a:rPr lang="it-IT" sz="1900" b="0" dirty="0" err="1">
                <a:solidFill>
                  <a:schemeClr val="bg1"/>
                </a:solidFill>
              </a:rPr>
              <a:t>rim</a:t>
            </a:r>
            <a:r>
              <a:rPr lang="it-IT" sz="1900" b="0" dirty="0">
                <a:solidFill>
                  <a:schemeClr val="bg1"/>
                </a:solidFill>
              </a:rPr>
              <a:t> openings and </a:t>
            </a:r>
            <a:r>
              <a:rPr lang="it-IT" sz="1900" b="0" dirty="0" err="1">
                <a:solidFill>
                  <a:schemeClr val="bg1"/>
                </a:solidFill>
              </a:rPr>
              <a:t>tyre</a:t>
            </a:r>
            <a:r>
              <a:rPr lang="it-IT" sz="1900" b="0" dirty="0">
                <a:solidFill>
                  <a:schemeClr val="bg1"/>
                </a:solidFill>
              </a:rPr>
              <a:t> </a:t>
            </a:r>
            <a:r>
              <a:rPr lang="it-IT" sz="1900" b="0" dirty="0" err="1">
                <a:solidFill>
                  <a:schemeClr val="bg1"/>
                </a:solidFill>
              </a:rPr>
              <a:t>grooves</a:t>
            </a:r>
            <a:r>
              <a:rPr lang="it-IT" sz="1900" b="0" dirty="0">
                <a:solidFill>
                  <a:schemeClr val="bg1"/>
                </a:solidFill>
              </a:rPr>
              <a:t>.</a:t>
            </a:r>
          </a:p>
          <a:p>
            <a:r>
              <a:rPr lang="it-IT" sz="1900" b="0" dirty="0">
                <a:solidFill>
                  <a:schemeClr val="bg1"/>
                </a:solidFill>
              </a:rPr>
              <a:t>Impacts of </a:t>
            </a:r>
            <a:r>
              <a:rPr lang="it-IT" sz="1900" b="0" dirty="0" err="1">
                <a:solidFill>
                  <a:schemeClr val="bg1"/>
                </a:solidFill>
              </a:rPr>
              <a:t>tyre</a:t>
            </a:r>
            <a:r>
              <a:rPr lang="it-IT" sz="1900" b="0" dirty="0">
                <a:solidFill>
                  <a:schemeClr val="bg1"/>
                </a:solidFill>
              </a:rPr>
              <a:t> </a:t>
            </a:r>
            <a:r>
              <a:rPr lang="it-IT" sz="1900" b="0" dirty="0" err="1">
                <a:solidFill>
                  <a:schemeClr val="bg1"/>
                </a:solidFill>
              </a:rPr>
              <a:t>profiles</a:t>
            </a:r>
            <a:r>
              <a:rPr lang="it-IT" sz="1900" b="0" dirty="0">
                <a:solidFill>
                  <a:schemeClr val="bg1"/>
                </a:solidFill>
              </a:rPr>
              <a:t> on </a:t>
            </a:r>
            <a:r>
              <a:rPr lang="it-IT" sz="1900" b="0" dirty="0" err="1">
                <a:solidFill>
                  <a:schemeClr val="bg1"/>
                </a:solidFill>
              </a:rPr>
              <a:t>aerodynamic</a:t>
            </a:r>
            <a:r>
              <a:rPr lang="it-IT" sz="1900" b="0" dirty="0">
                <a:solidFill>
                  <a:schemeClr val="bg1"/>
                </a:solidFill>
              </a:rPr>
              <a:t> </a:t>
            </a:r>
            <a:r>
              <a:rPr lang="it-IT" sz="1900" b="0" dirty="0" err="1">
                <a:solidFill>
                  <a:schemeClr val="bg1"/>
                </a:solidFill>
              </a:rPr>
              <a:t>forces</a:t>
            </a:r>
            <a:r>
              <a:rPr lang="it-IT" sz="1900" b="0" dirty="0">
                <a:solidFill>
                  <a:schemeClr val="bg1"/>
                </a:solidFill>
              </a:rPr>
              <a:t>.</a:t>
            </a:r>
          </a:p>
          <a:p>
            <a:r>
              <a:rPr lang="it-IT" sz="2200" dirty="0" err="1"/>
              <a:t>Motorcycles</a:t>
            </a:r>
            <a:r>
              <a:rPr lang="it-IT" sz="2200" dirty="0"/>
              <a:t>:</a:t>
            </a:r>
          </a:p>
          <a:p>
            <a:r>
              <a:rPr lang="it-IT" sz="1900" b="0" dirty="0" err="1">
                <a:solidFill>
                  <a:schemeClr val="bg1"/>
                </a:solidFill>
              </a:rPr>
              <a:t>Unique</a:t>
            </a:r>
            <a:r>
              <a:rPr lang="it-IT" sz="1900" b="0" dirty="0">
                <a:solidFill>
                  <a:schemeClr val="bg1"/>
                </a:solidFill>
              </a:rPr>
              <a:t> </a:t>
            </a:r>
            <a:r>
              <a:rPr lang="it-IT" sz="1900" b="0" dirty="0" err="1">
                <a:solidFill>
                  <a:schemeClr val="bg1"/>
                </a:solidFill>
              </a:rPr>
              <a:t>roles</a:t>
            </a:r>
            <a:r>
              <a:rPr lang="it-IT" sz="1900" b="0" dirty="0">
                <a:solidFill>
                  <a:schemeClr val="bg1"/>
                </a:solidFill>
              </a:rPr>
              <a:t> of </a:t>
            </a:r>
            <a:r>
              <a:rPr lang="it-IT" sz="1900" b="0" dirty="0" err="1">
                <a:solidFill>
                  <a:schemeClr val="bg1"/>
                </a:solidFill>
              </a:rPr>
              <a:t>tyres</a:t>
            </a:r>
            <a:r>
              <a:rPr lang="it-IT" sz="1900" b="0" dirty="0">
                <a:solidFill>
                  <a:schemeClr val="bg1"/>
                </a:solidFill>
              </a:rPr>
              <a:t> and </a:t>
            </a:r>
            <a:r>
              <a:rPr lang="it-IT" sz="1900" b="0" dirty="0" err="1">
                <a:solidFill>
                  <a:schemeClr val="bg1"/>
                </a:solidFill>
              </a:rPr>
              <a:t>rims</a:t>
            </a:r>
            <a:r>
              <a:rPr lang="it-IT" sz="1900" b="0" dirty="0">
                <a:solidFill>
                  <a:schemeClr val="bg1"/>
                </a:solidFill>
              </a:rPr>
              <a:t> on </a:t>
            </a:r>
            <a:r>
              <a:rPr lang="it-IT" sz="1900" b="0" dirty="0" err="1">
                <a:solidFill>
                  <a:schemeClr val="bg1"/>
                </a:solidFill>
              </a:rPr>
              <a:t>aerodynamics</a:t>
            </a:r>
            <a:r>
              <a:rPr lang="it-IT" sz="1900" b="0" dirty="0">
                <a:solidFill>
                  <a:schemeClr val="bg1"/>
                </a:solidFill>
              </a:rPr>
              <a:t> and </a:t>
            </a:r>
            <a:r>
              <a:rPr lang="it-IT" sz="1900" b="0" dirty="0" err="1">
                <a:solidFill>
                  <a:schemeClr val="bg1"/>
                </a:solidFill>
              </a:rPr>
              <a:t>stability</a:t>
            </a:r>
            <a:r>
              <a:rPr lang="it-IT" sz="1900" b="0" dirty="0">
                <a:solidFill>
                  <a:schemeClr val="bg1"/>
                </a:solidFill>
              </a:rPr>
              <a:t>.</a:t>
            </a:r>
          </a:p>
          <a:p>
            <a:r>
              <a:rPr lang="it-IT" sz="1900" b="0" dirty="0">
                <a:solidFill>
                  <a:schemeClr val="bg1"/>
                </a:solidFill>
              </a:rPr>
              <a:t>Greater </a:t>
            </a:r>
            <a:r>
              <a:rPr lang="it-IT" sz="1900" b="0" dirty="0" err="1">
                <a:solidFill>
                  <a:schemeClr val="bg1"/>
                </a:solidFill>
              </a:rPr>
              <a:t>influence</a:t>
            </a:r>
            <a:r>
              <a:rPr lang="it-IT" sz="1900" b="0" dirty="0">
                <a:solidFill>
                  <a:schemeClr val="bg1"/>
                </a:solidFill>
              </a:rPr>
              <a:t> of </a:t>
            </a:r>
            <a:r>
              <a:rPr lang="it-IT" sz="1900" b="0" dirty="0" err="1">
                <a:solidFill>
                  <a:schemeClr val="bg1"/>
                </a:solidFill>
              </a:rPr>
              <a:t>wheel-fairing</a:t>
            </a:r>
            <a:r>
              <a:rPr lang="it-IT" sz="1900" b="0" dirty="0">
                <a:solidFill>
                  <a:schemeClr val="bg1"/>
                </a:solidFill>
              </a:rPr>
              <a:t> interaction </a:t>
            </a:r>
            <a:r>
              <a:rPr lang="it-IT" sz="1900" b="0" dirty="0" err="1">
                <a:solidFill>
                  <a:schemeClr val="bg1"/>
                </a:solidFill>
              </a:rPr>
              <a:t>compared</a:t>
            </a:r>
            <a:r>
              <a:rPr lang="it-IT" sz="1900" b="0" dirty="0">
                <a:solidFill>
                  <a:schemeClr val="bg1"/>
                </a:solidFill>
              </a:rPr>
              <a:t> to cars</a:t>
            </a:r>
            <a:r>
              <a:rPr lang="it-IT" sz="1800" b="0" dirty="0">
                <a:solidFill>
                  <a:schemeClr val="bg1"/>
                </a:solidFill>
              </a:rPr>
              <a:t>. </a:t>
            </a:r>
          </a:p>
          <a:p>
            <a:endParaRPr lang="it-IT" sz="1800" dirty="0"/>
          </a:p>
          <a:p>
            <a:endParaRPr lang="it-IT" sz="1800" b="0" dirty="0">
              <a:solidFill>
                <a:schemeClr val="bg1"/>
              </a:solidFill>
            </a:endParaRPr>
          </a:p>
          <a:p>
            <a:endParaRPr lang="en-GB" sz="1800" b="0" dirty="0">
              <a:solidFill>
                <a:schemeClr val="bg1"/>
              </a:solidFill>
            </a:endParaRPr>
          </a:p>
        </p:txBody>
      </p:sp>
    </p:spTree>
    <p:extLst>
      <p:ext uri="{BB962C8B-B14F-4D97-AF65-F5344CB8AC3E}">
        <p14:creationId xmlns:p14="http://schemas.microsoft.com/office/powerpoint/2010/main" val="1914149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a:lstStyle/>
          <a:p>
            <a:r>
              <a:rPr lang="en-US" dirty="0"/>
              <a:t>Rim and </a:t>
            </a:r>
            <a:r>
              <a:rPr lang="en-US" dirty="0" err="1"/>
              <a:t>tyre</a:t>
            </a:r>
            <a:r>
              <a:rPr lang="en-US" dirty="0"/>
              <a:t> influence on car aerodynamic</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2382591" y="2413254"/>
            <a:ext cx="7810500" cy="3700462"/>
          </a:xfrm>
        </p:spPr>
        <p:txBody>
          <a:bodyPr>
            <a:normAutofit/>
          </a:bodyPr>
          <a:lstStyle/>
          <a:p>
            <a:r>
              <a:rPr lang="en-US" dirty="0"/>
              <a:t>Rotating vs stationary wheels</a:t>
            </a:r>
          </a:p>
          <a:p>
            <a:r>
              <a:rPr lang="en-US" dirty="0"/>
              <a:t>Influence of </a:t>
            </a:r>
            <a:r>
              <a:rPr lang="en-US" dirty="0" err="1"/>
              <a:t>tyre</a:t>
            </a:r>
            <a:r>
              <a:rPr lang="en-US" dirty="0"/>
              <a:t> deformation</a:t>
            </a:r>
          </a:p>
          <a:p>
            <a:r>
              <a:rPr lang="en-US" dirty="0"/>
              <a:t>Influence of rim openings</a:t>
            </a:r>
          </a:p>
          <a:p>
            <a:r>
              <a:rPr lang="en-US" dirty="0"/>
              <a:t>Influence of </a:t>
            </a:r>
            <a:r>
              <a:rPr lang="en-US" dirty="0" err="1"/>
              <a:t>tyre</a:t>
            </a:r>
            <a:r>
              <a:rPr lang="en-US" dirty="0"/>
              <a:t> grooves</a:t>
            </a:r>
          </a:p>
          <a:p>
            <a:r>
              <a:rPr lang="en-US" dirty="0"/>
              <a:t>Influence of </a:t>
            </a:r>
            <a:r>
              <a:rPr lang="en-US" dirty="0" err="1"/>
              <a:t>tyre</a:t>
            </a:r>
            <a:r>
              <a:rPr lang="en-US" dirty="0"/>
              <a:t> profile </a:t>
            </a:r>
          </a:p>
          <a:p>
            <a:endParaRPr lang="en-US" dirty="0"/>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4" name="Picture 3">
            <a:extLst>
              <a:ext uri="{FF2B5EF4-FFF2-40B4-BE49-F238E27FC236}">
                <a16:creationId xmlns:a16="http://schemas.microsoft.com/office/drawing/2014/main" id="{B0FF4906-1F22-41BD-75F0-A988CD265CCE}"/>
              </a:ext>
            </a:extLst>
          </p:cNvPr>
          <p:cNvPicPr>
            <a:picLocks noChangeAspect="1"/>
          </p:cNvPicPr>
          <p:nvPr/>
        </p:nvPicPr>
        <p:blipFill>
          <a:blip r:embed="rId3"/>
          <a:stretch>
            <a:fillRect/>
          </a:stretch>
        </p:blipFill>
        <p:spPr>
          <a:xfrm>
            <a:off x="11227317" y="102875"/>
            <a:ext cx="876422" cy="838317"/>
          </a:xfrm>
          <a:prstGeom prst="rect">
            <a:avLst/>
          </a:prstGeom>
        </p:spPr>
      </p:pic>
    </p:spTree>
    <p:extLst>
      <p:ext uri="{BB962C8B-B14F-4D97-AF65-F5344CB8AC3E}">
        <p14:creationId xmlns:p14="http://schemas.microsoft.com/office/powerpoint/2010/main" val="3200312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94FA6-3119-EB2B-6557-0425701E4F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4FECD-38AE-A8D0-A184-B4B416A3346C}"/>
              </a:ext>
            </a:extLst>
          </p:cNvPr>
          <p:cNvSpPr>
            <a:spLocks noGrp="1"/>
          </p:cNvSpPr>
          <p:nvPr>
            <p:ph type="title"/>
          </p:nvPr>
        </p:nvSpPr>
        <p:spPr>
          <a:xfrm>
            <a:off x="518964" y="-462650"/>
            <a:ext cx="9778365" cy="1494596"/>
          </a:xfrm>
        </p:spPr>
        <p:txBody>
          <a:bodyPr/>
          <a:lstStyle/>
          <a:p>
            <a:r>
              <a:rPr lang="en-US" dirty="0"/>
              <a:t>Stationary vs rotating wheels</a:t>
            </a:r>
          </a:p>
        </p:txBody>
      </p:sp>
      <p:pic>
        <p:nvPicPr>
          <p:cNvPr id="9" name="Picture 8">
            <a:extLst>
              <a:ext uri="{FF2B5EF4-FFF2-40B4-BE49-F238E27FC236}">
                <a16:creationId xmlns:a16="http://schemas.microsoft.com/office/drawing/2014/main" id="{92F1D4C6-209D-14BC-2FBF-44F301108713}"/>
              </a:ext>
            </a:extLst>
          </p:cNvPr>
          <p:cNvPicPr>
            <a:picLocks noChangeAspect="1"/>
          </p:cNvPicPr>
          <p:nvPr/>
        </p:nvPicPr>
        <p:blipFill>
          <a:blip r:embed="rId3"/>
          <a:stretch>
            <a:fillRect/>
          </a:stretch>
        </p:blipFill>
        <p:spPr>
          <a:xfrm>
            <a:off x="11159429" y="5921784"/>
            <a:ext cx="876422" cy="838317"/>
          </a:xfrm>
          <a:prstGeom prst="rect">
            <a:avLst/>
          </a:prstGeom>
        </p:spPr>
      </p:pic>
      <p:pic>
        <p:nvPicPr>
          <p:cNvPr id="11" name="Picture 10">
            <a:extLst>
              <a:ext uri="{FF2B5EF4-FFF2-40B4-BE49-F238E27FC236}">
                <a16:creationId xmlns:a16="http://schemas.microsoft.com/office/drawing/2014/main" id="{82BE713F-9DE7-FCB2-EB61-556455A577D0}"/>
              </a:ext>
            </a:extLst>
          </p:cNvPr>
          <p:cNvPicPr>
            <a:picLocks noChangeAspect="1"/>
          </p:cNvPicPr>
          <p:nvPr/>
        </p:nvPicPr>
        <p:blipFill>
          <a:blip r:embed="rId4"/>
          <a:srcRect l="51885" t="53630" r="2732" b="26339"/>
          <a:stretch/>
        </p:blipFill>
        <p:spPr>
          <a:xfrm>
            <a:off x="6492557" y="2177347"/>
            <a:ext cx="2259560" cy="1446101"/>
          </a:xfrm>
          <a:prstGeom prst="rect">
            <a:avLst/>
          </a:prstGeom>
        </p:spPr>
      </p:pic>
      <p:sp>
        <p:nvSpPr>
          <p:cNvPr id="7" name="Rettangolo 6">
            <a:extLst>
              <a:ext uri="{FF2B5EF4-FFF2-40B4-BE49-F238E27FC236}">
                <a16:creationId xmlns:a16="http://schemas.microsoft.com/office/drawing/2014/main" id="{98B58ED4-587C-B97D-9280-D91FA29E3FE0}"/>
              </a:ext>
            </a:extLst>
          </p:cNvPr>
          <p:cNvSpPr/>
          <p:nvPr/>
        </p:nvSpPr>
        <p:spPr>
          <a:xfrm>
            <a:off x="594360" y="2052320"/>
            <a:ext cx="2136140" cy="19301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8" name="Connettore diritto 7">
            <a:extLst>
              <a:ext uri="{FF2B5EF4-FFF2-40B4-BE49-F238E27FC236}">
                <a16:creationId xmlns:a16="http://schemas.microsoft.com/office/drawing/2014/main" id="{21AA8026-D8EB-231A-A11E-165CE6AE6090}"/>
              </a:ext>
            </a:extLst>
          </p:cNvPr>
          <p:cNvCxnSpPr>
            <a:cxnSpLocks/>
          </p:cNvCxnSpPr>
          <p:nvPr/>
        </p:nvCxnSpPr>
        <p:spPr>
          <a:xfrm>
            <a:off x="518964" y="1379212"/>
            <a:ext cx="2136140" cy="0"/>
          </a:xfrm>
          <a:prstGeom prst="line">
            <a:avLst/>
          </a:prstGeom>
          <a:ln w="101600">
            <a:solidFill>
              <a:srgbClr val="5D7D40"/>
            </a:solidFill>
          </a:ln>
        </p:spPr>
        <p:style>
          <a:lnRef idx="1">
            <a:schemeClr val="accent1"/>
          </a:lnRef>
          <a:fillRef idx="0">
            <a:schemeClr val="accent1"/>
          </a:fillRef>
          <a:effectRef idx="0">
            <a:schemeClr val="accent1"/>
          </a:effectRef>
          <a:fontRef idx="minor">
            <a:schemeClr val="tx1"/>
          </a:fontRef>
        </p:style>
      </p:cxnSp>
      <p:cxnSp>
        <p:nvCxnSpPr>
          <p:cNvPr id="10" name="Connettore diritto 9">
            <a:extLst>
              <a:ext uri="{FF2B5EF4-FFF2-40B4-BE49-F238E27FC236}">
                <a16:creationId xmlns:a16="http://schemas.microsoft.com/office/drawing/2014/main" id="{65BE6D25-A5C2-3751-68FC-9BBF08AE4B66}"/>
              </a:ext>
            </a:extLst>
          </p:cNvPr>
          <p:cNvCxnSpPr>
            <a:cxnSpLocks/>
          </p:cNvCxnSpPr>
          <p:nvPr/>
        </p:nvCxnSpPr>
        <p:spPr>
          <a:xfrm>
            <a:off x="5454901" y="1620279"/>
            <a:ext cx="0" cy="4578390"/>
          </a:xfrm>
          <a:prstGeom prst="line">
            <a:avLst/>
          </a:prstGeom>
          <a:ln w="38100">
            <a:solidFill>
              <a:srgbClr val="5D7D40"/>
            </a:solidFill>
          </a:ln>
        </p:spPr>
        <p:style>
          <a:lnRef idx="1">
            <a:schemeClr val="accent1"/>
          </a:lnRef>
          <a:fillRef idx="0">
            <a:schemeClr val="accent1"/>
          </a:fillRef>
          <a:effectRef idx="0">
            <a:schemeClr val="accent1"/>
          </a:effectRef>
          <a:fontRef idx="minor">
            <a:schemeClr val="tx1"/>
          </a:fontRef>
        </p:style>
      </p:cxnSp>
      <p:sp>
        <p:nvSpPr>
          <p:cNvPr id="13" name="CasellaDiTesto 12">
            <a:extLst>
              <a:ext uri="{FF2B5EF4-FFF2-40B4-BE49-F238E27FC236}">
                <a16:creationId xmlns:a16="http://schemas.microsoft.com/office/drawing/2014/main" id="{F2B7F6A6-78A6-9D98-BED7-4B5CFF4F55ED}"/>
              </a:ext>
            </a:extLst>
          </p:cNvPr>
          <p:cNvSpPr txBox="1"/>
          <p:nvPr/>
        </p:nvSpPr>
        <p:spPr>
          <a:xfrm>
            <a:off x="1204163" y="1671775"/>
            <a:ext cx="3052674" cy="430887"/>
          </a:xfrm>
          <a:prstGeom prst="rect">
            <a:avLst/>
          </a:prstGeom>
          <a:noFill/>
        </p:spPr>
        <p:txBody>
          <a:bodyPr wrap="square" rtlCol="0">
            <a:spAutoFit/>
          </a:bodyPr>
          <a:lstStyle/>
          <a:p>
            <a:pPr algn="ctr"/>
            <a:r>
              <a:rPr lang="it-IT" sz="2200" b="1" dirty="0" err="1">
                <a:solidFill>
                  <a:schemeClr val="bg1"/>
                </a:solidFill>
                <a:latin typeface="Aptos" panose="020B0004020202020204" pitchFamily="34" charset="0"/>
              </a:rPr>
              <a:t>Stationary</a:t>
            </a:r>
            <a:r>
              <a:rPr lang="it-IT" sz="2200" b="1" dirty="0">
                <a:solidFill>
                  <a:schemeClr val="bg1"/>
                </a:solidFill>
                <a:latin typeface="Aptos" panose="020B0004020202020204" pitchFamily="34" charset="0"/>
              </a:rPr>
              <a:t> </a:t>
            </a:r>
            <a:r>
              <a:rPr lang="it-IT" sz="2200" b="1" dirty="0" err="1">
                <a:solidFill>
                  <a:schemeClr val="bg1"/>
                </a:solidFill>
                <a:latin typeface="Aptos" panose="020B0004020202020204" pitchFamily="34" charset="0"/>
              </a:rPr>
              <a:t>wheels</a:t>
            </a:r>
            <a:endParaRPr lang="it-IT" sz="2200" b="1" dirty="0">
              <a:solidFill>
                <a:schemeClr val="bg1"/>
              </a:solidFill>
              <a:latin typeface="Aptos" panose="020B0004020202020204" pitchFamily="34" charset="0"/>
            </a:endParaRPr>
          </a:p>
        </p:txBody>
      </p:sp>
      <p:sp>
        <p:nvSpPr>
          <p:cNvPr id="14" name="CasellaDiTesto 13">
            <a:extLst>
              <a:ext uri="{FF2B5EF4-FFF2-40B4-BE49-F238E27FC236}">
                <a16:creationId xmlns:a16="http://schemas.microsoft.com/office/drawing/2014/main" id="{4BFC43FF-92D2-0F3A-E3E1-0939E73A1132}"/>
              </a:ext>
            </a:extLst>
          </p:cNvPr>
          <p:cNvSpPr txBox="1"/>
          <p:nvPr/>
        </p:nvSpPr>
        <p:spPr>
          <a:xfrm>
            <a:off x="6096000" y="1671774"/>
            <a:ext cx="3052674" cy="430887"/>
          </a:xfrm>
          <a:prstGeom prst="rect">
            <a:avLst/>
          </a:prstGeom>
          <a:noFill/>
        </p:spPr>
        <p:txBody>
          <a:bodyPr wrap="square" rtlCol="0">
            <a:spAutoFit/>
          </a:bodyPr>
          <a:lstStyle/>
          <a:p>
            <a:pPr algn="ctr"/>
            <a:r>
              <a:rPr lang="it-IT" sz="2200" b="1" dirty="0" err="1">
                <a:solidFill>
                  <a:schemeClr val="bg1"/>
                </a:solidFill>
                <a:latin typeface="Aptos" panose="020B0004020202020204" pitchFamily="34" charset="0"/>
              </a:rPr>
              <a:t>Rotating</a:t>
            </a:r>
            <a:r>
              <a:rPr lang="it-IT" sz="2200" b="1" dirty="0">
                <a:solidFill>
                  <a:schemeClr val="bg1"/>
                </a:solidFill>
                <a:latin typeface="Aptos" panose="020B0004020202020204" pitchFamily="34" charset="0"/>
              </a:rPr>
              <a:t> </a:t>
            </a:r>
            <a:r>
              <a:rPr lang="it-IT" sz="2200" b="1" dirty="0" err="1">
                <a:solidFill>
                  <a:schemeClr val="bg1"/>
                </a:solidFill>
                <a:latin typeface="Aptos" panose="020B0004020202020204" pitchFamily="34" charset="0"/>
              </a:rPr>
              <a:t>wheels</a:t>
            </a:r>
            <a:endParaRPr lang="it-IT" sz="2200" b="1" dirty="0">
              <a:solidFill>
                <a:schemeClr val="bg1"/>
              </a:solidFill>
              <a:latin typeface="Aptos" panose="020B0004020202020204" pitchFamily="34" charset="0"/>
            </a:endParaRPr>
          </a:p>
        </p:txBody>
      </p:sp>
      <p:sp>
        <p:nvSpPr>
          <p:cNvPr id="16" name="CasellaDiTesto 15">
            <a:extLst>
              <a:ext uri="{FF2B5EF4-FFF2-40B4-BE49-F238E27FC236}">
                <a16:creationId xmlns:a16="http://schemas.microsoft.com/office/drawing/2014/main" id="{6A93EEB2-C1F6-DA92-C366-DF0920FCB09A}"/>
              </a:ext>
            </a:extLst>
          </p:cNvPr>
          <p:cNvSpPr txBox="1"/>
          <p:nvPr/>
        </p:nvSpPr>
        <p:spPr>
          <a:xfrm>
            <a:off x="1111750" y="3858078"/>
            <a:ext cx="4083261" cy="369332"/>
          </a:xfrm>
          <a:prstGeom prst="rect">
            <a:avLst/>
          </a:prstGeom>
          <a:noFill/>
        </p:spPr>
        <p:txBody>
          <a:bodyPr wrap="square">
            <a:spAutoFit/>
          </a:bodyPr>
          <a:lstStyle/>
          <a:p>
            <a:pPr marL="285750" indent="-285750">
              <a:buFont typeface="Arial" panose="020B0604020202020204" pitchFamily="34" charset="0"/>
              <a:buChar char="•"/>
            </a:pPr>
            <a:r>
              <a:rPr lang="it-IT" dirty="0">
                <a:solidFill>
                  <a:schemeClr val="bg1"/>
                </a:solidFill>
                <a:latin typeface="Aptos" panose="020B0004020202020204" pitchFamily="34" charset="0"/>
              </a:rPr>
              <a:t>Flow </a:t>
            </a:r>
            <a:r>
              <a:rPr lang="it-IT" dirty="0" err="1">
                <a:solidFill>
                  <a:schemeClr val="bg1"/>
                </a:solidFill>
                <a:latin typeface="Aptos" panose="020B0004020202020204" pitchFamily="34" charset="0"/>
              </a:rPr>
              <a:t>pushed</a:t>
            </a:r>
            <a:r>
              <a:rPr lang="it-IT" dirty="0">
                <a:solidFill>
                  <a:schemeClr val="bg1"/>
                </a:solidFill>
                <a:latin typeface="Aptos" panose="020B0004020202020204" pitchFamily="34" charset="0"/>
              </a:rPr>
              <a:t> </a:t>
            </a:r>
            <a:r>
              <a:rPr lang="it-IT" dirty="0" err="1">
                <a:solidFill>
                  <a:schemeClr val="bg1"/>
                </a:solidFill>
                <a:latin typeface="Aptos" panose="020B0004020202020204" pitchFamily="34" charset="0"/>
              </a:rPr>
              <a:t>outward</a:t>
            </a:r>
            <a:r>
              <a:rPr lang="it-IT" dirty="0">
                <a:solidFill>
                  <a:schemeClr val="bg1"/>
                </a:solidFill>
                <a:latin typeface="Aptos" panose="020B0004020202020204" pitchFamily="34" charset="0"/>
              </a:rPr>
              <a:t> the car. </a:t>
            </a:r>
            <a:endParaRPr lang="it-IT" dirty="0">
              <a:latin typeface="Aptos" panose="020B0004020202020204" pitchFamily="34" charset="0"/>
            </a:endParaRPr>
          </a:p>
        </p:txBody>
      </p:sp>
      <p:pic>
        <p:nvPicPr>
          <p:cNvPr id="5" name="Picture 10">
            <a:extLst>
              <a:ext uri="{FF2B5EF4-FFF2-40B4-BE49-F238E27FC236}">
                <a16:creationId xmlns:a16="http://schemas.microsoft.com/office/drawing/2014/main" id="{91B699DB-D4C4-F9C0-6B56-B0B744F9AFF1}"/>
              </a:ext>
            </a:extLst>
          </p:cNvPr>
          <p:cNvPicPr>
            <a:picLocks noChangeAspect="1"/>
          </p:cNvPicPr>
          <p:nvPr/>
        </p:nvPicPr>
        <p:blipFill>
          <a:blip r:embed="rId4"/>
          <a:srcRect l="1130" t="53244" r="53487" b="26725"/>
          <a:stretch/>
        </p:blipFill>
        <p:spPr>
          <a:xfrm>
            <a:off x="1600720" y="2177347"/>
            <a:ext cx="2259559" cy="1446100"/>
          </a:xfrm>
          <a:prstGeom prst="rect">
            <a:avLst/>
          </a:prstGeom>
        </p:spPr>
      </p:pic>
      <p:sp>
        <p:nvSpPr>
          <p:cNvPr id="17" name="CasellaDiTesto 16">
            <a:extLst>
              <a:ext uri="{FF2B5EF4-FFF2-40B4-BE49-F238E27FC236}">
                <a16:creationId xmlns:a16="http://schemas.microsoft.com/office/drawing/2014/main" id="{5A7B36B8-4A17-4E10-8A14-9E468DB03798}"/>
              </a:ext>
            </a:extLst>
          </p:cNvPr>
          <p:cNvSpPr txBox="1"/>
          <p:nvPr/>
        </p:nvSpPr>
        <p:spPr>
          <a:xfrm>
            <a:off x="5875872" y="3858078"/>
            <a:ext cx="4230654" cy="707886"/>
          </a:xfrm>
          <a:prstGeom prst="rect">
            <a:avLst/>
          </a:prstGeom>
          <a:noFill/>
        </p:spPr>
        <p:txBody>
          <a:bodyPr wrap="square">
            <a:spAutoFit/>
          </a:bodyPr>
          <a:lstStyle/>
          <a:p>
            <a:pPr marL="285750" indent="-285750">
              <a:buFont typeface="Arial" panose="020B0604020202020204" pitchFamily="34" charset="0"/>
              <a:buChar char="•"/>
            </a:pPr>
            <a:r>
              <a:rPr lang="it-IT" dirty="0">
                <a:solidFill>
                  <a:schemeClr val="bg1"/>
                </a:solidFill>
                <a:latin typeface="Aptos" panose="020B0004020202020204" pitchFamily="34" charset="0"/>
              </a:rPr>
              <a:t>Flow </a:t>
            </a:r>
            <a:r>
              <a:rPr lang="it-IT" dirty="0" err="1">
                <a:solidFill>
                  <a:schemeClr val="bg1"/>
                </a:solidFill>
                <a:latin typeface="Aptos" panose="020B0004020202020204" pitchFamily="34" charset="0"/>
              </a:rPr>
              <a:t>pushed</a:t>
            </a:r>
            <a:r>
              <a:rPr lang="it-IT" dirty="0">
                <a:solidFill>
                  <a:schemeClr val="bg1"/>
                </a:solidFill>
                <a:latin typeface="Aptos" panose="020B0004020202020204" pitchFamily="34" charset="0"/>
              </a:rPr>
              <a:t> </a:t>
            </a:r>
            <a:r>
              <a:rPr lang="it-IT" dirty="0" err="1">
                <a:solidFill>
                  <a:schemeClr val="bg1"/>
                </a:solidFill>
                <a:latin typeface="Aptos" panose="020B0004020202020204" pitchFamily="34" charset="0"/>
              </a:rPr>
              <a:t>outward</a:t>
            </a:r>
            <a:r>
              <a:rPr lang="it-IT" dirty="0">
                <a:solidFill>
                  <a:schemeClr val="bg1"/>
                </a:solidFill>
                <a:latin typeface="Aptos" panose="020B0004020202020204" pitchFamily="34" charset="0"/>
              </a:rPr>
              <a:t> the car.</a:t>
            </a:r>
          </a:p>
          <a:p>
            <a:r>
              <a:rPr lang="it-IT" sz="2200" dirty="0">
                <a:solidFill>
                  <a:schemeClr val="bg1"/>
                </a:solidFill>
              </a:rPr>
              <a:t> </a:t>
            </a:r>
            <a:endParaRPr lang="it-IT" sz="2200" dirty="0"/>
          </a:p>
        </p:txBody>
      </p:sp>
      <p:sp>
        <p:nvSpPr>
          <p:cNvPr id="19" name="CasellaDiTesto 18">
            <a:extLst>
              <a:ext uri="{FF2B5EF4-FFF2-40B4-BE49-F238E27FC236}">
                <a16:creationId xmlns:a16="http://schemas.microsoft.com/office/drawing/2014/main" id="{4367CA34-B545-E075-39D5-2C0B3314B196}"/>
              </a:ext>
            </a:extLst>
          </p:cNvPr>
          <p:cNvSpPr txBox="1"/>
          <p:nvPr/>
        </p:nvSpPr>
        <p:spPr>
          <a:xfrm>
            <a:off x="5875872" y="4577923"/>
            <a:ext cx="4490536" cy="369332"/>
          </a:xfrm>
          <a:prstGeom prst="rect">
            <a:avLst/>
          </a:prstGeom>
          <a:noFill/>
        </p:spPr>
        <p:txBody>
          <a:bodyPr wrap="square">
            <a:spAutoFit/>
          </a:bodyPr>
          <a:lstStyle/>
          <a:p>
            <a:pPr marL="285750" indent="-285750">
              <a:buFont typeface="Arial" panose="020B0604020202020204" pitchFamily="34" charset="0"/>
              <a:buChar char="•"/>
            </a:pPr>
            <a:r>
              <a:rPr lang="it-IT" dirty="0">
                <a:solidFill>
                  <a:schemeClr val="bg1"/>
                </a:solidFill>
                <a:latin typeface="Aptos" panose="020B0004020202020204" pitchFamily="34" charset="0"/>
              </a:rPr>
              <a:t>Generation of </a:t>
            </a:r>
            <a:r>
              <a:rPr lang="it-IT" dirty="0" err="1">
                <a:solidFill>
                  <a:schemeClr val="bg1"/>
                </a:solidFill>
                <a:latin typeface="Aptos" panose="020B0004020202020204" pitchFamily="34" charset="0"/>
              </a:rPr>
              <a:t>vortexes</a:t>
            </a:r>
            <a:r>
              <a:rPr lang="it-IT" dirty="0">
                <a:solidFill>
                  <a:schemeClr val="bg1"/>
                </a:solidFill>
                <a:latin typeface="Aptos" panose="020B0004020202020204" pitchFamily="34" charset="0"/>
              </a:rPr>
              <a:t>.     </a:t>
            </a:r>
          </a:p>
        </p:txBody>
      </p:sp>
      <p:sp>
        <p:nvSpPr>
          <p:cNvPr id="20" name="CasellaDiTesto 19">
            <a:extLst>
              <a:ext uri="{FF2B5EF4-FFF2-40B4-BE49-F238E27FC236}">
                <a16:creationId xmlns:a16="http://schemas.microsoft.com/office/drawing/2014/main" id="{F1E9C015-FAB3-29CC-386F-97E6C317795C}"/>
              </a:ext>
            </a:extLst>
          </p:cNvPr>
          <p:cNvSpPr txBox="1"/>
          <p:nvPr/>
        </p:nvSpPr>
        <p:spPr>
          <a:xfrm>
            <a:off x="1078156" y="4559462"/>
            <a:ext cx="3989637" cy="369332"/>
          </a:xfrm>
          <a:prstGeom prst="rect">
            <a:avLst/>
          </a:prstGeom>
          <a:noFill/>
        </p:spPr>
        <p:txBody>
          <a:bodyPr wrap="square">
            <a:spAutoFit/>
          </a:bodyPr>
          <a:lstStyle/>
          <a:p>
            <a:pPr marL="285750" indent="-285750">
              <a:buFont typeface="Arial" panose="020B0604020202020204" pitchFamily="34" charset="0"/>
              <a:buChar char="•"/>
            </a:pPr>
            <a:r>
              <a:rPr lang="it-IT" dirty="0" err="1">
                <a:solidFill>
                  <a:schemeClr val="bg1"/>
                </a:solidFill>
                <a:latin typeface="Aptos" panose="020B0004020202020204" pitchFamily="34" charset="0"/>
              </a:rPr>
              <a:t>Genereation</a:t>
            </a:r>
            <a:r>
              <a:rPr lang="it-IT" dirty="0">
                <a:solidFill>
                  <a:schemeClr val="bg1"/>
                </a:solidFill>
                <a:latin typeface="Aptos" panose="020B0004020202020204" pitchFamily="34" charset="0"/>
              </a:rPr>
              <a:t> of </a:t>
            </a:r>
            <a:r>
              <a:rPr lang="it-IT" dirty="0" err="1">
                <a:solidFill>
                  <a:schemeClr val="bg1"/>
                </a:solidFill>
                <a:latin typeface="Aptos" panose="020B0004020202020204" pitchFamily="34" charset="0"/>
              </a:rPr>
              <a:t>vortexes</a:t>
            </a:r>
            <a:r>
              <a:rPr lang="it-IT" dirty="0">
                <a:solidFill>
                  <a:schemeClr val="bg1"/>
                </a:solidFill>
                <a:latin typeface="Aptos" panose="020B0004020202020204" pitchFamily="34" charset="0"/>
              </a:rPr>
              <a:t>.</a:t>
            </a:r>
            <a:endParaRPr lang="it-IT" dirty="0">
              <a:latin typeface="Aptos" panose="020B0004020202020204" pitchFamily="34" charset="0"/>
            </a:endParaRPr>
          </a:p>
        </p:txBody>
      </p:sp>
      <p:sp>
        <p:nvSpPr>
          <p:cNvPr id="22" name="CasellaDiTesto 21">
            <a:extLst>
              <a:ext uri="{FF2B5EF4-FFF2-40B4-BE49-F238E27FC236}">
                <a16:creationId xmlns:a16="http://schemas.microsoft.com/office/drawing/2014/main" id="{67A69361-188C-3434-F075-2EB849D8E09F}"/>
              </a:ext>
            </a:extLst>
          </p:cNvPr>
          <p:cNvSpPr txBox="1"/>
          <p:nvPr/>
        </p:nvSpPr>
        <p:spPr>
          <a:xfrm>
            <a:off x="1107375" y="5305622"/>
            <a:ext cx="4490536" cy="369332"/>
          </a:xfrm>
          <a:prstGeom prst="rect">
            <a:avLst/>
          </a:prstGeom>
          <a:noFill/>
        </p:spPr>
        <p:txBody>
          <a:bodyPr wrap="square">
            <a:spAutoFit/>
          </a:bodyPr>
          <a:lstStyle/>
          <a:p>
            <a:pPr marL="285750" indent="-285750">
              <a:buFont typeface="Arial" panose="020B0604020202020204" pitchFamily="34" charset="0"/>
              <a:buChar char="•"/>
            </a:pPr>
            <a:r>
              <a:rPr lang="it-IT" dirty="0">
                <a:solidFill>
                  <a:schemeClr val="bg1"/>
                </a:solidFill>
                <a:latin typeface="Aptos" panose="020B0004020202020204" pitchFamily="34" charset="0"/>
              </a:rPr>
              <a:t>High </a:t>
            </a:r>
            <a:r>
              <a:rPr lang="it-IT" dirty="0" err="1">
                <a:solidFill>
                  <a:schemeClr val="bg1"/>
                </a:solidFill>
                <a:latin typeface="Aptos" panose="020B0004020202020204" pitchFamily="34" charset="0"/>
              </a:rPr>
              <a:t>gradient</a:t>
            </a:r>
            <a:r>
              <a:rPr lang="it-IT" dirty="0">
                <a:solidFill>
                  <a:schemeClr val="bg1"/>
                </a:solidFill>
                <a:latin typeface="Aptos" panose="020B0004020202020204" pitchFamily="34" charset="0"/>
              </a:rPr>
              <a:t> in pressure </a:t>
            </a:r>
            <a:r>
              <a:rPr lang="it-IT" dirty="0" err="1">
                <a:solidFill>
                  <a:schemeClr val="bg1"/>
                </a:solidFill>
                <a:latin typeface="Aptos" panose="020B0004020202020204" pitchFamily="34" charset="0"/>
              </a:rPr>
              <a:t>reduction</a:t>
            </a:r>
            <a:r>
              <a:rPr lang="it-IT" dirty="0">
                <a:solidFill>
                  <a:schemeClr val="bg1"/>
                </a:solidFill>
                <a:latin typeface="Aptos" panose="020B0004020202020204" pitchFamily="34" charset="0"/>
              </a:rPr>
              <a:t>.</a:t>
            </a:r>
          </a:p>
        </p:txBody>
      </p:sp>
      <p:sp>
        <p:nvSpPr>
          <p:cNvPr id="23" name="CasellaDiTesto 22">
            <a:extLst>
              <a:ext uri="{FF2B5EF4-FFF2-40B4-BE49-F238E27FC236}">
                <a16:creationId xmlns:a16="http://schemas.microsoft.com/office/drawing/2014/main" id="{AFCDB09D-9D10-40E0-C2F8-8192180D4A61}"/>
              </a:ext>
            </a:extLst>
          </p:cNvPr>
          <p:cNvSpPr txBox="1"/>
          <p:nvPr/>
        </p:nvSpPr>
        <p:spPr>
          <a:xfrm>
            <a:off x="5875872" y="5304626"/>
            <a:ext cx="4490536" cy="369332"/>
          </a:xfrm>
          <a:prstGeom prst="rect">
            <a:avLst/>
          </a:prstGeom>
          <a:noFill/>
        </p:spPr>
        <p:txBody>
          <a:bodyPr wrap="square">
            <a:spAutoFit/>
          </a:bodyPr>
          <a:lstStyle/>
          <a:p>
            <a:pPr marL="285750" indent="-285750">
              <a:buFont typeface="Arial" panose="020B0604020202020204" pitchFamily="34" charset="0"/>
              <a:buChar char="•"/>
            </a:pPr>
            <a:r>
              <a:rPr lang="it-IT" dirty="0" err="1">
                <a:solidFill>
                  <a:schemeClr val="bg1"/>
                </a:solidFill>
                <a:latin typeface="Aptos" panose="020B0004020202020204" pitchFamily="34" charset="0"/>
              </a:rPr>
              <a:t>Gradual</a:t>
            </a:r>
            <a:r>
              <a:rPr lang="it-IT" dirty="0">
                <a:solidFill>
                  <a:schemeClr val="bg1"/>
                </a:solidFill>
                <a:latin typeface="Aptos" panose="020B0004020202020204" pitchFamily="34" charset="0"/>
              </a:rPr>
              <a:t> pressure </a:t>
            </a:r>
            <a:r>
              <a:rPr lang="it-IT" dirty="0" err="1">
                <a:solidFill>
                  <a:schemeClr val="bg1"/>
                </a:solidFill>
                <a:latin typeface="Aptos" panose="020B0004020202020204" pitchFamily="34" charset="0"/>
              </a:rPr>
              <a:t>reduction</a:t>
            </a:r>
            <a:r>
              <a:rPr lang="it-IT" dirty="0">
                <a:solidFill>
                  <a:schemeClr val="bg1"/>
                </a:solidFill>
                <a:latin typeface="Aptos" panose="020B0004020202020204" pitchFamily="34" charset="0"/>
              </a:rPr>
              <a:t>.</a:t>
            </a:r>
          </a:p>
        </p:txBody>
      </p:sp>
      <p:sp>
        <p:nvSpPr>
          <p:cNvPr id="4" name="Content Placeholder 5">
            <a:extLst>
              <a:ext uri="{FF2B5EF4-FFF2-40B4-BE49-F238E27FC236}">
                <a16:creationId xmlns:a16="http://schemas.microsoft.com/office/drawing/2014/main" id="{44AA7097-81BC-2830-0E7D-14E89300B3F3}"/>
              </a:ext>
            </a:extLst>
          </p:cNvPr>
          <p:cNvSpPr>
            <a:spLocks noGrp="1"/>
          </p:cNvSpPr>
          <p:nvPr>
            <p:ph sz="quarter" idx="15"/>
          </p:nvPr>
        </p:nvSpPr>
        <p:spPr>
          <a:xfrm>
            <a:off x="594360" y="6210628"/>
            <a:ext cx="10147531" cy="752475"/>
          </a:xfrm>
        </p:spPr>
        <p:txBody>
          <a:bodyPr/>
          <a:lstStyle/>
          <a:p>
            <a:pPr algn="l"/>
            <a:r>
              <a:rPr lang="it-IT" b="1" dirty="0">
                <a:solidFill>
                  <a:srgbClr val="7CA655"/>
                </a:solidFill>
              </a:rPr>
              <a:t>Source: </a:t>
            </a:r>
            <a:r>
              <a:rPr lang="it-IT" dirty="0"/>
              <a:t>«</a:t>
            </a:r>
            <a:r>
              <a:rPr lang="en-US" sz="1800" i="0" u="none" strike="noStrike" baseline="0" dirty="0"/>
              <a:t>Computational investigation of the aerodynamics of a wheel installed on a race </a:t>
            </a:r>
            <a:r>
              <a:rPr lang="en-US" sz="1800" dirty="0"/>
              <a:t>c</a:t>
            </a:r>
            <a:r>
              <a:rPr lang="en-US" sz="1800" i="0" u="none" strike="noStrike" baseline="0" dirty="0"/>
              <a:t>ar with a multi-element front </a:t>
            </a:r>
            <a:r>
              <a:rPr lang="en-US" sz="1800" dirty="0"/>
              <a:t>w</a:t>
            </a:r>
            <a:r>
              <a:rPr lang="en-US" sz="1800" i="0" u="none" strike="noStrike" baseline="0" dirty="0"/>
              <a:t>ing</a:t>
            </a:r>
            <a:r>
              <a:rPr lang="it-IT" sz="2000" dirty="0"/>
              <a:t>», </a:t>
            </a:r>
            <a:r>
              <a:rPr lang="it-IT" sz="1600" i="0" u="none" strike="noStrike" baseline="0" dirty="0"/>
              <a:t>Carlo Cravero, Davide Marsano</a:t>
            </a:r>
            <a:endParaRPr lang="it-IT" sz="1600" dirty="0"/>
          </a:p>
          <a:p>
            <a:pPr algn="l"/>
            <a:endParaRPr lang="en-US" b="1" dirty="0">
              <a:solidFill>
                <a:schemeClr val="tx2"/>
              </a:solidFill>
            </a:endParaRPr>
          </a:p>
        </p:txBody>
      </p:sp>
    </p:spTree>
    <p:extLst>
      <p:ext uri="{BB962C8B-B14F-4D97-AF65-F5344CB8AC3E}">
        <p14:creationId xmlns:p14="http://schemas.microsoft.com/office/powerpoint/2010/main" val="198579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43C67-D379-7CE4-E20A-A74C6C5F10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56456C-6191-766F-6F68-7BAF5E31901F}"/>
              </a:ext>
            </a:extLst>
          </p:cNvPr>
          <p:cNvSpPr>
            <a:spLocks noGrp="1"/>
          </p:cNvSpPr>
          <p:nvPr>
            <p:ph type="title"/>
          </p:nvPr>
        </p:nvSpPr>
        <p:spPr>
          <a:xfrm>
            <a:off x="594360" y="-105705"/>
            <a:ext cx="7469987" cy="1494596"/>
          </a:xfrm>
        </p:spPr>
        <p:txBody>
          <a:bodyPr/>
          <a:lstStyle/>
          <a:p>
            <a:r>
              <a:rPr lang="en-US" dirty="0" err="1"/>
              <a:t>Tyre</a:t>
            </a:r>
            <a:r>
              <a:rPr lang="en-US" dirty="0"/>
              <a:t> deformation and contact patch</a:t>
            </a:r>
          </a:p>
        </p:txBody>
      </p:sp>
      <p:pic>
        <p:nvPicPr>
          <p:cNvPr id="3" name="Picture 2">
            <a:extLst>
              <a:ext uri="{FF2B5EF4-FFF2-40B4-BE49-F238E27FC236}">
                <a16:creationId xmlns:a16="http://schemas.microsoft.com/office/drawing/2014/main" id="{B8B31227-88F0-F84B-C0C6-8434E6EAFCEF}"/>
              </a:ext>
            </a:extLst>
          </p:cNvPr>
          <p:cNvPicPr>
            <a:picLocks noChangeAspect="1"/>
          </p:cNvPicPr>
          <p:nvPr/>
        </p:nvPicPr>
        <p:blipFill>
          <a:blip r:embed="rId3"/>
          <a:stretch>
            <a:fillRect/>
          </a:stretch>
        </p:blipFill>
        <p:spPr>
          <a:xfrm>
            <a:off x="11227317" y="5949493"/>
            <a:ext cx="876422" cy="838317"/>
          </a:xfrm>
          <a:prstGeom prst="rect">
            <a:avLst/>
          </a:prstGeom>
        </p:spPr>
      </p:pic>
      <p:pic>
        <p:nvPicPr>
          <p:cNvPr id="8" name="Picture 7">
            <a:extLst>
              <a:ext uri="{FF2B5EF4-FFF2-40B4-BE49-F238E27FC236}">
                <a16:creationId xmlns:a16="http://schemas.microsoft.com/office/drawing/2014/main" id="{F9EA88A1-9296-548E-9247-E4B2BD35817D}"/>
              </a:ext>
            </a:extLst>
          </p:cNvPr>
          <p:cNvPicPr>
            <a:picLocks noChangeAspect="1"/>
          </p:cNvPicPr>
          <p:nvPr/>
        </p:nvPicPr>
        <p:blipFill>
          <a:blip r:embed="rId4"/>
          <a:srcRect r="49314" b="13583"/>
          <a:stretch/>
        </p:blipFill>
        <p:spPr>
          <a:xfrm>
            <a:off x="2263948" y="4531969"/>
            <a:ext cx="1504738" cy="935698"/>
          </a:xfrm>
          <a:prstGeom prst="rect">
            <a:avLst/>
          </a:prstGeom>
        </p:spPr>
      </p:pic>
      <p:sp>
        <p:nvSpPr>
          <p:cNvPr id="4" name="Rettangolo 3">
            <a:extLst>
              <a:ext uri="{FF2B5EF4-FFF2-40B4-BE49-F238E27FC236}">
                <a16:creationId xmlns:a16="http://schemas.microsoft.com/office/drawing/2014/main" id="{3D6E1AE8-1A72-804D-036B-7D82F71B6271}"/>
              </a:ext>
            </a:extLst>
          </p:cNvPr>
          <p:cNvSpPr/>
          <p:nvPr/>
        </p:nvSpPr>
        <p:spPr>
          <a:xfrm>
            <a:off x="594360" y="2052320"/>
            <a:ext cx="2136140" cy="19301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5" name="Connettore diritto 4">
            <a:extLst>
              <a:ext uri="{FF2B5EF4-FFF2-40B4-BE49-F238E27FC236}">
                <a16:creationId xmlns:a16="http://schemas.microsoft.com/office/drawing/2014/main" id="{7A6CD222-E2CD-4DC3-6CAD-53E8067F2519}"/>
              </a:ext>
            </a:extLst>
          </p:cNvPr>
          <p:cNvCxnSpPr>
            <a:cxnSpLocks/>
          </p:cNvCxnSpPr>
          <p:nvPr/>
        </p:nvCxnSpPr>
        <p:spPr>
          <a:xfrm>
            <a:off x="594360" y="1595852"/>
            <a:ext cx="2136140" cy="0"/>
          </a:xfrm>
          <a:prstGeom prst="line">
            <a:avLst/>
          </a:prstGeom>
          <a:ln w="101600">
            <a:solidFill>
              <a:srgbClr val="5D7D40"/>
            </a:solidFill>
          </a:ln>
        </p:spPr>
        <p:style>
          <a:lnRef idx="1">
            <a:schemeClr val="accent1"/>
          </a:lnRef>
          <a:fillRef idx="0">
            <a:schemeClr val="accent1"/>
          </a:fillRef>
          <a:effectRef idx="0">
            <a:schemeClr val="accent1"/>
          </a:effectRef>
          <a:fontRef idx="minor">
            <a:schemeClr val="tx1"/>
          </a:fontRef>
        </p:style>
      </p:cxnSp>
      <p:sp>
        <p:nvSpPr>
          <p:cNvPr id="11" name="CasellaDiTesto 10">
            <a:extLst>
              <a:ext uri="{FF2B5EF4-FFF2-40B4-BE49-F238E27FC236}">
                <a16:creationId xmlns:a16="http://schemas.microsoft.com/office/drawing/2014/main" id="{1445FD71-1F15-64F8-9007-DA70BA5ECFE9}"/>
              </a:ext>
            </a:extLst>
          </p:cNvPr>
          <p:cNvSpPr txBox="1"/>
          <p:nvPr/>
        </p:nvSpPr>
        <p:spPr>
          <a:xfrm>
            <a:off x="594360" y="1836876"/>
            <a:ext cx="5272026" cy="430887"/>
          </a:xfrm>
          <a:prstGeom prst="rect">
            <a:avLst/>
          </a:prstGeom>
          <a:noFill/>
        </p:spPr>
        <p:txBody>
          <a:bodyPr wrap="square" rtlCol="0">
            <a:spAutoFit/>
          </a:bodyPr>
          <a:lstStyle/>
          <a:p>
            <a:pPr marL="285750" indent="-285750">
              <a:buFont typeface="Arial" panose="020B0604020202020204" pitchFamily="34" charset="0"/>
              <a:buChar char="•"/>
            </a:pPr>
            <a:r>
              <a:rPr lang="it-IT" sz="2200" dirty="0">
                <a:solidFill>
                  <a:schemeClr val="bg1"/>
                </a:solidFill>
                <a:latin typeface="Aptos" panose="020B0004020202020204" pitchFamily="34" charset="0"/>
              </a:rPr>
              <a:t>2 </a:t>
            </a:r>
            <a:r>
              <a:rPr lang="it-IT" sz="2200" dirty="0" err="1">
                <a:solidFill>
                  <a:schemeClr val="bg1"/>
                </a:solidFill>
                <a:latin typeface="Aptos" panose="020B0004020202020204" pitchFamily="34" charset="0"/>
              </a:rPr>
              <a:t>kinds</a:t>
            </a:r>
            <a:r>
              <a:rPr lang="it-IT" sz="2200" dirty="0">
                <a:solidFill>
                  <a:schemeClr val="bg1"/>
                </a:solidFill>
                <a:latin typeface="Aptos" panose="020B0004020202020204" pitchFamily="34" charset="0"/>
              </a:rPr>
              <a:t> of </a:t>
            </a:r>
            <a:r>
              <a:rPr lang="it-IT" sz="2200" dirty="0" err="1">
                <a:solidFill>
                  <a:schemeClr val="bg1"/>
                </a:solidFill>
                <a:latin typeface="Aptos" panose="020B0004020202020204" pitchFamily="34" charset="0"/>
              </a:rPr>
              <a:t>tyre</a:t>
            </a:r>
            <a:r>
              <a:rPr lang="it-IT" sz="2200" dirty="0">
                <a:solidFill>
                  <a:schemeClr val="bg1"/>
                </a:solidFill>
                <a:latin typeface="Aptos" panose="020B0004020202020204" pitchFamily="34" charset="0"/>
              </a:rPr>
              <a:t> </a:t>
            </a:r>
            <a:r>
              <a:rPr lang="it-IT" sz="2200" dirty="0" err="1">
                <a:solidFill>
                  <a:schemeClr val="bg1"/>
                </a:solidFill>
                <a:latin typeface="Aptos" panose="020B0004020202020204" pitchFamily="34" charset="0"/>
              </a:rPr>
              <a:t>deformations</a:t>
            </a:r>
            <a:r>
              <a:rPr lang="it-IT" sz="2200" dirty="0">
                <a:solidFill>
                  <a:schemeClr val="bg1"/>
                </a:solidFill>
                <a:latin typeface="Aptos" panose="020B0004020202020204" pitchFamily="34" charset="0"/>
              </a:rPr>
              <a:t> </a:t>
            </a:r>
            <a:r>
              <a:rPr lang="it-IT" sz="2200" dirty="0" err="1">
                <a:solidFill>
                  <a:schemeClr val="bg1"/>
                </a:solidFill>
                <a:latin typeface="Aptos" panose="020B0004020202020204" pitchFamily="34" charset="0"/>
              </a:rPr>
              <a:t>proposed</a:t>
            </a:r>
            <a:r>
              <a:rPr lang="it-IT" sz="2200" dirty="0">
                <a:solidFill>
                  <a:schemeClr val="bg1"/>
                </a:solidFill>
                <a:latin typeface="Aptos" panose="020B0004020202020204" pitchFamily="34" charset="0"/>
              </a:rPr>
              <a:t>:</a:t>
            </a:r>
          </a:p>
        </p:txBody>
      </p:sp>
      <p:cxnSp>
        <p:nvCxnSpPr>
          <p:cNvPr id="14" name="Connettore diritto 13">
            <a:extLst>
              <a:ext uri="{FF2B5EF4-FFF2-40B4-BE49-F238E27FC236}">
                <a16:creationId xmlns:a16="http://schemas.microsoft.com/office/drawing/2014/main" id="{5DB1DBB4-FA36-E4D5-6B92-919B009782E9}"/>
              </a:ext>
            </a:extLst>
          </p:cNvPr>
          <p:cNvCxnSpPr>
            <a:cxnSpLocks/>
          </p:cNvCxnSpPr>
          <p:nvPr/>
        </p:nvCxnSpPr>
        <p:spPr>
          <a:xfrm>
            <a:off x="5655400" y="2486029"/>
            <a:ext cx="0" cy="3684020"/>
          </a:xfrm>
          <a:prstGeom prst="line">
            <a:avLst/>
          </a:prstGeom>
          <a:ln w="38100">
            <a:solidFill>
              <a:srgbClr val="5D7D40"/>
            </a:solidFill>
          </a:ln>
        </p:spPr>
        <p:style>
          <a:lnRef idx="1">
            <a:schemeClr val="accent1"/>
          </a:lnRef>
          <a:fillRef idx="0">
            <a:schemeClr val="accent1"/>
          </a:fillRef>
          <a:effectRef idx="0">
            <a:schemeClr val="accent1"/>
          </a:effectRef>
          <a:fontRef idx="minor">
            <a:schemeClr val="tx1"/>
          </a:fontRef>
        </p:style>
      </p:cxnSp>
      <p:sp>
        <p:nvSpPr>
          <p:cNvPr id="19" name="CasellaDiTesto 18">
            <a:extLst>
              <a:ext uri="{FF2B5EF4-FFF2-40B4-BE49-F238E27FC236}">
                <a16:creationId xmlns:a16="http://schemas.microsoft.com/office/drawing/2014/main" id="{DE573BDA-D388-C3B9-FEB9-6EE1E9C99726}"/>
              </a:ext>
            </a:extLst>
          </p:cNvPr>
          <p:cNvSpPr txBox="1"/>
          <p:nvPr/>
        </p:nvSpPr>
        <p:spPr>
          <a:xfrm>
            <a:off x="1099060" y="2483207"/>
            <a:ext cx="3279702" cy="430887"/>
          </a:xfrm>
          <a:prstGeom prst="rect">
            <a:avLst/>
          </a:prstGeom>
          <a:noFill/>
        </p:spPr>
        <p:txBody>
          <a:bodyPr wrap="square" rtlCol="0">
            <a:spAutoFit/>
          </a:bodyPr>
          <a:lstStyle/>
          <a:p>
            <a:pPr algn="ctr"/>
            <a:r>
              <a:rPr lang="it-IT" sz="2200" b="1" dirty="0" err="1">
                <a:solidFill>
                  <a:schemeClr val="bg1"/>
                </a:solidFill>
                <a:latin typeface="Aptos" panose="020B0004020202020204" pitchFamily="34" charset="0"/>
              </a:rPr>
              <a:t>Grooves</a:t>
            </a:r>
            <a:r>
              <a:rPr lang="it-IT" sz="2200" b="1" dirty="0">
                <a:solidFill>
                  <a:schemeClr val="bg1"/>
                </a:solidFill>
                <a:latin typeface="Aptos" panose="020B0004020202020204" pitchFamily="34" charset="0"/>
              </a:rPr>
              <a:t> </a:t>
            </a:r>
            <a:r>
              <a:rPr lang="it-IT" sz="2200" b="1" dirty="0" err="1">
                <a:solidFill>
                  <a:schemeClr val="bg1"/>
                </a:solidFill>
                <a:latin typeface="Aptos" panose="020B0004020202020204" pitchFamily="34" charset="0"/>
              </a:rPr>
              <a:t>not</a:t>
            </a:r>
            <a:r>
              <a:rPr lang="it-IT" sz="2200" b="1" dirty="0">
                <a:solidFill>
                  <a:schemeClr val="bg1"/>
                </a:solidFill>
                <a:latin typeface="Aptos" panose="020B0004020202020204" pitchFamily="34" charset="0"/>
              </a:rPr>
              <a:t> </a:t>
            </a:r>
            <a:r>
              <a:rPr lang="it-IT" sz="2200" b="1" dirty="0" err="1">
                <a:solidFill>
                  <a:schemeClr val="bg1"/>
                </a:solidFill>
                <a:latin typeface="Aptos" panose="020B0004020202020204" pitchFamily="34" charset="0"/>
              </a:rPr>
              <a:t>preserved</a:t>
            </a:r>
            <a:endParaRPr lang="it-IT" sz="2200" b="1" dirty="0">
              <a:solidFill>
                <a:schemeClr val="bg1"/>
              </a:solidFill>
              <a:latin typeface="Aptos" panose="020B0004020202020204" pitchFamily="34" charset="0"/>
            </a:endParaRPr>
          </a:p>
        </p:txBody>
      </p:sp>
      <p:sp>
        <p:nvSpPr>
          <p:cNvPr id="20" name="CasellaDiTesto 19">
            <a:extLst>
              <a:ext uri="{FF2B5EF4-FFF2-40B4-BE49-F238E27FC236}">
                <a16:creationId xmlns:a16="http://schemas.microsoft.com/office/drawing/2014/main" id="{D0F4999F-4DF0-CB6B-966C-179973AA9EB0}"/>
              </a:ext>
            </a:extLst>
          </p:cNvPr>
          <p:cNvSpPr txBox="1"/>
          <p:nvPr/>
        </p:nvSpPr>
        <p:spPr>
          <a:xfrm>
            <a:off x="6096000" y="2483207"/>
            <a:ext cx="3279702" cy="430887"/>
          </a:xfrm>
          <a:prstGeom prst="rect">
            <a:avLst/>
          </a:prstGeom>
          <a:noFill/>
        </p:spPr>
        <p:txBody>
          <a:bodyPr wrap="square" rtlCol="0">
            <a:spAutoFit/>
          </a:bodyPr>
          <a:lstStyle/>
          <a:p>
            <a:pPr algn="ctr"/>
            <a:r>
              <a:rPr lang="it-IT" sz="2200" b="1" dirty="0" err="1">
                <a:solidFill>
                  <a:schemeClr val="bg1"/>
                </a:solidFill>
                <a:latin typeface="Aptos" panose="020B0004020202020204" pitchFamily="34" charset="0"/>
              </a:rPr>
              <a:t>Grooves</a:t>
            </a:r>
            <a:r>
              <a:rPr lang="it-IT" sz="2200" b="1" dirty="0">
                <a:solidFill>
                  <a:schemeClr val="bg1"/>
                </a:solidFill>
                <a:latin typeface="Aptos" panose="020B0004020202020204" pitchFamily="34" charset="0"/>
              </a:rPr>
              <a:t> </a:t>
            </a:r>
            <a:r>
              <a:rPr lang="it-IT" sz="2200" b="1" dirty="0" err="1">
                <a:solidFill>
                  <a:schemeClr val="bg1"/>
                </a:solidFill>
                <a:latin typeface="Aptos" panose="020B0004020202020204" pitchFamily="34" charset="0"/>
              </a:rPr>
              <a:t>preserved</a:t>
            </a:r>
            <a:endParaRPr lang="it-IT" sz="2200" b="1" dirty="0">
              <a:solidFill>
                <a:schemeClr val="bg1"/>
              </a:solidFill>
              <a:latin typeface="Aptos" panose="020B0004020202020204" pitchFamily="34" charset="0"/>
            </a:endParaRPr>
          </a:p>
        </p:txBody>
      </p:sp>
      <p:pic>
        <p:nvPicPr>
          <p:cNvPr id="21" name="Immagine 20">
            <a:extLst>
              <a:ext uri="{FF2B5EF4-FFF2-40B4-BE49-F238E27FC236}">
                <a16:creationId xmlns:a16="http://schemas.microsoft.com/office/drawing/2014/main" id="{CBDEF27D-37D0-9B85-0283-5DB0C38D600A}"/>
              </a:ext>
            </a:extLst>
          </p:cNvPr>
          <p:cNvPicPr>
            <a:picLocks noChangeAspect="1"/>
          </p:cNvPicPr>
          <p:nvPr/>
        </p:nvPicPr>
        <p:blipFill>
          <a:blip r:embed="rId5">
            <a:extLst>
              <a:ext uri="{28A0092B-C50C-407E-A947-70E740481C1C}">
                <a14:useLocalDpi xmlns:a14="http://schemas.microsoft.com/office/drawing/2010/main" val="0"/>
              </a:ext>
            </a:extLst>
          </a:blip>
          <a:srcRect l="1429" t="5827" r="51143" b="41899"/>
          <a:stretch/>
        </p:blipFill>
        <p:spPr>
          <a:xfrm>
            <a:off x="2344032" y="3118356"/>
            <a:ext cx="1344570" cy="757371"/>
          </a:xfrm>
          <a:prstGeom prst="rect">
            <a:avLst/>
          </a:prstGeom>
        </p:spPr>
      </p:pic>
      <p:pic>
        <p:nvPicPr>
          <p:cNvPr id="22" name="Immagine 21">
            <a:extLst>
              <a:ext uri="{FF2B5EF4-FFF2-40B4-BE49-F238E27FC236}">
                <a16:creationId xmlns:a16="http://schemas.microsoft.com/office/drawing/2014/main" id="{0849C486-8D00-70A1-5686-4FB371EFB80E}"/>
              </a:ext>
            </a:extLst>
          </p:cNvPr>
          <p:cNvPicPr>
            <a:picLocks noChangeAspect="1"/>
          </p:cNvPicPr>
          <p:nvPr/>
        </p:nvPicPr>
        <p:blipFill>
          <a:blip r:embed="rId5">
            <a:extLst>
              <a:ext uri="{28A0092B-C50C-407E-A947-70E740481C1C}">
                <a14:useLocalDpi xmlns:a14="http://schemas.microsoft.com/office/drawing/2010/main" val="0"/>
              </a:ext>
            </a:extLst>
          </a:blip>
          <a:srcRect l="48840" t="5737" r="3732" b="41152"/>
          <a:stretch/>
        </p:blipFill>
        <p:spPr>
          <a:xfrm>
            <a:off x="6983482" y="3112288"/>
            <a:ext cx="1344570" cy="769506"/>
          </a:xfrm>
          <a:prstGeom prst="rect">
            <a:avLst/>
          </a:prstGeom>
        </p:spPr>
      </p:pic>
      <p:sp>
        <p:nvSpPr>
          <p:cNvPr id="23" name="CasellaDiTesto 22">
            <a:extLst>
              <a:ext uri="{FF2B5EF4-FFF2-40B4-BE49-F238E27FC236}">
                <a16:creationId xmlns:a16="http://schemas.microsoft.com/office/drawing/2014/main" id="{EFA4E319-D206-FF08-073B-837C3B03A191}"/>
              </a:ext>
            </a:extLst>
          </p:cNvPr>
          <p:cNvSpPr txBox="1"/>
          <p:nvPr/>
        </p:nvSpPr>
        <p:spPr>
          <a:xfrm>
            <a:off x="1361154" y="4143373"/>
            <a:ext cx="4083261" cy="369332"/>
          </a:xfrm>
          <a:prstGeom prst="rect">
            <a:avLst/>
          </a:prstGeom>
          <a:noFill/>
        </p:spPr>
        <p:txBody>
          <a:bodyPr wrap="square">
            <a:spAutoFit/>
          </a:bodyPr>
          <a:lstStyle/>
          <a:p>
            <a:pPr marL="285750" indent="-285750">
              <a:buFont typeface="Arial" panose="020B0604020202020204" pitchFamily="34" charset="0"/>
              <a:buChar char="•"/>
            </a:pPr>
            <a:r>
              <a:rPr lang="it-IT" dirty="0">
                <a:solidFill>
                  <a:schemeClr val="bg1"/>
                </a:solidFill>
                <a:latin typeface="Aptos" panose="020B0004020202020204" pitchFamily="34" charset="0"/>
              </a:rPr>
              <a:t>Drag </a:t>
            </a:r>
            <a:r>
              <a:rPr lang="it-IT" dirty="0" err="1">
                <a:solidFill>
                  <a:schemeClr val="bg1"/>
                </a:solidFill>
                <a:latin typeface="Aptos" panose="020B0004020202020204" pitchFamily="34" charset="0"/>
              </a:rPr>
              <a:t>distribution</a:t>
            </a:r>
            <a:r>
              <a:rPr lang="it-IT" dirty="0">
                <a:solidFill>
                  <a:schemeClr val="bg1"/>
                </a:solidFill>
                <a:latin typeface="Aptos" panose="020B0004020202020204" pitchFamily="34" charset="0"/>
              </a:rPr>
              <a:t>:</a:t>
            </a:r>
            <a:endParaRPr lang="it-IT" dirty="0">
              <a:latin typeface="Aptos" panose="020B0004020202020204" pitchFamily="34" charset="0"/>
            </a:endParaRPr>
          </a:p>
        </p:txBody>
      </p:sp>
      <p:sp>
        <p:nvSpPr>
          <p:cNvPr id="24" name="CasellaDiTesto 23">
            <a:extLst>
              <a:ext uri="{FF2B5EF4-FFF2-40B4-BE49-F238E27FC236}">
                <a16:creationId xmlns:a16="http://schemas.microsoft.com/office/drawing/2014/main" id="{543DE11D-3ACD-C787-158F-AD2E753FAE52}"/>
              </a:ext>
            </a:extLst>
          </p:cNvPr>
          <p:cNvSpPr txBox="1"/>
          <p:nvPr/>
        </p:nvSpPr>
        <p:spPr>
          <a:xfrm>
            <a:off x="6515178" y="4143373"/>
            <a:ext cx="2363704" cy="369332"/>
          </a:xfrm>
          <a:prstGeom prst="rect">
            <a:avLst/>
          </a:prstGeom>
          <a:noFill/>
        </p:spPr>
        <p:txBody>
          <a:bodyPr wrap="square">
            <a:spAutoFit/>
          </a:bodyPr>
          <a:lstStyle/>
          <a:p>
            <a:pPr marL="285750" indent="-285750">
              <a:buFont typeface="Arial" panose="020B0604020202020204" pitchFamily="34" charset="0"/>
              <a:buChar char="•"/>
            </a:pPr>
            <a:r>
              <a:rPr lang="it-IT" dirty="0">
                <a:solidFill>
                  <a:schemeClr val="bg1"/>
                </a:solidFill>
                <a:latin typeface="Aptos" panose="020B0004020202020204" pitchFamily="34" charset="0"/>
              </a:rPr>
              <a:t>Drag </a:t>
            </a:r>
            <a:r>
              <a:rPr lang="it-IT" dirty="0" err="1">
                <a:solidFill>
                  <a:schemeClr val="bg1"/>
                </a:solidFill>
                <a:latin typeface="Aptos" panose="020B0004020202020204" pitchFamily="34" charset="0"/>
              </a:rPr>
              <a:t>distribution</a:t>
            </a:r>
            <a:r>
              <a:rPr lang="it-IT" dirty="0">
                <a:solidFill>
                  <a:schemeClr val="bg1"/>
                </a:solidFill>
                <a:latin typeface="Aptos" panose="020B0004020202020204" pitchFamily="34" charset="0"/>
              </a:rPr>
              <a:t>:</a:t>
            </a:r>
            <a:endParaRPr lang="it-IT" dirty="0">
              <a:latin typeface="Aptos" panose="020B0004020202020204" pitchFamily="34" charset="0"/>
            </a:endParaRPr>
          </a:p>
        </p:txBody>
      </p:sp>
      <p:pic>
        <p:nvPicPr>
          <p:cNvPr id="25" name="Picture 7">
            <a:extLst>
              <a:ext uri="{FF2B5EF4-FFF2-40B4-BE49-F238E27FC236}">
                <a16:creationId xmlns:a16="http://schemas.microsoft.com/office/drawing/2014/main" id="{62693784-4A9A-0955-C625-E030FF453E26}"/>
              </a:ext>
            </a:extLst>
          </p:cNvPr>
          <p:cNvPicPr>
            <a:picLocks noChangeAspect="1"/>
          </p:cNvPicPr>
          <p:nvPr/>
        </p:nvPicPr>
        <p:blipFill>
          <a:blip r:embed="rId4"/>
          <a:srcRect l="51500" t="-576" r="-2186" b="14159"/>
          <a:stretch/>
        </p:blipFill>
        <p:spPr>
          <a:xfrm>
            <a:off x="6983482" y="4531969"/>
            <a:ext cx="1504738" cy="935698"/>
          </a:xfrm>
          <a:prstGeom prst="rect">
            <a:avLst/>
          </a:prstGeom>
        </p:spPr>
      </p:pic>
      <p:sp>
        <p:nvSpPr>
          <p:cNvPr id="26" name="CasellaDiTesto 25">
            <a:extLst>
              <a:ext uri="{FF2B5EF4-FFF2-40B4-BE49-F238E27FC236}">
                <a16:creationId xmlns:a16="http://schemas.microsoft.com/office/drawing/2014/main" id="{004A1A39-BD58-AE25-C8E9-C1ACCF4588A5}"/>
              </a:ext>
            </a:extLst>
          </p:cNvPr>
          <p:cNvSpPr txBox="1"/>
          <p:nvPr/>
        </p:nvSpPr>
        <p:spPr>
          <a:xfrm>
            <a:off x="6515177" y="5741984"/>
            <a:ext cx="3389217" cy="369332"/>
          </a:xfrm>
          <a:prstGeom prst="rect">
            <a:avLst/>
          </a:prstGeom>
          <a:noFill/>
        </p:spPr>
        <p:txBody>
          <a:bodyPr wrap="square">
            <a:spAutoFit/>
          </a:bodyPr>
          <a:lstStyle/>
          <a:p>
            <a:pPr marL="285750" indent="-285750">
              <a:buFont typeface="Arial" panose="020B0604020202020204" pitchFamily="34" charset="0"/>
              <a:buChar char="•"/>
            </a:pPr>
            <a:r>
              <a:rPr lang="it-IT" dirty="0" err="1">
                <a:solidFill>
                  <a:schemeClr val="bg1"/>
                </a:solidFill>
                <a:latin typeface="Aptos" panose="020B0004020202020204" pitchFamily="34" charset="0"/>
              </a:rPr>
              <a:t>Deformation</a:t>
            </a:r>
            <a:r>
              <a:rPr lang="it-IT" dirty="0">
                <a:solidFill>
                  <a:schemeClr val="bg1"/>
                </a:solidFill>
                <a:latin typeface="Aptos" panose="020B0004020202020204" pitchFamily="34" charset="0"/>
              </a:rPr>
              <a:t> </a:t>
            </a:r>
            <a:r>
              <a:rPr lang="it-IT" dirty="0" err="1">
                <a:solidFill>
                  <a:schemeClr val="bg1"/>
                </a:solidFill>
                <a:latin typeface="Aptos" panose="020B0004020202020204" pitchFamily="34" charset="0"/>
              </a:rPr>
              <a:t>closer</a:t>
            </a:r>
            <a:r>
              <a:rPr lang="it-IT" dirty="0">
                <a:solidFill>
                  <a:schemeClr val="bg1"/>
                </a:solidFill>
                <a:latin typeface="Aptos" panose="020B0004020202020204" pitchFamily="34" charset="0"/>
              </a:rPr>
              <a:t> to reality.</a:t>
            </a:r>
            <a:r>
              <a:rPr lang="it-IT" dirty="0">
                <a:latin typeface="Aptos" panose="020B0004020202020204" pitchFamily="34" charset="0"/>
              </a:rPr>
              <a:t>.</a:t>
            </a:r>
          </a:p>
        </p:txBody>
      </p:sp>
      <p:sp>
        <p:nvSpPr>
          <p:cNvPr id="6" name="Content Placeholder 5">
            <a:extLst>
              <a:ext uri="{FF2B5EF4-FFF2-40B4-BE49-F238E27FC236}">
                <a16:creationId xmlns:a16="http://schemas.microsoft.com/office/drawing/2014/main" id="{8DCF37C7-D870-A41C-2773-59975741ECE1}"/>
              </a:ext>
            </a:extLst>
          </p:cNvPr>
          <p:cNvSpPr txBox="1">
            <a:spLocks/>
          </p:cNvSpPr>
          <p:nvPr/>
        </p:nvSpPr>
        <p:spPr>
          <a:xfrm>
            <a:off x="484002" y="6244787"/>
            <a:ext cx="10213220" cy="615160"/>
          </a:xfrm>
          <a:prstGeom prst="rect">
            <a:avLst/>
          </a:prstGeom>
        </p:spPr>
        <p:txBody>
          <a:bodyPr vert="horz" lIns="0" tIns="45720" rIns="0" bIns="0" rtlCol="0" anchor="t">
            <a:normAutofit/>
          </a:bodyPr>
          <a:lstStyle>
            <a:defPPr>
              <a:defRPr lang="en-US"/>
            </a:defPPr>
            <a:lvl1pPr marL="0" indent="0" algn="l" defTabSz="914400" rtl="0" eaLnBrk="1" latinLnBrk="0" hangingPunct="1">
              <a:lnSpc>
                <a:spcPct val="90000"/>
              </a:lnSpc>
              <a:spcBef>
                <a:spcPts val="1800"/>
              </a:spcBef>
              <a:buFont typeface="Arial" panose="020B0604020202020204" pitchFamily="34" charset="0"/>
              <a:buNone/>
              <a:defRPr sz="2000" b="0" i="0" kern="1200">
                <a:solidFill>
                  <a:schemeClr val="bg1"/>
                </a:solidFill>
                <a:latin typeface="+mn-lt"/>
                <a:ea typeface="+mn-ea"/>
                <a:cs typeface="+mn-cs"/>
              </a:defRPr>
            </a:lvl1pPr>
            <a:lvl2pPr marL="283464"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2pPr>
            <a:lvl3pPr marL="59436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3pPr>
            <a:lvl4pPr marL="82296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4pPr>
            <a:lvl5pPr marL="100584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buFontTx/>
              <a:buNone/>
              <a:defRPr/>
            </a:pPr>
            <a:r>
              <a:rPr lang="it-IT" b="1" dirty="0">
                <a:solidFill>
                  <a:srgbClr val="7CA655"/>
                </a:solidFill>
              </a:rPr>
              <a:t>Source: </a:t>
            </a:r>
            <a:r>
              <a:rPr lang="it-IT" dirty="0"/>
              <a:t>«</a:t>
            </a:r>
            <a:r>
              <a:rPr lang="en-US" sz="1800" dirty="0">
                <a:solidFill>
                  <a:srgbClr val="111111"/>
                </a:solidFill>
              </a:rPr>
              <a:t>Investigation of the influence of </a:t>
            </a:r>
            <a:r>
              <a:rPr lang="en-US" sz="1800" dirty="0" err="1">
                <a:solidFill>
                  <a:srgbClr val="111111"/>
                </a:solidFill>
              </a:rPr>
              <a:t>tyre</a:t>
            </a:r>
            <a:r>
              <a:rPr lang="en-US" sz="1800" dirty="0">
                <a:solidFill>
                  <a:srgbClr val="111111"/>
                </a:solidFill>
              </a:rPr>
              <a:t> geometry on the aerodynamics of passenger cars</a:t>
            </a:r>
            <a:r>
              <a:rPr lang="it-IT" dirty="0"/>
              <a:t>», </a:t>
            </a:r>
            <a:r>
              <a:rPr lang="en-US" sz="1600" dirty="0"/>
              <a:t>Teddy Hobeika , Simone Sebben </a:t>
            </a:r>
            <a:endParaRPr lang="it-IT" sz="1600" dirty="0"/>
          </a:p>
          <a:p>
            <a:endParaRPr lang="it-IT" b="1" dirty="0">
              <a:solidFill>
                <a:schemeClr val="tx2"/>
              </a:solidFill>
            </a:endParaRPr>
          </a:p>
          <a:p>
            <a:pPr marL="342900" indent="-342900">
              <a:buFont typeface="Arial" panose="020B0604020202020204" pitchFamily="34" charset="0"/>
              <a:buChar char="•"/>
            </a:pPr>
            <a:endParaRPr lang="it-IT"/>
          </a:p>
          <a:p>
            <a:endParaRPr lang="en-US" b="1">
              <a:solidFill>
                <a:schemeClr val="tx2"/>
              </a:solidFill>
            </a:endParaRPr>
          </a:p>
        </p:txBody>
      </p:sp>
    </p:spTree>
    <p:extLst>
      <p:ext uri="{BB962C8B-B14F-4D97-AF65-F5344CB8AC3E}">
        <p14:creationId xmlns:p14="http://schemas.microsoft.com/office/powerpoint/2010/main" val="3990750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89535-53A7-E19F-9A68-ACB43E15331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C687271-E2E0-7B9E-1D6A-4CD26A58FEC8}"/>
              </a:ext>
            </a:extLst>
          </p:cNvPr>
          <p:cNvPicPr>
            <a:picLocks noChangeAspect="1"/>
          </p:cNvPicPr>
          <p:nvPr/>
        </p:nvPicPr>
        <p:blipFill>
          <a:blip r:embed="rId3"/>
          <a:stretch>
            <a:fillRect/>
          </a:stretch>
        </p:blipFill>
        <p:spPr>
          <a:xfrm>
            <a:off x="11227317" y="5949493"/>
            <a:ext cx="876422" cy="838317"/>
          </a:xfrm>
          <a:prstGeom prst="rect">
            <a:avLst/>
          </a:prstGeom>
        </p:spPr>
      </p:pic>
      <p:sp>
        <p:nvSpPr>
          <p:cNvPr id="37" name="Title 1">
            <a:extLst>
              <a:ext uri="{FF2B5EF4-FFF2-40B4-BE49-F238E27FC236}">
                <a16:creationId xmlns:a16="http://schemas.microsoft.com/office/drawing/2014/main" id="{FA0A499D-C822-1489-31FF-955CB7512BFA}"/>
              </a:ext>
            </a:extLst>
          </p:cNvPr>
          <p:cNvSpPr>
            <a:spLocks noGrp="1"/>
          </p:cNvSpPr>
          <p:nvPr>
            <p:ph type="title"/>
          </p:nvPr>
        </p:nvSpPr>
        <p:spPr>
          <a:xfrm>
            <a:off x="594360" y="-126805"/>
            <a:ext cx="9778365" cy="1494596"/>
          </a:xfrm>
        </p:spPr>
        <p:txBody>
          <a:bodyPr/>
          <a:lstStyle/>
          <a:p>
            <a:r>
              <a:rPr lang="en-US" dirty="0"/>
              <a:t>Influence of </a:t>
            </a:r>
            <a:r>
              <a:rPr lang="en-US" dirty="0" err="1"/>
              <a:t>tyre</a:t>
            </a:r>
            <a:r>
              <a:rPr lang="en-US" dirty="0"/>
              <a:t> grooves and rim openings </a:t>
            </a:r>
          </a:p>
        </p:txBody>
      </p:sp>
      <p:sp>
        <p:nvSpPr>
          <p:cNvPr id="38" name="Rettangolo 37">
            <a:extLst>
              <a:ext uri="{FF2B5EF4-FFF2-40B4-BE49-F238E27FC236}">
                <a16:creationId xmlns:a16="http://schemas.microsoft.com/office/drawing/2014/main" id="{46DE7878-49B1-DB8E-6419-61069EBB16FE}"/>
              </a:ext>
            </a:extLst>
          </p:cNvPr>
          <p:cNvSpPr/>
          <p:nvPr/>
        </p:nvSpPr>
        <p:spPr>
          <a:xfrm>
            <a:off x="594360" y="2052320"/>
            <a:ext cx="2136140" cy="19301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40" name="Connettore diritto 39">
            <a:extLst>
              <a:ext uri="{FF2B5EF4-FFF2-40B4-BE49-F238E27FC236}">
                <a16:creationId xmlns:a16="http://schemas.microsoft.com/office/drawing/2014/main" id="{0CBE4BA8-A06F-8230-D7A7-52FB29A5B684}"/>
              </a:ext>
            </a:extLst>
          </p:cNvPr>
          <p:cNvCxnSpPr>
            <a:cxnSpLocks/>
          </p:cNvCxnSpPr>
          <p:nvPr/>
        </p:nvCxnSpPr>
        <p:spPr>
          <a:xfrm>
            <a:off x="594360" y="1633855"/>
            <a:ext cx="2136140" cy="0"/>
          </a:xfrm>
          <a:prstGeom prst="line">
            <a:avLst/>
          </a:prstGeom>
          <a:ln w="101600">
            <a:solidFill>
              <a:srgbClr val="5D7D40"/>
            </a:solidFill>
          </a:ln>
        </p:spPr>
        <p:style>
          <a:lnRef idx="1">
            <a:schemeClr val="accent1"/>
          </a:lnRef>
          <a:fillRef idx="0">
            <a:schemeClr val="accent1"/>
          </a:fillRef>
          <a:effectRef idx="0">
            <a:schemeClr val="accent1"/>
          </a:effectRef>
          <a:fontRef idx="minor">
            <a:schemeClr val="tx1"/>
          </a:fontRef>
        </p:style>
      </p:cxnSp>
      <p:sp>
        <p:nvSpPr>
          <p:cNvPr id="41" name="CasellaDiTesto 40">
            <a:extLst>
              <a:ext uri="{FF2B5EF4-FFF2-40B4-BE49-F238E27FC236}">
                <a16:creationId xmlns:a16="http://schemas.microsoft.com/office/drawing/2014/main" id="{54EDAA0A-048C-70BD-4D52-1C0E3F725CF4}"/>
              </a:ext>
            </a:extLst>
          </p:cNvPr>
          <p:cNvSpPr txBox="1"/>
          <p:nvPr/>
        </p:nvSpPr>
        <p:spPr>
          <a:xfrm>
            <a:off x="594359" y="2052320"/>
            <a:ext cx="3558689" cy="430887"/>
          </a:xfrm>
          <a:prstGeom prst="rect">
            <a:avLst/>
          </a:prstGeom>
          <a:noFill/>
        </p:spPr>
        <p:txBody>
          <a:bodyPr wrap="square" rtlCol="0">
            <a:spAutoFit/>
          </a:bodyPr>
          <a:lstStyle/>
          <a:p>
            <a:pPr marL="285750" indent="-285750">
              <a:buFont typeface="Arial" panose="020B0604020202020204" pitchFamily="34" charset="0"/>
              <a:buChar char="•"/>
            </a:pPr>
            <a:r>
              <a:rPr lang="it-IT" sz="2200" dirty="0">
                <a:solidFill>
                  <a:schemeClr val="bg1"/>
                </a:solidFill>
                <a:latin typeface="Aptos" panose="020B0004020202020204" pitchFamily="34" charset="0"/>
              </a:rPr>
              <a:t>3 </a:t>
            </a:r>
            <a:r>
              <a:rPr lang="it-IT" sz="2200" dirty="0" err="1">
                <a:solidFill>
                  <a:schemeClr val="bg1"/>
                </a:solidFill>
                <a:latin typeface="Aptos" panose="020B0004020202020204" pitchFamily="34" charset="0"/>
              </a:rPr>
              <a:t>tyre</a:t>
            </a:r>
            <a:r>
              <a:rPr lang="it-IT" sz="2200" dirty="0">
                <a:solidFill>
                  <a:schemeClr val="bg1"/>
                </a:solidFill>
                <a:latin typeface="Aptos" panose="020B0004020202020204" pitchFamily="34" charset="0"/>
              </a:rPr>
              <a:t> patterns </a:t>
            </a:r>
            <a:r>
              <a:rPr lang="it-IT" sz="2200" dirty="0" err="1">
                <a:solidFill>
                  <a:schemeClr val="bg1"/>
                </a:solidFill>
                <a:latin typeface="Aptos" panose="020B0004020202020204" pitchFamily="34" charset="0"/>
              </a:rPr>
              <a:t>analysed</a:t>
            </a:r>
            <a:r>
              <a:rPr lang="it-IT" sz="2200" dirty="0">
                <a:solidFill>
                  <a:schemeClr val="bg1"/>
                </a:solidFill>
                <a:latin typeface="Aptos" panose="020B0004020202020204" pitchFamily="34" charset="0"/>
              </a:rPr>
              <a:t>:</a:t>
            </a:r>
          </a:p>
        </p:txBody>
      </p:sp>
      <p:sp>
        <p:nvSpPr>
          <p:cNvPr id="42" name="CasellaDiTesto 41">
            <a:extLst>
              <a:ext uri="{FF2B5EF4-FFF2-40B4-BE49-F238E27FC236}">
                <a16:creationId xmlns:a16="http://schemas.microsoft.com/office/drawing/2014/main" id="{79E6E83A-FEC3-AEED-4737-FDCE8A5A0A08}"/>
              </a:ext>
            </a:extLst>
          </p:cNvPr>
          <p:cNvSpPr txBox="1"/>
          <p:nvPr/>
        </p:nvSpPr>
        <p:spPr>
          <a:xfrm>
            <a:off x="594359" y="4113857"/>
            <a:ext cx="2921726" cy="430887"/>
          </a:xfrm>
          <a:prstGeom prst="rect">
            <a:avLst/>
          </a:prstGeom>
          <a:noFill/>
        </p:spPr>
        <p:txBody>
          <a:bodyPr wrap="square" rtlCol="0">
            <a:spAutoFit/>
          </a:bodyPr>
          <a:lstStyle/>
          <a:p>
            <a:pPr marL="285750" indent="-285750">
              <a:buFont typeface="Arial" panose="020B0604020202020204" pitchFamily="34" charset="0"/>
              <a:buChar char="•"/>
            </a:pPr>
            <a:r>
              <a:rPr lang="it-IT" sz="2200" dirty="0">
                <a:solidFill>
                  <a:schemeClr val="bg1"/>
                </a:solidFill>
                <a:latin typeface="Aptos" panose="020B0004020202020204" pitchFamily="34" charset="0"/>
              </a:rPr>
              <a:t>2 </a:t>
            </a:r>
            <a:r>
              <a:rPr lang="it-IT" sz="2200" dirty="0" err="1">
                <a:solidFill>
                  <a:schemeClr val="bg1"/>
                </a:solidFill>
                <a:latin typeface="Aptos" panose="020B0004020202020204" pitchFamily="34" charset="0"/>
              </a:rPr>
              <a:t>rims</a:t>
            </a:r>
            <a:r>
              <a:rPr lang="it-IT" sz="2200" dirty="0">
                <a:solidFill>
                  <a:schemeClr val="bg1"/>
                </a:solidFill>
                <a:latin typeface="Aptos" panose="020B0004020202020204" pitchFamily="34" charset="0"/>
              </a:rPr>
              <a:t> </a:t>
            </a:r>
            <a:r>
              <a:rPr lang="it-IT" sz="2200" dirty="0" err="1">
                <a:solidFill>
                  <a:schemeClr val="bg1"/>
                </a:solidFill>
                <a:latin typeface="Aptos" panose="020B0004020202020204" pitchFamily="34" charset="0"/>
              </a:rPr>
              <a:t>analysed</a:t>
            </a:r>
            <a:r>
              <a:rPr lang="it-IT" sz="2200" dirty="0">
                <a:solidFill>
                  <a:schemeClr val="bg1"/>
                </a:solidFill>
                <a:latin typeface="Aptos" panose="020B0004020202020204" pitchFamily="34" charset="0"/>
              </a:rPr>
              <a:t>:</a:t>
            </a:r>
          </a:p>
        </p:txBody>
      </p:sp>
      <p:sp>
        <p:nvSpPr>
          <p:cNvPr id="43" name="CasellaDiTesto 42">
            <a:extLst>
              <a:ext uri="{FF2B5EF4-FFF2-40B4-BE49-F238E27FC236}">
                <a16:creationId xmlns:a16="http://schemas.microsoft.com/office/drawing/2014/main" id="{DF768225-00FB-DEAC-2B3C-78C5BA47E34A}"/>
              </a:ext>
            </a:extLst>
          </p:cNvPr>
          <p:cNvSpPr txBox="1"/>
          <p:nvPr/>
        </p:nvSpPr>
        <p:spPr>
          <a:xfrm>
            <a:off x="3700986" y="2703367"/>
            <a:ext cx="1848393" cy="369332"/>
          </a:xfrm>
          <a:prstGeom prst="rect">
            <a:avLst/>
          </a:prstGeom>
          <a:noFill/>
        </p:spPr>
        <p:txBody>
          <a:bodyPr wrap="square">
            <a:spAutoFit/>
          </a:bodyPr>
          <a:lstStyle/>
          <a:p>
            <a:pPr algn="ctr"/>
            <a:r>
              <a:rPr lang="it-IT" sz="1800" dirty="0" err="1">
                <a:solidFill>
                  <a:schemeClr val="bg1"/>
                </a:solidFill>
                <a:latin typeface="Aptos" panose="020B0004020202020204" pitchFamily="34" charset="0"/>
              </a:rPr>
              <a:t>Rain</a:t>
            </a:r>
            <a:r>
              <a:rPr lang="it-IT" sz="1800" dirty="0">
                <a:solidFill>
                  <a:schemeClr val="bg1"/>
                </a:solidFill>
                <a:latin typeface="Aptos" panose="020B0004020202020204" pitchFamily="34" charset="0"/>
              </a:rPr>
              <a:t> </a:t>
            </a:r>
            <a:r>
              <a:rPr lang="it-IT" sz="1800" dirty="0" err="1">
                <a:solidFill>
                  <a:schemeClr val="bg1"/>
                </a:solidFill>
                <a:latin typeface="Aptos" panose="020B0004020202020204" pitchFamily="34" charset="0"/>
              </a:rPr>
              <a:t>grooved</a:t>
            </a:r>
            <a:endParaRPr lang="it-IT" dirty="0"/>
          </a:p>
        </p:txBody>
      </p:sp>
      <p:sp>
        <p:nvSpPr>
          <p:cNvPr id="44" name="CasellaDiTesto 43">
            <a:extLst>
              <a:ext uri="{FF2B5EF4-FFF2-40B4-BE49-F238E27FC236}">
                <a16:creationId xmlns:a16="http://schemas.microsoft.com/office/drawing/2014/main" id="{EA36F1AA-7313-A00F-D5B0-B9FBF43E5DD5}"/>
              </a:ext>
            </a:extLst>
          </p:cNvPr>
          <p:cNvSpPr txBox="1"/>
          <p:nvPr/>
        </p:nvSpPr>
        <p:spPr>
          <a:xfrm>
            <a:off x="5574069" y="2703367"/>
            <a:ext cx="2021659" cy="369332"/>
          </a:xfrm>
          <a:prstGeom prst="rect">
            <a:avLst/>
          </a:prstGeom>
          <a:noFill/>
        </p:spPr>
        <p:txBody>
          <a:bodyPr wrap="square">
            <a:spAutoFit/>
          </a:bodyPr>
          <a:lstStyle/>
          <a:p>
            <a:pPr algn="ctr"/>
            <a:r>
              <a:rPr lang="it-IT" sz="1800" dirty="0" err="1">
                <a:solidFill>
                  <a:schemeClr val="bg1"/>
                </a:solidFill>
                <a:latin typeface="Aptos" panose="020B0004020202020204" pitchFamily="34" charset="0"/>
              </a:rPr>
              <a:t>Lateral</a:t>
            </a:r>
            <a:r>
              <a:rPr lang="it-IT" sz="1800" dirty="0">
                <a:solidFill>
                  <a:schemeClr val="bg1"/>
                </a:solidFill>
                <a:latin typeface="Aptos" panose="020B0004020202020204" pitchFamily="34" charset="0"/>
              </a:rPr>
              <a:t> </a:t>
            </a:r>
            <a:r>
              <a:rPr lang="it-IT" sz="1800" dirty="0" err="1">
                <a:solidFill>
                  <a:schemeClr val="bg1"/>
                </a:solidFill>
                <a:latin typeface="Aptos" panose="020B0004020202020204" pitchFamily="34" charset="0"/>
              </a:rPr>
              <a:t>grooved</a:t>
            </a:r>
            <a:endParaRPr lang="it-IT" dirty="0"/>
          </a:p>
        </p:txBody>
      </p:sp>
      <p:sp>
        <p:nvSpPr>
          <p:cNvPr id="45" name="CasellaDiTesto 44">
            <a:extLst>
              <a:ext uri="{FF2B5EF4-FFF2-40B4-BE49-F238E27FC236}">
                <a16:creationId xmlns:a16="http://schemas.microsoft.com/office/drawing/2014/main" id="{D44D2D99-E664-4365-CDB4-7040C816FEB6}"/>
              </a:ext>
            </a:extLst>
          </p:cNvPr>
          <p:cNvSpPr txBox="1"/>
          <p:nvPr/>
        </p:nvSpPr>
        <p:spPr>
          <a:xfrm>
            <a:off x="7595728" y="2703367"/>
            <a:ext cx="1837235" cy="369332"/>
          </a:xfrm>
          <a:prstGeom prst="rect">
            <a:avLst/>
          </a:prstGeom>
          <a:noFill/>
        </p:spPr>
        <p:txBody>
          <a:bodyPr wrap="square">
            <a:spAutoFit/>
          </a:bodyPr>
          <a:lstStyle/>
          <a:p>
            <a:pPr algn="ctr"/>
            <a:r>
              <a:rPr lang="it-IT" sz="1800" dirty="0">
                <a:solidFill>
                  <a:schemeClr val="bg1"/>
                </a:solidFill>
                <a:latin typeface="Aptos" panose="020B0004020202020204" pitchFamily="34" charset="0"/>
              </a:rPr>
              <a:t>Side </a:t>
            </a:r>
            <a:r>
              <a:rPr lang="it-IT" sz="1800" dirty="0" err="1">
                <a:solidFill>
                  <a:schemeClr val="bg1"/>
                </a:solidFill>
                <a:latin typeface="Aptos" panose="020B0004020202020204" pitchFamily="34" charset="0"/>
              </a:rPr>
              <a:t>grooved</a:t>
            </a:r>
            <a:endParaRPr lang="it-IT" dirty="0"/>
          </a:p>
        </p:txBody>
      </p:sp>
      <p:pic>
        <p:nvPicPr>
          <p:cNvPr id="46" name="Immagine 45">
            <a:extLst>
              <a:ext uri="{FF2B5EF4-FFF2-40B4-BE49-F238E27FC236}">
                <a16:creationId xmlns:a16="http://schemas.microsoft.com/office/drawing/2014/main" id="{1801CEB4-B838-DEE5-9F5F-35C4B86EBE9F}"/>
              </a:ext>
            </a:extLst>
          </p:cNvPr>
          <p:cNvPicPr>
            <a:picLocks noChangeAspect="1"/>
          </p:cNvPicPr>
          <p:nvPr/>
        </p:nvPicPr>
        <p:blipFill>
          <a:blip r:embed="rId4"/>
          <a:stretch>
            <a:fillRect/>
          </a:stretch>
        </p:blipFill>
        <p:spPr>
          <a:xfrm>
            <a:off x="4140876" y="3297114"/>
            <a:ext cx="835813" cy="734578"/>
          </a:xfrm>
          <a:prstGeom prst="rect">
            <a:avLst/>
          </a:prstGeom>
        </p:spPr>
      </p:pic>
      <p:pic>
        <p:nvPicPr>
          <p:cNvPr id="47" name="Immagine 46">
            <a:extLst>
              <a:ext uri="{FF2B5EF4-FFF2-40B4-BE49-F238E27FC236}">
                <a16:creationId xmlns:a16="http://schemas.microsoft.com/office/drawing/2014/main" id="{2F217E85-7B38-77CE-CA31-3933A3DB991F}"/>
              </a:ext>
            </a:extLst>
          </p:cNvPr>
          <p:cNvPicPr>
            <a:picLocks noChangeAspect="1"/>
          </p:cNvPicPr>
          <p:nvPr/>
        </p:nvPicPr>
        <p:blipFill>
          <a:blip r:embed="rId5"/>
          <a:stretch>
            <a:fillRect/>
          </a:stretch>
        </p:blipFill>
        <p:spPr>
          <a:xfrm>
            <a:off x="6175971" y="3336546"/>
            <a:ext cx="839992" cy="688405"/>
          </a:xfrm>
          <a:prstGeom prst="rect">
            <a:avLst/>
          </a:prstGeom>
        </p:spPr>
      </p:pic>
      <p:pic>
        <p:nvPicPr>
          <p:cNvPr id="48" name="Immagine 47">
            <a:extLst>
              <a:ext uri="{FF2B5EF4-FFF2-40B4-BE49-F238E27FC236}">
                <a16:creationId xmlns:a16="http://schemas.microsoft.com/office/drawing/2014/main" id="{7F922C27-595D-FA38-84E8-93C194DE3016}"/>
              </a:ext>
            </a:extLst>
          </p:cNvPr>
          <p:cNvPicPr>
            <a:picLocks noChangeAspect="1"/>
          </p:cNvPicPr>
          <p:nvPr/>
        </p:nvPicPr>
        <p:blipFill>
          <a:blip r:embed="rId6"/>
          <a:stretch>
            <a:fillRect/>
          </a:stretch>
        </p:blipFill>
        <p:spPr>
          <a:xfrm>
            <a:off x="8215245" y="3293437"/>
            <a:ext cx="857070" cy="727711"/>
          </a:xfrm>
          <a:prstGeom prst="rect">
            <a:avLst/>
          </a:prstGeom>
        </p:spPr>
      </p:pic>
      <p:cxnSp>
        <p:nvCxnSpPr>
          <p:cNvPr id="49" name="Connettore diritto 48">
            <a:extLst>
              <a:ext uri="{FF2B5EF4-FFF2-40B4-BE49-F238E27FC236}">
                <a16:creationId xmlns:a16="http://schemas.microsoft.com/office/drawing/2014/main" id="{02148136-51B8-A021-C2DF-79FB2E5791C3}"/>
              </a:ext>
            </a:extLst>
          </p:cNvPr>
          <p:cNvCxnSpPr>
            <a:cxnSpLocks/>
          </p:cNvCxnSpPr>
          <p:nvPr/>
        </p:nvCxnSpPr>
        <p:spPr>
          <a:xfrm>
            <a:off x="3776980" y="3137461"/>
            <a:ext cx="5671457" cy="0"/>
          </a:xfrm>
          <a:prstGeom prst="line">
            <a:avLst/>
          </a:prstGeom>
          <a:ln w="19050">
            <a:solidFill>
              <a:srgbClr val="5D7D40"/>
            </a:solidFill>
          </a:ln>
        </p:spPr>
        <p:style>
          <a:lnRef idx="1">
            <a:schemeClr val="accent1"/>
          </a:lnRef>
          <a:fillRef idx="0">
            <a:schemeClr val="accent1"/>
          </a:fillRef>
          <a:effectRef idx="0">
            <a:schemeClr val="accent1"/>
          </a:effectRef>
          <a:fontRef idx="minor">
            <a:schemeClr val="tx1"/>
          </a:fontRef>
        </p:style>
      </p:cxnSp>
      <p:cxnSp>
        <p:nvCxnSpPr>
          <p:cNvPr id="52" name="Connettore diritto 51">
            <a:extLst>
              <a:ext uri="{FF2B5EF4-FFF2-40B4-BE49-F238E27FC236}">
                <a16:creationId xmlns:a16="http://schemas.microsoft.com/office/drawing/2014/main" id="{2DD622FF-5F41-717C-B3B3-2FF4A8768BD2}"/>
              </a:ext>
            </a:extLst>
          </p:cNvPr>
          <p:cNvCxnSpPr>
            <a:cxnSpLocks/>
          </p:cNvCxnSpPr>
          <p:nvPr/>
        </p:nvCxnSpPr>
        <p:spPr>
          <a:xfrm>
            <a:off x="3773859" y="2630855"/>
            <a:ext cx="5671457" cy="0"/>
          </a:xfrm>
          <a:prstGeom prst="line">
            <a:avLst/>
          </a:prstGeom>
          <a:ln w="19050">
            <a:solidFill>
              <a:srgbClr val="5D7D40"/>
            </a:solidFill>
          </a:ln>
        </p:spPr>
        <p:style>
          <a:lnRef idx="1">
            <a:schemeClr val="accent1"/>
          </a:lnRef>
          <a:fillRef idx="0">
            <a:schemeClr val="accent1"/>
          </a:fillRef>
          <a:effectRef idx="0">
            <a:schemeClr val="accent1"/>
          </a:effectRef>
          <a:fontRef idx="minor">
            <a:schemeClr val="tx1"/>
          </a:fontRef>
        </p:style>
      </p:cxnSp>
      <p:cxnSp>
        <p:nvCxnSpPr>
          <p:cNvPr id="53" name="Connettore diritto 52">
            <a:extLst>
              <a:ext uri="{FF2B5EF4-FFF2-40B4-BE49-F238E27FC236}">
                <a16:creationId xmlns:a16="http://schemas.microsoft.com/office/drawing/2014/main" id="{421DE266-ECDB-D7DD-2AC1-18735DB0BA65}"/>
              </a:ext>
            </a:extLst>
          </p:cNvPr>
          <p:cNvCxnSpPr>
            <a:cxnSpLocks/>
          </p:cNvCxnSpPr>
          <p:nvPr/>
        </p:nvCxnSpPr>
        <p:spPr>
          <a:xfrm>
            <a:off x="3773859" y="4021148"/>
            <a:ext cx="5671457" cy="0"/>
          </a:xfrm>
          <a:prstGeom prst="line">
            <a:avLst/>
          </a:prstGeom>
          <a:ln w="19050">
            <a:solidFill>
              <a:srgbClr val="5D7D40"/>
            </a:solidFill>
          </a:ln>
        </p:spPr>
        <p:style>
          <a:lnRef idx="1">
            <a:schemeClr val="accent1"/>
          </a:lnRef>
          <a:fillRef idx="0">
            <a:schemeClr val="accent1"/>
          </a:fillRef>
          <a:effectRef idx="0">
            <a:schemeClr val="accent1"/>
          </a:effectRef>
          <a:fontRef idx="minor">
            <a:schemeClr val="tx1"/>
          </a:fontRef>
        </p:style>
      </p:cxnSp>
      <p:cxnSp>
        <p:nvCxnSpPr>
          <p:cNvPr id="54" name="Connettore diritto 53">
            <a:extLst>
              <a:ext uri="{FF2B5EF4-FFF2-40B4-BE49-F238E27FC236}">
                <a16:creationId xmlns:a16="http://schemas.microsoft.com/office/drawing/2014/main" id="{DC01E58E-FE5D-4362-07E1-55BAD005B9A4}"/>
              </a:ext>
            </a:extLst>
          </p:cNvPr>
          <p:cNvCxnSpPr>
            <a:cxnSpLocks/>
          </p:cNvCxnSpPr>
          <p:nvPr/>
        </p:nvCxnSpPr>
        <p:spPr>
          <a:xfrm flipV="1">
            <a:off x="3767875" y="2630855"/>
            <a:ext cx="5984" cy="1390293"/>
          </a:xfrm>
          <a:prstGeom prst="line">
            <a:avLst/>
          </a:prstGeom>
          <a:ln w="19050">
            <a:solidFill>
              <a:srgbClr val="5D7D40"/>
            </a:solidFill>
          </a:ln>
        </p:spPr>
        <p:style>
          <a:lnRef idx="1">
            <a:schemeClr val="accent1"/>
          </a:lnRef>
          <a:fillRef idx="0">
            <a:schemeClr val="accent1"/>
          </a:fillRef>
          <a:effectRef idx="0">
            <a:schemeClr val="accent1"/>
          </a:effectRef>
          <a:fontRef idx="minor">
            <a:schemeClr val="tx1"/>
          </a:fontRef>
        </p:style>
      </p:cxnSp>
      <p:cxnSp>
        <p:nvCxnSpPr>
          <p:cNvPr id="57" name="Connettore diritto 56">
            <a:extLst>
              <a:ext uri="{FF2B5EF4-FFF2-40B4-BE49-F238E27FC236}">
                <a16:creationId xmlns:a16="http://schemas.microsoft.com/office/drawing/2014/main" id="{D4190768-E5B6-A09F-0F5B-E84B9EB31B86}"/>
              </a:ext>
            </a:extLst>
          </p:cNvPr>
          <p:cNvCxnSpPr>
            <a:cxnSpLocks/>
          </p:cNvCxnSpPr>
          <p:nvPr/>
        </p:nvCxnSpPr>
        <p:spPr>
          <a:xfrm flipV="1">
            <a:off x="5502227" y="2630855"/>
            <a:ext cx="5984" cy="1390293"/>
          </a:xfrm>
          <a:prstGeom prst="line">
            <a:avLst/>
          </a:prstGeom>
          <a:ln w="19050">
            <a:solidFill>
              <a:srgbClr val="5D7D40"/>
            </a:solidFill>
          </a:ln>
        </p:spPr>
        <p:style>
          <a:lnRef idx="1">
            <a:schemeClr val="accent1"/>
          </a:lnRef>
          <a:fillRef idx="0">
            <a:schemeClr val="accent1"/>
          </a:fillRef>
          <a:effectRef idx="0">
            <a:schemeClr val="accent1"/>
          </a:effectRef>
          <a:fontRef idx="minor">
            <a:schemeClr val="tx1"/>
          </a:fontRef>
        </p:style>
      </p:cxnSp>
      <p:cxnSp>
        <p:nvCxnSpPr>
          <p:cNvPr id="58" name="Connettore diritto 57">
            <a:extLst>
              <a:ext uri="{FF2B5EF4-FFF2-40B4-BE49-F238E27FC236}">
                <a16:creationId xmlns:a16="http://schemas.microsoft.com/office/drawing/2014/main" id="{9334AFC8-63E0-9411-4433-611A0471F18E}"/>
              </a:ext>
            </a:extLst>
          </p:cNvPr>
          <p:cNvCxnSpPr>
            <a:cxnSpLocks/>
          </p:cNvCxnSpPr>
          <p:nvPr/>
        </p:nvCxnSpPr>
        <p:spPr>
          <a:xfrm flipV="1">
            <a:off x="7620418" y="2641399"/>
            <a:ext cx="5984" cy="1390293"/>
          </a:xfrm>
          <a:prstGeom prst="line">
            <a:avLst/>
          </a:prstGeom>
          <a:ln w="19050">
            <a:solidFill>
              <a:srgbClr val="5D7D40"/>
            </a:solidFill>
          </a:ln>
        </p:spPr>
        <p:style>
          <a:lnRef idx="1">
            <a:schemeClr val="accent1"/>
          </a:lnRef>
          <a:fillRef idx="0">
            <a:schemeClr val="accent1"/>
          </a:fillRef>
          <a:effectRef idx="0">
            <a:schemeClr val="accent1"/>
          </a:effectRef>
          <a:fontRef idx="minor">
            <a:schemeClr val="tx1"/>
          </a:fontRef>
        </p:style>
      </p:cxnSp>
      <p:cxnSp>
        <p:nvCxnSpPr>
          <p:cNvPr id="59" name="Connettore diritto 58">
            <a:extLst>
              <a:ext uri="{FF2B5EF4-FFF2-40B4-BE49-F238E27FC236}">
                <a16:creationId xmlns:a16="http://schemas.microsoft.com/office/drawing/2014/main" id="{83DE2417-84B0-06BF-6FAB-EAEFF5F781AE}"/>
              </a:ext>
            </a:extLst>
          </p:cNvPr>
          <p:cNvCxnSpPr>
            <a:cxnSpLocks/>
          </p:cNvCxnSpPr>
          <p:nvPr/>
        </p:nvCxnSpPr>
        <p:spPr>
          <a:xfrm flipV="1">
            <a:off x="9432300" y="2634658"/>
            <a:ext cx="5984" cy="1390293"/>
          </a:xfrm>
          <a:prstGeom prst="line">
            <a:avLst/>
          </a:prstGeom>
          <a:ln w="19050">
            <a:solidFill>
              <a:srgbClr val="5D7D40"/>
            </a:solidFill>
          </a:ln>
        </p:spPr>
        <p:style>
          <a:lnRef idx="1">
            <a:schemeClr val="accent1"/>
          </a:lnRef>
          <a:fillRef idx="0">
            <a:schemeClr val="accent1"/>
          </a:fillRef>
          <a:effectRef idx="0">
            <a:schemeClr val="accent1"/>
          </a:effectRef>
          <a:fontRef idx="minor">
            <a:schemeClr val="tx1"/>
          </a:fontRef>
        </p:style>
      </p:cxnSp>
      <p:sp>
        <p:nvSpPr>
          <p:cNvPr id="60" name="CasellaDiTesto 59">
            <a:extLst>
              <a:ext uri="{FF2B5EF4-FFF2-40B4-BE49-F238E27FC236}">
                <a16:creationId xmlns:a16="http://schemas.microsoft.com/office/drawing/2014/main" id="{D0D8B5E4-55F0-E2B6-0D1B-9788BF00AEAD}"/>
              </a:ext>
            </a:extLst>
          </p:cNvPr>
          <p:cNvSpPr txBox="1"/>
          <p:nvPr/>
        </p:nvSpPr>
        <p:spPr>
          <a:xfrm>
            <a:off x="3700986" y="4617256"/>
            <a:ext cx="1848393" cy="369332"/>
          </a:xfrm>
          <a:prstGeom prst="rect">
            <a:avLst/>
          </a:prstGeom>
          <a:noFill/>
        </p:spPr>
        <p:txBody>
          <a:bodyPr wrap="square">
            <a:spAutoFit/>
          </a:bodyPr>
          <a:lstStyle/>
          <a:p>
            <a:pPr algn="ctr"/>
            <a:r>
              <a:rPr lang="it-IT" sz="1800" dirty="0" err="1">
                <a:solidFill>
                  <a:schemeClr val="bg1"/>
                </a:solidFill>
                <a:latin typeface="Aptos" panose="020B0004020202020204" pitchFamily="34" charset="0"/>
              </a:rPr>
              <a:t>Closed</a:t>
            </a:r>
            <a:r>
              <a:rPr lang="it-IT" sz="1800" dirty="0">
                <a:solidFill>
                  <a:schemeClr val="bg1"/>
                </a:solidFill>
                <a:latin typeface="Aptos" panose="020B0004020202020204" pitchFamily="34" charset="0"/>
              </a:rPr>
              <a:t> </a:t>
            </a:r>
            <a:r>
              <a:rPr lang="it-IT" sz="1800" dirty="0" err="1">
                <a:solidFill>
                  <a:schemeClr val="bg1"/>
                </a:solidFill>
                <a:latin typeface="Aptos" panose="020B0004020202020204" pitchFamily="34" charset="0"/>
              </a:rPr>
              <a:t>rim</a:t>
            </a:r>
            <a:endParaRPr lang="it-IT" dirty="0"/>
          </a:p>
        </p:txBody>
      </p:sp>
      <p:sp>
        <p:nvSpPr>
          <p:cNvPr id="61" name="CasellaDiTesto 60">
            <a:extLst>
              <a:ext uri="{FF2B5EF4-FFF2-40B4-BE49-F238E27FC236}">
                <a16:creationId xmlns:a16="http://schemas.microsoft.com/office/drawing/2014/main" id="{F7AE5CA8-EB76-68EA-C902-46BD9236BB36}"/>
              </a:ext>
            </a:extLst>
          </p:cNvPr>
          <p:cNvSpPr txBox="1"/>
          <p:nvPr/>
        </p:nvSpPr>
        <p:spPr>
          <a:xfrm>
            <a:off x="5574069" y="4617256"/>
            <a:ext cx="2021659" cy="369332"/>
          </a:xfrm>
          <a:prstGeom prst="rect">
            <a:avLst/>
          </a:prstGeom>
          <a:noFill/>
        </p:spPr>
        <p:txBody>
          <a:bodyPr wrap="square">
            <a:spAutoFit/>
          </a:bodyPr>
          <a:lstStyle/>
          <a:p>
            <a:pPr algn="ctr"/>
            <a:r>
              <a:rPr lang="it-IT" sz="1800" dirty="0">
                <a:solidFill>
                  <a:schemeClr val="bg1"/>
                </a:solidFill>
                <a:latin typeface="Aptos" panose="020B0004020202020204" pitchFamily="34" charset="0"/>
              </a:rPr>
              <a:t>Open </a:t>
            </a:r>
            <a:r>
              <a:rPr lang="it-IT" sz="1800" dirty="0" err="1">
                <a:solidFill>
                  <a:schemeClr val="bg1"/>
                </a:solidFill>
                <a:latin typeface="Aptos" panose="020B0004020202020204" pitchFamily="34" charset="0"/>
              </a:rPr>
              <a:t>rim</a:t>
            </a:r>
            <a:endParaRPr lang="it-IT" dirty="0"/>
          </a:p>
        </p:txBody>
      </p:sp>
      <p:cxnSp>
        <p:nvCxnSpPr>
          <p:cNvPr id="64" name="Connettore diritto 63">
            <a:extLst>
              <a:ext uri="{FF2B5EF4-FFF2-40B4-BE49-F238E27FC236}">
                <a16:creationId xmlns:a16="http://schemas.microsoft.com/office/drawing/2014/main" id="{96F7EC90-EB4E-3102-0C4E-9A740880AC29}"/>
              </a:ext>
            </a:extLst>
          </p:cNvPr>
          <p:cNvCxnSpPr>
            <a:cxnSpLocks/>
          </p:cNvCxnSpPr>
          <p:nvPr/>
        </p:nvCxnSpPr>
        <p:spPr>
          <a:xfrm flipV="1">
            <a:off x="3767875" y="4544744"/>
            <a:ext cx="5984" cy="1390293"/>
          </a:xfrm>
          <a:prstGeom prst="line">
            <a:avLst/>
          </a:prstGeom>
          <a:ln w="19050">
            <a:solidFill>
              <a:srgbClr val="5D7D40"/>
            </a:solidFill>
          </a:ln>
        </p:spPr>
        <p:style>
          <a:lnRef idx="1">
            <a:schemeClr val="accent1"/>
          </a:lnRef>
          <a:fillRef idx="0">
            <a:schemeClr val="accent1"/>
          </a:fillRef>
          <a:effectRef idx="0">
            <a:schemeClr val="accent1"/>
          </a:effectRef>
          <a:fontRef idx="minor">
            <a:schemeClr val="tx1"/>
          </a:fontRef>
        </p:style>
      </p:cxnSp>
      <p:cxnSp>
        <p:nvCxnSpPr>
          <p:cNvPr id="65" name="Connettore diritto 64">
            <a:extLst>
              <a:ext uri="{FF2B5EF4-FFF2-40B4-BE49-F238E27FC236}">
                <a16:creationId xmlns:a16="http://schemas.microsoft.com/office/drawing/2014/main" id="{CAA8B3E4-76F3-FB84-1A6F-146CA7D22C86}"/>
              </a:ext>
            </a:extLst>
          </p:cNvPr>
          <p:cNvCxnSpPr>
            <a:cxnSpLocks/>
          </p:cNvCxnSpPr>
          <p:nvPr/>
        </p:nvCxnSpPr>
        <p:spPr>
          <a:xfrm flipV="1">
            <a:off x="5502227" y="4544744"/>
            <a:ext cx="5984" cy="1390293"/>
          </a:xfrm>
          <a:prstGeom prst="line">
            <a:avLst/>
          </a:prstGeom>
          <a:ln w="19050">
            <a:solidFill>
              <a:srgbClr val="5D7D40"/>
            </a:solidFill>
          </a:ln>
        </p:spPr>
        <p:style>
          <a:lnRef idx="1">
            <a:schemeClr val="accent1"/>
          </a:lnRef>
          <a:fillRef idx="0">
            <a:schemeClr val="accent1"/>
          </a:fillRef>
          <a:effectRef idx="0">
            <a:schemeClr val="accent1"/>
          </a:effectRef>
          <a:fontRef idx="minor">
            <a:schemeClr val="tx1"/>
          </a:fontRef>
        </p:style>
      </p:cxnSp>
      <p:cxnSp>
        <p:nvCxnSpPr>
          <p:cNvPr id="67" name="Connettore diritto 66">
            <a:extLst>
              <a:ext uri="{FF2B5EF4-FFF2-40B4-BE49-F238E27FC236}">
                <a16:creationId xmlns:a16="http://schemas.microsoft.com/office/drawing/2014/main" id="{306E793E-3CCA-DA94-2E54-9F13E263A806}"/>
              </a:ext>
            </a:extLst>
          </p:cNvPr>
          <p:cNvCxnSpPr>
            <a:cxnSpLocks/>
          </p:cNvCxnSpPr>
          <p:nvPr/>
        </p:nvCxnSpPr>
        <p:spPr>
          <a:xfrm flipV="1">
            <a:off x="7620418" y="4555288"/>
            <a:ext cx="5984" cy="1390293"/>
          </a:xfrm>
          <a:prstGeom prst="line">
            <a:avLst/>
          </a:prstGeom>
          <a:ln w="19050">
            <a:solidFill>
              <a:srgbClr val="5D7D40"/>
            </a:solidFill>
          </a:ln>
        </p:spPr>
        <p:style>
          <a:lnRef idx="1">
            <a:schemeClr val="accent1"/>
          </a:lnRef>
          <a:fillRef idx="0">
            <a:schemeClr val="accent1"/>
          </a:fillRef>
          <a:effectRef idx="0">
            <a:schemeClr val="accent1"/>
          </a:effectRef>
          <a:fontRef idx="minor">
            <a:schemeClr val="tx1"/>
          </a:fontRef>
        </p:style>
      </p:cxnSp>
      <p:cxnSp>
        <p:nvCxnSpPr>
          <p:cNvPr id="70" name="Connettore diritto 69">
            <a:extLst>
              <a:ext uri="{FF2B5EF4-FFF2-40B4-BE49-F238E27FC236}">
                <a16:creationId xmlns:a16="http://schemas.microsoft.com/office/drawing/2014/main" id="{48F13025-5D00-3CFD-229C-F6C7ABBD0001}"/>
              </a:ext>
            </a:extLst>
          </p:cNvPr>
          <p:cNvCxnSpPr>
            <a:cxnSpLocks/>
          </p:cNvCxnSpPr>
          <p:nvPr/>
        </p:nvCxnSpPr>
        <p:spPr>
          <a:xfrm>
            <a:off x="3773859" y="4555288"/>
            <a:ext cx="3846559" cy="0"/>
          </a:xfrm>
          <a:prstGeom prst="line">
            <a:avLst/>
          </a:prstGeom>
          <a:ln w="19050">
            <a:solidFill>
              <a:srgbClr val="5D7D40"/>
            </a:solidFill>
          </a:ln>
        </p:spPr>
        <p:style>
          <a:lnRef idx="1">
            <a:schemeClr val="accent1"/>
          </a:lnRef>
          <a:fillRef idx="0">
            <a:schemeClr val="accent1"/>
          </a:fillRef>
          <a:effectRef idx="0">
            <a:schemeClr val="accent1"/>
          </a:effectRef>
          <a:fontRef idx="minor">
            <a:schemeClr val="tx1"/>
          </a:fontRef>
        </p:style>
      </p:cxnSp>
      <p:cxnSp>
        <p:nvCxnSpPr>
          <p:cNvPr id="73" name="Connettore diritto 72">
            <a:extLst>
              <a:ext uri="{FF2B5EF4-FFF2-40B4-BE49-F238E27FC236}">
                <a16:creationId xmlns:a16="http://schemas.microsoft.com/office/drawing/2014/main" id="{2884C4B9-6C1D-C61D-CC8B-EE677F4BBA4E}"/>
              </a:ext>
            </a:extLst>
          </p:cNvPr>
          <p:cNvCxnSpPr>
            <a:cxnSpLocks/>
          </p:cNvCxnSpPr>
          <p:nvPr/>
        </p:nvCxnSpPr>
        <p:spPr>
          <a:xfrm>
            <a:off x="3776980" y="5020955"/>
            <a:ext cx="3846559" cy="0"/>
          </a:xfrm>
          <a:prstGeom prst="line">
            <a:avLst/>
          </a:prstGeom>
          <a:ln w="19050">
            <a:solidFill>
              <a:srgbClr val="5D7D40"/>
            </a:solidFill>
          </a:ln>
        </p:spPr>
        <p:style>
          <a:lnRef idx="1">
            <a:schemeClr val="accent1"/>
          </a:lnRef>
          <a:fillRef idx="0">
            <a:schemeClr val="accent1"/>
          </a:fillRef>
          <a:effectRef idx="0">
            <a:schemeClr val="accent1"/>
          </a:effectRef>
          <a:fontRef idx="minor">
            <a:schemeClr val="tx1"/>
          </a:fontRef>
        </p:style>
      </p:cxnSp>
      <p:cxnSp>
        <p:nvCxnSpPr>
          <p:cNvPr id="74" name="Connettore diritto 73">
            <a:extLst>
              <a:ext uri="{FF2B5EF4-FFF2-40B4-BE49-F238E27FC236}">
                <a16:creationId xmlns:a16="http://schemas.microsoft.com/office/drawing/2014/main" id="{7900E254-F05C-67AE-B2AD-88103E6F3E2B}"/>
              </a:ext>
            </a:extLst>
          </p:cNvPr>
          <p:cNvCxnSpPr>
            <a:cxnSpLocks/>
          </p:cNvCxnSpPr>
          <p:nvPr/>
        </p:nvCxnSpPr>
        <p:spPr>
          <a:xfrm>
            <a:off x="3767875" y="5935037"/>
            <a:ext cx="3846559" cy="0"/>
          </a:xfrm>
          <a:prstGeom prst="line">
            <a:avLst/>
          </a:prstGeom>
          <a:ln w="19050">
            <a:solidFill>
              <a:srgbClr val="5D7D40"/>
            </a:solidFill>
          </a:ln>
        </p:spPr>
        <p:style>
          <a:lnRef idx="1">
            <a:schemeClr val="accent1"/>
          </a:lnRef>
          <a:fillRef idx="0">
            <a:schemeClr val="accent1"/>
          </a:fillRef>
          <a:effectRef idx="0">
            <a:schemeClr val="accent1"/>
          </a:effectRef>
          <a:fontRef idx="minor">
            <a:schemeClr val="tx1"/>
          </a:fontRef>
        </p:style>
      </p:cxnSp>
      <p:pic>
        <p:nvPicPr>
          <p:cNvPr id="75" name="Picture 3">
            <a:extLst>
              <a:ext uri="{FF2B5EF4-FFF2-40B4-BE49-F238E27FC236}">
                <a16:creationId xmlns:a16="http://schemas.microsoft.com/office/drawing/2014/main" id="{104FCC6D-BF56-C6AE-6F1F-D4A9B1223508}"/>
              </a:ext>
            </a:extLst>
          </p:cNvPr>
          <p:cNvPicPr>
            <a:picLocks noChangeAspect="1"/>
          </p:cNvPicPr>
          <p:nvPr/>
        </p:nvPicPr>
        <p:blipFill>
          <a:blip r:embed="rId7"/>
          <a:srcRect l="48119" t="49875" r="6594" b="7799"/>
          <a:stretch/>
        </p:blipFill>
        <p:spPr>
          <a:xfrm>
            <a:off x="4153049" y="5067000"/>
            <a:ext cx="969988" cy="821993"/>
          </a:xfrm>
          <a:prstGeom prst="rect">
            <a:avLst/>
          </a:prstGeom>
        </p:spPr>
      </p:pic>
      <p:pic>
        <p:nvPicPr>
          <p:cNvPr id="76" name="Immagine 75">
            <a:extLst>
              <a:ext uri="{FF2B5EF4-FFF2-40B4-BE49-F238E27FC236}">
                <a16:creationId xmlns:a16="http://schemas.microsoft.com/office/drawing/2014/main" id="{CFDEB873-7376-A54D-9E0E-4285D1EB6E14}"/>
              </a:ext>
            </a:extLst>
          </p:cNvPr>
          <p:cNvPicPr>
            <a:picLocks noChangeAspect="1"/>
          </p:cNvPicPr>
          <p:nvPr/>
        </p:nvPicPr>
        <p:blipFill>
          <a:blip r:embed="rId8"/>
          <a:stretch>
            <a:fillRect/>
          </a:stretch>
        </p:blipFill>
        <p:spPr>
          <a:xfrm>
            <a:off x="6072708" y="5078781"/>
            <a:ext cx="1029812" cy="815681"/>
          </a:xfrm>
          <a:prstGeom prst="rect">
            <a:avLst/>
          </a:prstGeom>
        </p:spPr>
      </p:pic>
      <p:sp>
        <p:nvSpPr>
          <p:cNvPr id="2" name="Content Placeholder 5">
            <a:extLst>
              <a:ext uri="{FF2B5EF4-FFF2-40B4-BE49-F238E27FC236}">
                <a16:creationId xmlns:a16="http://schemas.microsoft.com/office/drawing/2014/main" id="{5DD18710-C79F-B389-62C5-533AB6C8D1CF}"/>
              </a:ext>
            </a:extLst>
          </p:cNvPr>
          <p:cNvSpPr txBox="1">
            <a:spLocks/>
          </p:cNvSpPr>
          <p:nvPr/>
        </p:nvSpPr>
        <p:spPr>
          <a:xfrm>
            <a:off x="672520" y="6278017"/>
            <a:ext cx="10029639" cy="514964"/>
          </a:xfrm>
          <a:prstGeom prst="rect">
            <a:avLst/>
          </a:prstGeom>
        </p:spPr>
        <p:txBody>
          <a:bodyPr vert="horz" lIns="0" tIns="45720" rIns="0" bIns="0" rtlCol="0" anchor="t">
            <a:normAutofit lnSpcReduction="10000"/>
          </a:bodyPr>
          <a:lstStyle>
            <a:defPPr>
              <a:defRPr lang="en-US"/>
            </a:defPPr>
            <a:lvl1pPr marL="0" indent="0" algn="l" defTabSz="914400" rtl="0" eaLnBrk="1" latinLnBrk="0" hangingPunct="1">
              <a:lnSpc>
                <a:spcPct val="90000"/>
              </a:lnSpc>
              <a:spcBef>
                <a:spcPts val="1800"/>
              </a:spcBef>
              <a:buFont typeface="Arial" panose="020B0604020202020204" pitchFamily="34" charset="0"/>
              <a:buNone/>
              <a:defRPr sz="2000" b="0" i="0" kern="1200">
                <a:solidFill>
                  <a:schemeClr val="bg1"/>
                </a:solidFill>
                <a:latin typeface="+mn-lt"/>
                <a:ea typeface="+mn-ea"/>
                <a:cs typeface="+mn-cs"/>
              </a:defRPr>
            </a:lvl1pPr>
            <a:lvl2pPr marL="283464"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2pPr>
            <a:lvl3pPr marL="59436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3pPr>
            <a:lvl4pPr marL="82296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4pPr>
            <a:lvl5pPr marL="100584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b="1" dirty="0">
                <a:solidFill>
                  <a:srgbClr val="7CA655"/>
                </a:solidFill>
              </a:rPr>
              <a:t>Source: </a:t>
            </a:r>
            <a:r>
              <a:rPr lang="it-IT" dirty="0"/>
              <a:t>«</a:t>
            </a:r>
            <a:r>
              <a:rPr lang="en-US" sz="1600" dirty="0">
                <a:solidFill>
                  <a:srgbClr val="111111"/>
                </a:solidFill>
              </a:rPr>
              <a:t>Investigation of the influence of </a:t>
            </a:r>
            <a:r>
              <a:rPr lang="en-US" sz="1600" dirty="0" err="1">
                <a:solidFill>
                  <a:srgbClr val="111111"/>
                </a:solidFill>
              </a:rPr>
              <a:t>tyre</a:t>
            </a:r>
            <a:r>
              <a:rPr lang="en-US" sz="1600" dirty="0">
                <a:solidFill>
                  <a:srgbClr val="111111"/>
                </a:solidFill>
              </a:rPr>
              <a:t> geometry on the </a:t>
            </a:r>
            <a:r>
              <a:rPr lang="en-US" sz="1500" dirty="0">
                <a:solidFill>
                  <a:srgbClr val="111111"/>
                </a:solidFill>
              </a:rPr>
              <a:t>aerodynamics of passenger cars</a:t>
            </a:r>
            <a:r>
              <a:rPr lang="it-IT" sz="1900" dirty="0"/>
              <a:t>», </a:t>
            </a:r>
            <a:r>
              <a:rPr lang="en-US" sz="1500" dirty="0"/>
              <a:t>Teddy Hobeika , Simone Sebben</a:t>
            </a:r>
            <a:endParaRPr lang="en-US" sz="1600" dirty="0"/>
          </a:p>
          <a:p>
            <a:pPr marL="342900" indent="-342900">
              <a:lnSpc>
                <a:spcPct val="150000"/>
              </a:lnSpc>
              <a:spcBef>
                <a:spcPts val="0"/>
              </a:spcBef>
              <a:buFont typeface="Arial" panose="020B0604020202020204" pitchFamily="34" charset="0"/>
              <a:buChar char="•"/>
            </a:pPr>
            <a:endParaRPr lang="it-IT" sz="1600"/>
          </a:p>
          <a:p>
            <a:pPr marL="937260" lvl="2" indent="-342900"/>
            <a:endParaRPr lang="it-IT" b="1">
              <a:solidFill>
                <a:schemeClr val="tx2"/>
              </a:solidFill>
            </a:endParaRPr>
          </a:p>
          <a:p>
            <a:endParaRPr lang="en-US" b="1">
              <a:solidFill>
                <a:schemeClr val="tx2"/>
              </a:solidFill>
            </a:endParaRPr>
          </a:p>
        </p:txBody>
      </p:sp>
    </p:spTree>
    <p:extLst>
      <p:ext uri="{BB962C8B-B14F-4D97-AF65-F5344CB8AC3E}">
        <p14:creationId xmlns:p14="http://schemas.microsoft.com/office/powerpoint/2010/main" val="2477731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03E7A-8C9F-EE21-4643-615F6B5DD5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11E413-B863-9E74-8EEE-870E2040433B}"/>
              </a:ext>
            </a:extLst>
          </p:cNvPr>
          <p:cNvSpPr>
            <a:spLocks noGrp="1"/>
          </p:cNvSpPr>
          <p:nvPr>
            <p:ph type="title"/>
          </p:nvPr>
        </p:nvSpPr>
        <p:spPr>
          <a:xfrm>
            <a:off x="594360" y="278129"/>
            <a:ext cx="9778365" cy="727711"/>
          </a:xfrm>
        </p:spPr>
        <p:txBody>
          <a:bodyPr/>
          <a:lstStyle/>
          <a:p>
            <a:r>
              <a:rPr lang="en-US"/>
              <a:t>Influence of </a:t>
            </a:r>
            <a:r>
              <a:rPr lang="en-US" err="1"/>
              <a:t>tyre</a:t>
            </a:r>
            <a:r>
              <a:rPr lang="en-US"/>
              <a:t> grooves</a:t>
            </a:r>
          </a:p>
        </p:txBody>
      </p:sp>
      <p:pic>
        <p:nvPicPr>
          <p:cNvPr id="3" name="Picture 2">
            <a:extLst>
              <a:ext uri="{FF2B5EF4-FFF2-40B4-BE49-F238E27FC236}">
                <a16:creationId xmlns:a16="http://schemas.microsoft.com/office/drawing/2014/main" id="{90307183-FCD9-9C04-024D-CBD47BF78268}"/>
              </a:ext>
            </a:extLst>
          </p:cNvPr>
          <p:cNvPicPr>
            <a:picLocks noChangeAspect="1"/>
          </p:cNvPicPr>
          <p:nvPr/>
        </p:nvPicPr>
        <p:blipFill>
          <a:blip r:embed="rId3"/>
          <a:stretch>
            <a:fillRect/>
          </a:stretch>
        </p:blipFill>
        <p:spPr>
          <a:xfrm>
            <a:off x="11227317" y="5949493"/>
            <a:ext cx="876422" cy="838317"/>
          </a:xfrm>
          <a:prstGeom prst="rect">
            <a:avLst/>
          </a:prstGeom>
        </p:spPr>
      </p:pic>
      <p:cxnSp>
        <p:nvCxnSpPr>
          <p:cNvPr id="10" name="Connettore diritto 9">
            <a:extLst>
              <a:ext uri="{FF2B5EF4-FFF2-40B4-BE49-F238E27FC236}">
                <a16:creationId xmlns:a16="http://schemas.microsoft.com/office/drawing/2014/main" id="{6B7206AB-786D-2E86-83DC-D45CCA3D1C54}"/>
              </a:ext>
            </a:extLst>
          </p:cNvPr>
          <p:cNvCxnSpPr>
            <a:cxnSpLocks/>
          </p:cNvCxnSpPr>
          <p:nvPr/>
        </p:nvCxnSpPr>
        <p:spPr>
          <a:xfrm>
            <a:off x="594360" y="1329055"/>
            <a:ext cx="2136140" cy="0"/>
          </a:xfrm>
          <a:prstGeom prst="line">
            <a:avLst/>
          </a:prstGeom>
          <a:ln w="101600">
            <a:solidFill>
              <a:srgbClr val="5D7D40"/>
            </a:solidFill>
          </a:ln>
        </p:spPr>
        <p:style>
          <a:lnRef idx="1">
            <a:schemeClr val="accent1"/>
          </a:lnRef>
          <a:fillRef idx="0">
            <a:schemeClr val="accent1"/>
          </a:fillRef>
          <a:effectRef idx="0">
            <a:schemeClr val="accent1"/>
          </a:effectRef>
          <a:fontRef idx="minor">
            <a:schemeClr val="tx1"/>
          </a:fontRef>
        </p:style>
      </p:cxnSp>
      <p:sp>
        <p:nvSpPr>
          <p:cNvPr id="13" name="Rettangolo 12">
            <a:extLst>
              <a:ext uri="{FF2B5EF4-FFF2-40B4-BE49-F238E27FC236}">
                <a16:creationId xmlns:a16="http://schemas.microsoft.com/office/drawing/2014/main" id="{B94D37E9-A8D9-728F-09F0-F5D045078D46}"/>
              </a:ext>
            </a:extLst>
          </p:cNvPr>
          <p:cNvSpPr>
            <a:spLocks noGrp="1" noRot="1" noMove="1" noResize="1" noEditPoints="1" noAdjustHandles="1" noChangeArrowheads="1" noChangeShapeType="1"/>
          </p:cNvSpPr>
          <p:nvPr/>
        </p:nvSpPr>
        <p:spPr>
          <a:xfrm>
            <a:off x="594360" y="2052320"/>
            <a:ext cx="2136140" cy="19301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 name="CasellaDiTesto 17">
            <a:extLst>
              <a:ext uri="{FF2B5EF4-FFF2-40B4-BE49-F238E27FC236}">
                <a16:creationId xmlns:a16="http://schemas.microsoft.com/office/drawing/2014/main" id="{7D287474-6C14-AC15-4B68-B5634325DE12}"/>
              </a:ext>
            </a:extLst>
          </p:cNvPr>
          <p:cNvSpPr txBox="1"/>
          <p:nvPr/>
        </p:nvSpPr>
        <p:spPr>
          <a:xfrm>
            <a:off x="1515125" y="1505860"/>
            <a:ext cx="3052674" cy="430887"/>
          </a:xfrm>
          <a:prstGeom prst="rect">
            <a:avLst/>
          </a:prstGeom>
          <a:noFill/>
        </p:spPr>
        <p:txBody>
          <a:bodyPr wrap="square" rtlCol="0">
            <a:spAutoFit/>
          </a:bodyPr>
          <a:lstStyle/>
          <a:p>
            <a:pPr algn="ctr"/>
            <a:r>
              <a:rPr lang="it-IT" sz="2200" dirty="0" err="1">
                <a:solidFill>
                  <a:schemeClr val="bg1"/>
                </a:solidFill>
                <a:latin typeface="Aptos" panose="020B0004020202020204" pitchFamily="34" charset="0"/>
              </a:rPr>
              <a:t>Rain</a:t>
            </a:r>
            <a:r>
              <a:rPr lang="it-IT" sz="2200" dirty="0">
                <a:solidFill>
                  <a:schemeClr val="bg1"/>
                </a:solidFill>
                <a:latin typeface="Aptos" panose="020B0004020202020204" pitchFamily="34" charset="0"/>
              </a:rPr>
              <a:t> </a:t>
            </a:r>
            <a:r>
              <a:rPr lang="it-IT" sz="2200" dirty="0" err="1">
                <a:solidFill>
                  <a:schemeClr val="bg1"/>
                </a:solidFill>
                <a:latin typeface="Aptos" panose="020B0004020202020204" pitchFamily="34" charset="0"/>
              </a:rPr>
              <a:t>grooves</a:t>
            </a:r>
            <a:r>
              <a:rPr lang="it-IT" sz="2200" dirty="0">
                <a:solidFill>
                  <a:schemeClr val="bg1"/>
                </a:solidFill>
                <a:latin typeface="Aptos" panose="020B0004020202020204" pitchFamily="34" charset="0"/>
              </a:rPr>
              <a:t> </a:t>
            </a:r>
            <a:r>
              <a:rPr lang="it-IT" sz="2200" dirty="0" err="1">
                <a:solidFill>
                  <a:schemeClr val="bg1"/>
                </a:solidFill>
                <a:latin typeface="Aptos" panose="020B0004020202020204" pitchFamily="34" charset="0"/>
              </a:rPr>
              <a:t>addition</a:t>
            </a:r>
            <a:r>
              <a:rPr lang="it-IT" sz="2200" dirty="0">
                <a:solidFill>
                  <a:schemeClr val="bg1"/>
                </a:solidFill>
                <a:latin typeface="Aptos" panose="020B0004020202020204" pitchFamily="34" charset="0"/>
              </a:rPr>
              <a:t>:</a:t>
            </a:r>
          </a:p>
        </p:txBody>
      </p:sp>
      <p:pic>
        <p:nvPicPr>
          <p:cNvPr id="39" name="Immagine 38">
            <a:extLst>
              <a:ext uri="{FF2B5EF4-FFF2-40B4-BE49-F238E27FC236}">
                <a16:creationId xmlns:a16="http://schemas.microsoft.com/office/drawing/2014/main" id="{3EE531D1-FCB5-6E8B-30E6-F17120B78B89}"/>
              </a:ext>
            </a:extLst>
          </p:cNvPr>
          <p:cNvPicPr>
            <a:picLocks noChangeAspect="1"/>
          </p:cNvPicPr>
          <p:nvPr/>
        </p:nvPicPr>
        <p:blipFill>
          <a:blip r:embed="rId4"/>
          <a:stretch>
            <a:fillRect/>
          </a:stretch>
        </p:blipFill>
        <p:spPr>
          <a:xfrm>
            <a:off x="2794353" y="2054824"/>
            <a:ext cx="835813" cy="727837"/>
          </a:xfrm>
          <a:prstGeom prst="rect">
            <a:avLst/>
          </a:prstGeom>
        </p:spPr>
      </p:pic>
      <p:sp>
        <p:nvSpPr>
          <p:cNvPr id="66" name="CasellaDiTesto 65">
            <a:extLst>
              <a:ext uri="{FF2B5EF4-FFF2-40B4-BE49-F238E27FC236}">
                <a16:creationId xmlns:a16="http://schemas.microsoft.com/office/drawing/2014/main" id="{95BB314C-501B-5E43-0515-FC1462538AFE}"/>
              </a:ext>
            </a:extLst>
          </p:cNvPr>
          <p:cNvSpPr txBox="1"/>
          <p:nvPr/>
        </p:nvSpPr>
        <p:spPr>
          <a:xfrm>
            <a:off x="3046851" y="2792957"/>
            <a:ext cx="156002" cy="430887"/>
          </a:xfrm>
          <a:prstGeom prst="rect">
            <a:avLst/>
          </a:prstGeom>
          <a:noFill/>
        </p:spPr>
        <p:txBody>
          <a:bodyPr wrap="square" rtlCol="0">
            <a:spAutoFit/>
          </a:bodyPr>
          <a:lstStyle/>
          <a:p>
            <a:r>
              <a:rPr lang="it-IT" sz="2200" dirty="0">
                <a:solidFill>
                  <a:schemeClr val="bg1"/>
                </a:solidFill>
              </a:rPr>
              <a:t>+</a:t>
            </a:r>
          </a:p>
        </p:txBody>
      </p:sp>
      <p:pic>
        <p:nvPicPr>
          <p:cNvPr id="122" name="Picture 3">
            <a:extLst>
              <a:ext uri="{FF2B5EF4-FFF2-40B4-BE49-F238E27FC236}">
                <a16:creationId xmlns:a16="http://schemas.microsoft.com/office/drawing/2014/main" id="{D799408F-F7E4-6DDE-7930-0365BDE394DB}"/>
              </a:ext>
            </a:extLst>
          </p:cNvPr>
          <p:cNvPicPr>
            <a:picLocks noChangeAspect="1"/>
          </p:cNvPicPr>
          <p:nvPr/>
        </p:nvPicPr>
        <p:blipFill>
          <a:blip r:embed="rId5"/>
          <a:srcRect l="48119" t="49875" r="6594" b="7799"/>
          <a:stretch/>
        </p:blipFill>
        <p:spPr>
          <a:xfrm>
            <a:off x="1088184" y="3469559"/>
            <a:ext cx="491216" cy="416269"/>
          </a:xfrm>
          <a:prstGeom prst="rect">
            <a:avLst/>
          </a:prstGeom>
        </p:spPr>
      </p:pic>
      <p:pic>
        <p:nvPicPr>
          <p:cNvPr id="123" name="Immagine 122">
            <a:extLst>
              <a:ext uri="{FF2B5EF4-FFF2-40B4-BE49-F238E27FC236}">
                <a16:creationId xmlns:a16="http://schemas.microsoft.com/office/drawing/2014/main" id="{D500B040-1240-331D-9B50-F85084AAF718}"/>
              </a:ext>
            </a:extLst>
          </p:cNvPr>
          <p:cNvPicPr>
            <a:picLocks noChangeAspect="1"/>
          </p:cNvPicPr>
          <p:nvPr/>
        </p:nvPicPr>
        <p:blipFill>
          <a:blip r:embed="rId6"/>
          <a:stretch>
            <a:fillRect/>
          </a:stretch>
        </p:blipFill>
        <p:spPr>
          <a:xfrm>
            <a:off x="1763412" y="3469559"/>
            <a:ext cx="414854" cy="360279"/>
          </a:xfrm>
          <a:prstGeom prst="rect">
            <a:avLst/>
          </a:prstGeom>
        </p:spPr>
      </p:pic>
      <p:pic>
        <p:nvPicPr>
          <p:cNvPr id="124" name="Picture 3">
            <a:extLst>
              <a:ext uri="{FF2B5EF4-FFF2-40B4-BE49-F238E27FC236}">
                <a16:creationId xmlns:a16="http://schemas.microsoft.com/office/drawing/2014/main" id="{162D5DB5-1529-C5D9-9E57-1CD1C691E984}"/>
              </a:ext>
            </a:extLst>
          </p:cNvPr>
          <p:cNvPicPr>
            <a:picLocks noChangeAspect="1"/>
          </p:cNvPicPr>
          <p:nvPr/>
        </p:nvPicPr>
        <p:blipFill>
          <a:blip r:embed="rId5"/>
          <a:srcRect l="48119" t="49875" r="6594" b="7799"/>
          <a:stretch/>
        </p:blipFill>
        <p:spPr>
          <a:xfrm>
            <a:off x="2529732" y="3469557"/>
            <a:ext cx="491216" cy="440501"/>
          </a:xfrm>
          <a:prstGeom prst="rect">
            <a:avLst/>
          </a:prstGeom>
        </p:spPr>
      </p:pic>
      <p:sp>
        <p:nvSpPr>
          <p:cNvPr id="125" name="CasellaDiTesto 124">
            <a:extLst>
              <a:ext uri="{FF2B5EF4-FFF2-40B4-BE49-F238E27FC236}">
                <a16:creationId xmlns:a16="http://schemas.microsoft.com/office/drawing/2014/main" id="{F14B4396-E245-4511-715F-CCB342D30C7D}"/>
              </a:ext>
            </a:extLst>
          </p:cNvPr>
          <p:cNvSpPr txBox="1"/>
          <p:nvPr/>
        </p:nvSpPr>
        <p:spPr>
          <a:xfrm>
            <a:off x="1566557" y="3533084"/>
            <a:ext cx="147893" cy="235483"/>
          </a:xfrm>
          <a:prstGeom prst="rect">
            <a:avLst/>
          </a:prstGeom>
          <a:noFill/>
        </p:spPr>
        <p:txBody>
          <a:bodyPr wrap="square" rtlCol="0">
            <a:spAutoFit/>
          </a:bodyPr>
          <a:lstStyle/>
          <a:p>
            <a:r>
              <a:rPr lang="it-IT" sz="1200">
                <a:solidFill>
                  <a:schemeClr val="bg1"/>
                </a:solidFill>
              </a:rPr>
              <a:t>+</a:t>
            </a:r>
          </a:p>
        </p:txBody>
      </p:sp>
      <p:sp>
        <p:nvSpPr>
          <p:cNvPr id="126" name="CasellaDiTesto 125">
            <a:extLst>
              <a:ext uri="{FF2B5EF4-FFF2-40B4-BE49-F238E27FC236}">
                <a16:creationId xmlns:a16="http://schemas.microsoft.com/office/drawing/2014/main" id="{9C7BE90C-B1ED-FFA4-416E-2554A0B486AF}"/>
              </a:ext>
            </a:extLst>
          </p:cNvPr>
          <p:cNvSpPr txBox="1"/>
          <p:nvPr/>
        </p:nvSpPr>
        <p:spPr>
          <a:xfrm>
            <a:off x="2991406" y="3534968"/>
            <a:ext cx="147893" cy="235483"/>
          </a:xfrm>
          <a:prstGeom prst="rect">
            <a:avLst/>
          </a:prstGeom>
          <a:noFill/>
        </p:spPr>
        <p:txBody>
          <a:bodyPr wrap="square" rtlCol="0">
            <a:spAutoFit/>
          </a:bodyPr>
          <a:lstStyle/>
          <a:p>
            <a:r>
              <a:rPr lang="it-IT" sz="1200">
                <a:solidFill>
                  <a:schemeClr val="bg1"/>
                </a:solidFill>
              </a:rPr>
              <a:t>+</a:t>
            </a:r>
          </a:p>
        </p:txBody>
      </p:sp>
      <p:sp>
        <p:nvSpPr>
          <p:cNvPr id="127" name="CasellaDiTesto 126">
            <a:extLst>
              <a:ext uri="{FF2B5EF4-FFF2-40B4-BE49-F238E27FC236}">
                <a16:creationId xmlns:a16="http://schemas.microsoft.com/office/drawing/2014/main" id="{B8481A1D-B7D0-F240-F249-4942E1F23D61}"/>
              </a:ext>
            </a:extLst>
          </p:cNvPr>
          <p:cNvSpPr txBox="1"/>
          <p:nvPr/>
        </p:nvSpPr>
        <p:spPr>
          <a:xfrm>
            <a:off x="1132131" y="3234075"/>
            <a:ext cx="414854" cy="235483"/>
          </a:xfrm>
          <a:prstGeom prst="rect">
            <a:avLst/>
          </a:prstGeom>
          <a:noFill/>
        </p:spPr>
        <p:txBody>
          <a:bodyPr wrap="square" rtlCol="0">
            <a:spAutoFit/>
          </a:bodyPr>
          <a:lstStyle/>
          <a:p>
            <a:r>
              <a:rPr lang="it-IT" sz="1200">
                <a:solidFill>
                  <a:schemeClr val="bg1"/>
                </a:solidFill>
              </a:rPr>
              <a:t>CR</a:t>
            </a:r>
          </a:p>
        </p:txBody>
      </p:sp>
      <p:sp>
        <p:nvSpPr>
          <p:cNvPr id="128" name="CasellaDiTesto 127">
            <a:extLst>
              <a:ext uri="{FF2B5EF4-FFF2-40B4-BE49-F238E27FC236}">
                <a16:creationId xmlns:a16="http://schemas.microsoft.com/office/drawing/2014/main" id="{7C91CDB0-5E77-394B-7D39-0CFFBFF003C6}"/>
              </a:ext>
            </a:extLst>
          </p:cNvPr>
          <p:cNvSpPr txBox="1"/>
          <p:nvPr/>
        </p:nvSpPr>
        <p:spPr>
          <a:xfrm>
            <a:off x="1763413" y="3234074"/>
            <a:ext cx="491215" cy="461665"/>
          </a:xfrm>
          <a:prstGeom prst="rect">
            <a:avLst/>
          </a:prstGeom>
          <a:noFill/>
        </p:spPr>
        <p:txBody>
          <a:bodyPr wrap="square" rtlCol="0">
            <a:spAutoFit/>
          </a:bodyPr>
          <a:lstStyle/>
          <a:p>
            <a:r>
              <a:rPr lang="it-IT" sz="1200" dirty="0">
                <a:solidFill>
                  <a:schemeClr val="bg1"/>
                </a:solidFill>
              </a:rPr>
              <a:t>Slick</a:t>
            </a:r>
          </a:p>
        </p:txBody>
      </p:sp>
      <p:sp>
        <p:nvSpPr>
          <p:cNvPr id="129" name="CasellaDiTesto 128">
            <a:extLst>
              <a:ext uri="{FF2B5EF4-FFF2-40B4-BE49-F238E27FC236}">
                <a16:creationId xmlns:a16="http://schemas.microsoft.com/office/drawing/2014/main" id="{BBD5B4F1-CA16-0061-DE55-7B14D4188E06}"/>
              </a:ext>
            </a:extLst>
          </p:cNvPr>
          <p:cNvSpPr txBox="1"/>
          <p:nvPr/>
        </p:nvSpPr>
        <p:spPr>
          <a:xfrm>
            <a:off x="3200515" y="3234074"/>
            <a:ext cx="414854" cy="235483"/>
          </a:xfrm>
          <a:prstGeom prst="rect">
            <a:avLst/>
          </a:prstGeom>
          <a:noFill/>
        </p:spPr>
        <p:txBody>
          <a:bodyPr wrap="square" rtlCol="0">
            <a:spAutoFit/>
          </a:bodyPr>
          <a:lstStyle/>
          <a:p>
            <a:r>
              <a:rPr lang="it-IT" sz="1200" dirty="0" err="1">
                <a:solidFill>
                  <a:schemeClr val="bg1"/>
                </a:solidFill>
              </a:rPr>
              <a:t>Lat</a:t>
            </a:r>
            <a:r>
              <a:rPr lang="it-IT" sz="1200" dirty="0">
                <a:solidFill>
                  <a:schemeClr val="bg1"/>
                </a:solidFill>
              </a:rPr>
              <a:t>.</a:t>
            </a:r>
          </a:p>
        </p:txBody>
      </p:sp>
      <p:sp>
        <p:nvSpPr>
          <p:cNvPr id="130" name="CasellaDiTesto 129">
            <a:extLst>
              <a:ext uri="{FF2B5EF4-FFF2-40B4-BE49-F238E27FC236}">
                <a16:creationId xmlns:a16="http://schemas.microsoft.com/office/drawing/2014/main" id="{AA7B53BD-2908-8F80-B2C8-17D837ED8AA1}"/>
              </a:ext>
            </a:extLst>
          </p:cNvPr>
          <p:cNvSpPr txBox="1"/>
          <p:nvPr/>
        </p:nvSpPr>
        <p:spPr>
          <a:xfrm>
            <a:off x="2562146" y="3234074"/>
            <a:ext cx="414854" cy="235483"/>
          </a:xfrm>
          <a:prstGeom prst="rect">
            <a:avLst/>
          </a:prstGeom>
          <a:noFill/>
        </p:spPr>
        <p:txBody>
          <a:bodyPr wrap="square" rtlCol="0">
            <a:spAutoFit/>
          </a:bodyPr>
          <a:lstStyle/>
          <a:p>
            <a:r>
              <a:rPr lang="it-IT" sz="1200">
                <a:solidFill>
                  <a:schemeClr val="bg1"/>
                </a:solidFill>
              </a:rPr>
              <a:t>CR</a:t>
            </a:r>
          </a:p>
        </p:txBody>
      </p:sp>
      <p:pic>
        <p:nvPicPr>
          <p:cNvPr id="131" name="Picture 3">
            <a:extLst>
              <a:ext uri="{FF2B5EF4-FFF2-40B4-BE49-F238E27FC236}">
                <a16:creationId xmlns:a16="http://schemas.microsoft.com/office/drawing/2014/main" id="{C0ECC25D-1CE0-3053-E31A-5E9F583D50E7}"/>
              </a:ext>
            </a:extLst>
          </p:cNvPr>
          <p:cNvPicPr>
            <a:picLocks noChangeAspect="1"/>
          </p:cNvPicPr>
          <p:nvPr/>
        </p:nvPicPr>
        <p:blipFill>
          <a:blip r:embed="rId5"/>
          <a:srcRect l="48119" t="49875" r="6594" b="7799"/>
          <a:stretch/>
        </p:blipFill>
        <p:spPr>
          <a:xfrm>
            <a:off x="3918432" y="3449226"/>
            <a:ext cx="491216" cy="430887"/>
          </a:xfrm>
          <a:prstGeom prst="rect">
            <a:avLst/>
          </a:prstGeom>
        </p:spPr>
      </p:pic>
      <p:sp>
        <p:nvSpPr>
          <p:cNvPr id="132" name="CasellaDiTesto 131">
            <a:extLst>
              <a:ext uri="{FF2B5EF4-FFF2-40B4-BE49-F238E27FC236}">
                <a16:creationId xmlns:a16="http://schemas.microsoft.com/office/drawing/2014/main" id="{26E0DB50-C2E8-8399-8ECA-24566199E43C}"/>
              </a:ext>
            </a:extLst>
          </p:cNvPr>
          <p:cNvSpPr txBox="1"/>
          <p:nvPr/>
        </p:nvSpPr>
        <p:spPr>
          <a:xfrm>
            <a:off x="4380106" y="3514637"/>
            <a:ext cx="147893" cy="235483"/>
          </a:xfrm>
          <a:prstGeom prst="rect">
            <a:avLst/>
          </a:prstGeom>
          <a:noFill/>
        </p:spPr>
        <p:txBody>
          <a:bodyPr wrap="square" rtlCol="0">
            <a:spAutoFit/>
          </a:bodyPr>
          <a:lstStyle/>
          <a:p>
            <a:r>
              <a:rPr lang="it-IT" sz="1200">
                <a:solidFill>
                  <a:schemeClr val="bg1"/>
                </a:solidFill>
              </a:rPr>
              <a:t>+</a:t>
            </a:r>
          </a:p>
        </p:txBody>
      </p:sp>
      <p:sp>
        <p:nvSpPr>
          <p:cNvPr id="133" name="CasellaDiTesto 132">
            <a:extLst>
              <a:ext uri="{FF2B5EF4-FFF2-40B4-BE49-F238E27FC236}">
                <a16:creationId xmlns:a16="http://schemas.microsoft.com/office/drawing/2014/main" id="{201B35C3-0A38-BCA7-A8DA-A2B677B5DE2C}"/>
              </a:ext>
            </a:extLst>
          </p:cNvPr>
          <p:cNvSpPr txBox="1"/>
          <p:nvPr/>
        </p:nvSpPr>
        <p:spPr>
          <a:xfrm>
            <a:off x="4589215" y="3213743"/>
            <a:ext cx="486450" cy="461665"/>
          </a:xfrm>
          <a:prstGeom prst="rect">
            <a:avLst/>
          </a:prstGeom>
          <a:noFill/>
        </p:spPr>
        <p:txBody>
          <a:bodyPr wrap="square" rtlCol="0">
            <a:spAutoFit/>
          </a:bodyPr>
          <a:lstStyle/>
          <a:p>
            <a:r>
              <a:rPr lang="it-IT" sz="1200" dirty="0">
                <a:solidFill>
                  <a:schemeClr val="bg1"/>
                </a:solidFill>
              </a:rPr>
              <a:t>Side</a:t>
            </a:r>
          </a:p>
        </p:txBody>
      </p:sp>
      <p:sp>
        <p:nvSpPr>
          <p:cNvPr id="134" name="CasellaDiTesto 133">
            <a:extLst>
              <a:ext uri="{FF2B5EF4-FFF2-40B4-BE49-F238E27FC236}">
                <a16:creationId xmlns:a16="http://schemas.microsoft.com/office/drawing/2014/main" id="{3D4B713D-32BB-EBEE-E2EB-E1A78947BF08}"/>
              </a:ext>
            </a:extLst>
          </p:cNvPr>
          <p:cNvSpPr txBox="1"/>
          <p:nvPr/>
        </p:nvSpPr>
        <p:spPr>
          <a:xfrm>
            <a:off x="3950847" y="3213743"/>
            <a:ext cx="414854" cy="235483"/>
          </a:xfrm>
          <a:prstGeom prst="rect">
            <a:avLst/>
          </a:prstGeom>
          <a:noFill/>
        </p:spPr>
        <p:txBody>
          <a:bodyPr wrap="square" rtlCol="0">
            <a:spAutoFit/>
          </a:bodyPr>
          <a:lstStyle/>
          <a:p>
            <a:r>
              <a:rPr lang="it-IT" sz="1200">
                <a:solidFill>
                  <a:schemeClr val="bg1"/>
                </a:solidFill>
              </a:rPr>
              <a:t>CR</a:t>
            </a:r>
          </a:p>
        </p:txBody>
      </p:sp>
      <p:pic>
        <p:nvPicPr>
          <p:cNvPr id="135" name="Immagine 134">
            <a:extLst>
              <a:ext uri="{FF2B5EF4-FFF2-40B4-BE49-F238E27FC236}">
                <a16:creationId xmlns:a16="http://schemas.microsoft.com/office/drawing/2014/main" id="{834DC538-0F56-028A-AD6E-1DA7D8CAAFBA}"/>
              </a:ext>
            </a:extLst>
          </p:cNvPr>
          <p:cNvPicPr>
            <a:picLocks noChangeAspect="1"/>
          </p:cNvPicPr>
          <p:nvPr/>
        </p:nvPicPr>
        <p:blipFill>
          <a:blip r:embed="rId7"/>
          <a:srcRect l="39092" t="93817" r="37303" b="-954"/>
          <a:stretch/>
        </p:blipFill>
        <p:spPr>
          <a:xfrm>
            <a:off x="2449907" y="6067682"/>
            <a:ext cx="1717070" cy="274995"/>
          </a:xfrm>
          <a:prstGeom prst="rect">
            <a:avLst/>
          </a:prstGeom>
        </p:spPr>
      </p:pic>
      <p:sp>
        <p:nvSpPr>
          <p:cNvPr id="136" name="Rettangolo 135">
            <a:extLst>
              <a:ext uri="{FF2B5EF4-FFF2-40B4-BE49-F238E27FC236}">
                <a16:creationId xmlns:a16="http://schemas.microsoft.com/office/drawing/2014/main" id="{D52FD5D5-EFAB-2F93-33C7-CCBC60E79727}"/>
              </a:ext>
            </a:extLst>
          </p:cNvPr>
          <p:cNvSpPr/>
          <p:nvPr/>
        </p:nvSpPr>
        <p:spPr>
          <a:xfrm>
            <a:off x="2787272" y="6100384"/>
            <a:ext cx="529246" cy="27499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7" name="Rettangolo 136">
            <a:extLst>
              <a:ext uri="{FF2B5EF4-FFF2-40B4-BE49-F238E27FC236}">
                <a16:creationId xmlns:a16="http://schemas.microsoft.com/office/drawing/2014/main" id="{956BCB20-A763-7215-7150-4A6B5528C41D}"/>
              </a:ext>
            </a:extLst>
          </p:cNvPr>
          <p:cNvSpPr/>
          <p:nvPr/>
        </p:nvSpPr>
        <p:spPr>
          <a:xfrm>
            <a:off x="3519380" y="6074959"/>
            <a:ext cx="529246" cy="27499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xmlns:a14="http://schemas.microsoft.com/office/drawing/2010/main">
        <mc:Choice Requires="a14">
          <p:sp>
            <p:nvSpPr>
              <p:cNvPr id="138" name="CasellaDiTesto 137">
                <a:extLst>
                  <a:ext uri="{FF2B5EF4-FFF2-40B4-BE49-F238E27FC236}">
                    <a16:creationId xmlns:a16="http://schemas.microsoft.com/office/drawing/2014/main" id="{B9C409B5-C38F-3180-CCC6-7B3D8A5DC4A4}"/>
                  </a:ext>
                </a:extLst>
              </p:cNvPr>
              <p:cNvSpPr txBox="1"/>
              <p:nvPr/>
            </p:nvSpPr>
            <p:spPr>
              <a:xfrm>
                <a:off x="2784215" y="6062255"/>
                <a:ext cx="407274" cy="2359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solidFill>
                            <a:schemeClr val="bg1"/>
                          </a:solidFill>
                          <a:latin typeface="Cambria Math" panose="02040503050406030204" pitchFamily="18" charset="0"/>
                          <a:ea typeface="Cambria Math" panose="02040503050406030204" pitchFamily="18" charset="0"/>
                        </a:rPr>
                        <m:t>∆</m:t>
                      </m:r>
                      <m:sSub>
                        <m:sSubPr>
                          <m:ctrlPr>
                            <a:rPr lang="it-IT" i="1" smtClean="0">
                              <a:solidFill>
                                <a:schemeClr val="bg1"/>
                              </a:solidFill>
                              <a:latin typeface="Cambria Math" panose="02040503050406030204" pitchFamily="18" charset="0"/>
                              <a:ea typeface="Cambria Math" panose="02040503050406030204" pitchFamily="18" charset="0"/>
                            </a:rPr>
                          </m:ctrlPr>
                        </m:sSubPr>
                        <m:e>
                          <m:r>
                            <a:rPr lang="it-IT" b="0" i="1" smtClean="0">
                              <a:solidFill>
                                <a:schemeClr val="bg1"/>
                              </a:solidFill>
                              <a:latin typeface="Cambria Math" panose="02040503050406030204" pitchFamily="18" charset="0"/>
                              <a:ea typeface="Cambria Math" panose="02040503050406030204" pitchFamily="18" charset="0"/>
                            </a:rPr>
                            <m:t>𝑐</m:t>
                          </m:r>
                        </m:e>
                        <m:sub>
                          <m:r>
                            <a:rPr lang="it-IT" b="0" i="1" smtClean="0">
                              <a:solidFill>
                                <a:schemeClr val="bg1"/>
                              </a:solidFill>
                              <a:latin typeface="Cambria Math" panose="02040503050406030204" pitchFamily="18" charset="0"/>
                              <a:ea typeface="Cambria Math" panose="02040503050406030204" pitchFamily="18" charset="0"/>
                            </a:rPr>
                            <m:t>𝐷</m:t>
                          </m:r>
                        </m:sub>
                      </m:sSub>
                    </m:oMath>
                  </m:oMathPara>
                </a14:m>
                <a:endParaRPr lang="it-IT" dirty="0">
                  <a:solidFill>
                    <a:schemeClr val="bg1"/>
                  </a:solidFill>
                </a:endParaRPr>
              </a:p>
            </p:txBody>
          </p:sp>
        </mc:Choice>
        <mc:Fallback xmlns="">
          <p:sp>
            <p:nvSpPr>
              <p:cNvPr id="138" name="CasellaDiTesto 137">
                <a:extLst>
                  <a:ext uri="{FF2B5EF4-FFF2-40B4-BE49-F238E27FC236}">
                    <a16:creationId xmlns:a16="http://schemas.microsoft.com/office/drawing/2014/main" id="{B9C409B5-C38F-3180-CCC6-7B3D8A5DC4A4}"/>
                  </a:ext>
                </a:extLst>
              </p:cNvPr>
              <p:cNvSpPr txBox="1">
                <a:spLocks noRot="1" noChangeAspect="1" noMove="1" noResize="1" noEditPoints="1" noAdjustHandles="1" noChangeArrowheads="1" noChangeShapeType="1" noTextEdit="1"/>
              </p:cNvSpPr>
              <p:nvPr/>
            </p:nvSpPr>
            <p:spPr>
              <a:xfrm>
                <a:off x="2784215" y="6062255"/>
                <a:ext cx="407274" cy="235984"/>
              </a:xfrm>
              <a:prstGeom prst="rect">
                <a:avLst/>
              </a:prstGeom>
              <a:blipFill>
                <a:blip r:embed="rId8"/>
                <a:stretch>
                  <a:fillRect l="-16418" r="-5970" b="-3846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9" name="CasellaDiTesto 138">
                <a:extLst>
                  <a:ext uri="{FF2B5EF4-FFF2-40B4-BE49-F238E27FC236}">
                    <a16:creationId xmlns:a16="http://schemas.microsoft.com/office/drawing/2014/main" id="{EF51B9D8-F492-931F-079F-8EDC1843CBB5}"/>
                  </a:ext>
                </a:extLst>
              </p:cNvPr>
              <p:cNvSpPr txBox="1"/>
              <p:nvPr/>
            </p:nvSpPr>
            <p:spPr>
              <a:xfrm>
                <a:off x="3597212" y="6064025"/>
                <a:ext cx="380284" cy="2359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solidFill>
                            <a:schemeClr val="bg1"/>
                          </a:solidFill>
                          <a:latin typeface="Cambria Math" panose="02040503050406030204" pitchFamily="18" charset="0"/>
                          <a:ea typeface="Cambria Math" panose="02040503050406030204" pitchFamily="18" charset="0"/>
                        </a:rPr>
                        <m:t>∆</m:t>
                      </m:r>
                      <m:sSub>
                        <m:sSubPr>
                          <m:ctrlPr>
                            <a:rPr lang="it-IT" i="1" smtClean="0">
                              <a:solidFill>
                                <a:schemeClr val="bg1"/>
                              </a:solidFill>
                              <a:latin typeface="Cambria Math" panose="02040503050406030204" pitchFamily="18" charset="0"/>
                              <a:ea typeface="Cambria Math" panose="02040503050406030204" pitchFamily="18" charset="0"/>
                            </a:rPr>
                          </m:ctrlPr>
                        </m:sSubPr>
                        <m:e>
                          <m:r>
                            <a:rPr lang="it-IT" b="0" i="1" smtClean="0">
                              <a:solidFill>
                                <a:schemeClr val="bg1"/>
                              </a:solidFill>
                              <a:latin typeface="Cambria Math" panose="02040503050406030204" pitchFamily="18" charset="0"/>
                              <a:ea typeface="Cambria Math" panose="02040503050406030204" pitchFamily="18" charset="0"/>
                            </a:rPr>
                            <m:t>𝑐</m:t>
                          </m:r>
                        </m:e>
                        <m:sub>
                          <m:r>
                            <a:rPr lang="it-IT" b="0" i="1" smtClean="0">
                              <a:solidFill>
                                <a:schemeClr val="bg1"/>
                              </a:solidFill>
                              <a:latin typeface="Cambria Math" panose="02040503050406030204" pitchFamily="18" charset="0"/>
                              <a:ea typeface="Cambria Math" panose="02040503050406030204" pitchFamily="18" charset="0"/>
                            </a:rPr>
                            <m:t>𝐿</m:t>
                          </m:r>
                        </m:sub>
                      </m:sSub>
                    </m:oMath>
                  </m:oMathPara>
                </a14:m>
                <a:endParaRPr lang="it-IT">
                  <a:solidFill>
                    <a:schemeClr val="bg1"/>
                  </a:solidFill>
                </a:endParaRPr>
              </a:p>
            </p:txBody>
          </p:sp>
        </mc:Choice>
        <mc:Fallback xmlns="">
          <p:sp>
            <p:nvSpPr>
              <p:cNvPr id="139" name="CasellaDiTesto 138">
                <a:extLst>
                  <a:ext uri="{FF2B5EF4-FFF2-40B4-BE49-F238E27FC236}">
                    <a16:creationId xmlns:a16="http://schemas.microsoft.com/office/drawing/2014/main" id="{EF51B9D8-F492-931F-079F-8EDC1843CBB5}"/>
                  </a:ext>
                </a:extLst>
              </p:cNvPr>
              <p:cNvSpPr txBox="1">
                <a:spLocks noRot="1" noChangeAspect="1" noMove="1" noResize="1" noEditPoints="1" noAdjustHandles="1" noChangeArrowheads="1" noChangeShapeType="1" noTextEdit="1"/>
              </p:cNvSpPr>
              <p:nvPr/>
            </p:nvSpPr>
            <p:spPr>
              <a:xfrm>
                <a:off x="3597212" y="6064025"/>
                <a:ext cx="380284" cy="235984"/>
              </a:xfrm>
              <a:prstGeom prst="rect">
                <a:avLst/>
              </a:prstGeom>
              <a:blipFill>
                <a:blip r:embed="rId9"/>
                <a:stretch>
                  <a:fillRect l="-16129" r="-8065" b="-39474"/>
                </a:stretch>
              </a:blipFill>
            </p:spPr>
            <p:txBody>
              <a:bodyPr/>
              <a:lstStyle/>
              <a:p>
                <a:r>
                  <a:rPr lang="it-IT">
                    <a:noFill/>
                  </a:rPr>
                  <a:t> </a:t>
                </a:r>
              </a:p>
            </p:txBody>
          </p:sp>
        </mc:Fallback>
      </mc:AlternateContent>
      <p:pic>
        <p:nvPicPr>
          <p:cNvPr id="140" name="Immagine 139">
            <a:extLst>
              <a:ext uri="{FF2B5EF4-FFF2-40B4-BE49-F238E27FC236}">
                <a16:creationId xmlns:a16="http://schemas.microsoft.com/office/drawing/2014/main" id="{23190B79-9BF1-147F-BB13-3CEB54F83C97}"/>
              </a:ext>
            </a:extLst>
          </p:cNvPr>
          <p:cNvPicPr>
            <a:picLocks noChangeAspect="1"/>
          </p:cNvPicPr>
          <p:nvPr/>
        </p:nvPicPr>
        <p:blipFill>
          <a:blip r:embed="rId10"/>
          <a:stretch>
            <a:fillRect/>
          </a:stretch>
        </p:blipFill>
        <p:spPr>
          <a:xfrm>
            <a:off x="4562783" y="3449225"/>
            <a:ext cx="414854" cy="393915"/>
          </a:xfrm>
          <a:prstGeom prst="rect">
            <a:avLst/>
          </a:prstGeom>
        </p:spPr>
      </p:pic>
      <p:pic>
        <p:nvPicPr>
          <p:cNvPr id="141" name="Immagine 140">
            <a:extLst>
              <a:ext uri="{FF2B5EF4-FFF2-40B4-BE49-F238E27FC236}">
                <a16:creationId xmlns:a16="http://schemas.microsoft.com/office/drawing/2014/main" id="{BC46AB40-BB30-E0C6-5CF4-870581D04D7B}"/>
              </a:ext>
            </a:extLst>
          </p:cNvPr>
          <p:cNvPicPr>
            <a:picLocks noChangeAspect="1"/>
          </p:cNvPicPr>
          <p:nvPr/>
        </p:nvPicPr>
        <p:blipFill>
          <a:blip r:embed="rId11"/>
          <a:stretch>
            <a:fillRect/>
          </a:stretch>
        </p:blipFill>
        <p:spPr>
          <a:xfrm>
            <a:off x="3189781" y="3476835"/>
            <a:ext cx="425589" cy="366306"/>
          </a:xfrm>
          <a:prstGeom prst="rect">
            <a:avLst/>
          </a:prstGeom>
        </p:spPr>
      </p:pic>
      <p:sp>
        <p:nvSpPr>
          <p:cNvPr id="7" name="Rettangolo 6">
            <a:extLst>
              <a:ext uri="{FF2B5EF4-FFF2-40B4-BE49-F238E27FC236}">
                <a16:creationId xmlns:a16="http://schemas.microsoft.com/office/drawing/2014/main" id="{A61AAAC2-61EE-AB3C-1D80-A89ADAF2B914}"/>
              </a:ext>
            </a:extLst>
          </p:cNvPr>
          <p:cNvSpPr/>
          <p:nvPr/>
        </p:nvSpPr>
        <p:spPr>
          <a:xfrm>
            <a:off x="6032294" y="2052320"/>
            <a:ext cx="2136140" cy="19301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CasellaDiTesto 7">
            <a:extLst>
              <a:ext uri="{FF2B5EF4-FFF2-40B4-BE49-F238E27FC236}">
                <a16:creationId xmlns:a16="http://schemas.microsoft.com/office/drawing/2014/main" id="{79340F4F-8CAD-3CE4-5E12-34F1642FEBDA}"/>
              </a:ext>
            </a:extLst>
          </p:cNvPr>
          <p:cNvSpPr txBox="1"/>
          <p:nvPr/>
        </p:nvSpPr>
        <p:spPr>
          <a:xfrm>
            <a:off x="6096522" y="1505860"/>
            <a:ext cx="3510365" cy="430887"/>
          </a:xfrm>
          <a:prstGeom prst="rect">
            <a:avLst/>
          </a:prstGeom>
          <a:noFill/>
        </p:spPr>
        <p:txBody>
          <a:bodyPr wrap="square" rtlCol="0">
            <a:spAutoFit/>
          </a:bodyPr>
          <a:lstStyle/>
          <a:p>
            <a:pPr algn="ctr"/>
            <a:r>
              <a:rPr lang="it-IT" sz="2200" err="1">
                <a:solidFill>
                  <a:schemeClr val="bg1"/>
                </a:solidFill>
                <a:latin typeface="Aptos" panose="020B0004020202020204" pitchFamily="34" charset="0"/>
              </a:rPr>
              <a:t>Lateral</a:t>
            </a:r>
            <a:r>
              <a:rPr lang="it-IT" sz="2200">
                <a:solidFill>
                  <a:schemeClr val="bg1"/>
                </a:solidFill>
                <a:latin typeface="Aptos" panose="020B0004020202020204" pitchFamily="34" charset="0"/>
              </a:rPr>
              <a:t> </a:t>
            </a:r>
            <a:r>
              <a:rPr lang="it-IT" sz="2200" err="1">
                <a:solidFill>
                  <a:schemeClr val="bg1"/>
                </a:solidFill>
                <a:latin typeface="Aptos" panose="020B0004020202020204" pitchFamily="34" charset="0"/>
              </a:rPr>
              <a:t>grooves</a:t>
            </a:r>
            <a:r>
              <a:rPr lang="it-IT" sz="2200">
                <a:solidFill>
                  <a:schemeClr val="bg1"/>
                </a:solidFill>
                <a:latin typeface="Aptos" panose="020B0004020202020204" pitchFamily="34" charset="0"/>
              </a:rPr>
              <a:t> </a:t>
            </a:r>
            <a:r>
              <a:rPr lang="it-IT" sz="2200" err="1">
                <a:solidFill>
                  <a:schemeClr val="bg1"/>
                </a:solidFill>
                <a:latin typeface="Aptos" panose="020B0004020202020204" pitchFamily="34" charset="0"/>
              </a:rPr>
              <a:t>addition</a:t>
            </a:r>
            <a:r>
              <a:rPr lang="it-IT" sz="2200">
                <a:solidFill>
                  <a:schemeClr val="bg1"/>
                </a:solidFill>
                <a:latin typeface="Aptos" panose="020B0004020202020204" pitchFamily="34" charset="0"/>
              </a:rPr>
              <a:t>:</a:t>
            </a:r>
          </a:p>
        </p:txBody>
      </p:sp>
      <p:pic>
        <p:nvPicPr>
          <p:cNvPr id="9" name="Immagine 8">
            <a:extLst>
              <a:ext uri="{FF2B5EF4-FFF2-40B4-BE49-F238E27FC236}">
                <a16:creationId xmlns:a16="http://schemas.microsoft.com/office/drawing/2014/main" id="{1F011DC9-EA00-051F-994A-EFB8FF567F5A}"/>
              </a:ext>
            </a:extLst>
          </p:cNvPr>
          <p:cNvPicPr>
            <a:picLocks noChangeAspect="1"/>
          </p:cNvPicPr>
          <p:nvPr/>
        </p:nvPicPr>
        <p:blipFill>
          <a:blip r:embed="rId11"/>
          <a:stretch>
            <a:fillRect/>
          </a:stretch>
        </p:blipFill>
        <p:spPr>
          <a:xfrm>
            <a:off x="7756729" y="2058873"/>
            <a:ext cx="839992" cy="688405"/>
          </a:xfrm>
          <a:prstGeom prst="rect">
            <a:avLst/>
          </a:prstGeom>
        </p:spPr>
      </p:pic>
      <p:sp>
        <p:nvSpPr>
          <p:cNvPr id="11" name="CasellaDiTesto 10">
            <a:extLst>
              <a:ext uri="{FF2B5EF4-FFF2-40B4-BE49-F238E27FC236}">
                <a16:creationId xmlns:a16="http://schemas.microsoft.com/office/drawing/2014/main" id="{41DCF3FD-0DAF-8485-EF4A-67E32EE024A2}"/>
              </a:ext>
            </a:extLst>
          </p:cNvPr>
          <p:cNvSpPr txBox="1"/>
          <p:nvPr/>
        </p:nvSpPr>
        <p:spPr>
          <a:xfrm>
            <a:off x="7997144" y="2792958"/>
            <a:ext cx="156002" cy="430887"/>
          </a:xfrm>
          <a:prstGeom prst="rect">
            <a:avLst/>
          </a:prstGeom>
          <a:noFill/>
        </p:spPr>
        <p:txBody>
          <a:bodyPr wrap="square" rtlCol="0">
            <a:spAutoFit/>
          </a:bodyPr>
          <a:lstStyle/>
          <a:p>
            <a:r>
              <a:rPr lang="it-IT" sz="2200">
                <a:solidFill>
                  <a:schemeClr val="bg1"/>
                </a:solidFill>
              </a:rPr>
              <a:t>+</a:t>
            </a:r>
          </a:p>
        </p:txBody>
      </p:sp>
      <p:pic>
        <p:nvPicPr>
          <p:cNvPr id="15" name="Picture 3">
            <a:extLst>
              <a:ext uri="{FF2B5EF4-FFF2-40B4-BE49-F238E27FC236}">
                <a16:creationId xmlns:a16="http://schemas.microsoft.com/office/drawing/2014/main" id="{80402225-C218-D0BF-4DED-CF3F5917473B}"/>
              </a:ext>
            </a:extLst>
          </p:cNvPr>
          <p:cNvPicPr>
            <a:picLocks noChangeAspect="1"/>
          </p:cNvPicPr>
          <p:nvPr/>
        </p:nvPicPr>
        <p:blipFill>
          <a:blip r:embed="rId5"/>
          <a:srcRect l="48119" t="49875" r="6594" b="7799"/>
          <a:stretch/>
        </p:blipFill>
        <p:spPr>
          <a:xfrm>
            <a:off x="6416286" y="3489699"/>
            <a:ext cx="468626" cy="387915"/>
          </a:xfrm>
          <a:prstGeom prst="rect">
            <a:avLst/>
          </a:prstGeom>
        </p:spPr>
      </p:pic>
      <p:pic>
        <p:nvPicPr>
          <p:cNvPr id="16" name="Immagine 15">
            <a:extLst>
              <a:ext uri="{FF2B5EF4-FFF2-40B4-BE49-F238E27FC236}">
                <a16:creationId xmlns:a16="http://schemas.microsoft.com/office/drawing/2014/main" id="{271B4452-8B2F-0B34-FAB1-3B4F209206E3}"/>
              </a:ext>
            </a:extLst>
          </p:cNvPr>
          <p:cNvPicPr>
            <a:picLocks noChangeAspect="1"/>
          </p:cNvPicPr>
          <p:nvPr/>
        </p:nvPicPr>
        <p:blipFill>
          <a:blip r:embed="rId6"/>
          <a:stretch>
            <a:fillRect/>
          </a:stretch>
        </p:blipFill>
        <p:spPr>
          <a:xfrm>
            <a:off x="7060462" y="3489699"/>
            <a:ext cx="395776" cy="338179"/>
          </a:xfrm>
          <a:prstGeom prst="rect">
            <a:avLst/>
          </a:prstGeom>
        </p:spPr>
      </p:pic>
      <p:pic>
        <p:nvPicPr>
          <p:cNvPr id="17" name="Picture 3">
            <a:extLst>
              <a:ext uri="{FF2B5EF4-FFF2-40B4-BE49-F238E27FC236}">
                <a16:creationId xmlns:a16="http://schemas.microsoft.com/office/drawing/2014/main" id="{171B2120-E48E-94F0-9AF4-1C9E6A278851}"/>
              </a:ext>
            </a:extLst>
          </p:cNvPr>
          <p:cNvPicPr>
            <a:picLocks noChangeAspect="1"/>
          </p:cNvPicPr>
          <p:nvPr/>
        </p:nvPicPr>
        <p:blipFill>
          <a:blip r:embed="rId5"/>
          <a:srcRect l="48119" t="49875" r="6594" b="7799"/>
          <a:stretch/>
        </p:blipFill>
        <p:spPr>
          <a:xfrm>
            <a:off x="7791540" y="3489697"/>
            <a:ext cx="468626" cy="387915"/>
          </a:xfrm>
          <a:prstGeom prst="rect">
            <a:avLst/>
          </a:prstGeom>
        </p:spPr>
      </p:pic>
      <p:sp>
        <p:nvSpPr>
          <p:cNvPr id="19" name="CasellaDiTesto 18">
            <a:extLst>
              <a:ext uri="{FF2B5EF4-FFF2-40B4-BE49-F238E27FC236}">
                <a16:creationId xmlns:a16="http://schemas.microsoft.com/office/drawing/2014/main" id="{177875B4-0969-AC55-6429-C281EFC6CA9A}"/>
              </a:ext>
            </a:extLst>
          </p:cNvPr>
          <p:cNvSpPr txBox="1"/>
          <p:nvPr/>
        </p:nvSpPr>
        <p:spPr>
          <a:xfrm>
            <a:off x="6872659" y="3556972"/>
            <a:ext cx="141092" cy="249374"/>
          </a:xfrm>
          <a:prstGeom prst="rect">
            <a:avLst/>
          </a:prstGeom>
          <a:noFill/>
        </p:spPr>
        <p:txBody>
          <a:bodyPr wrap="square" rtlCol="0">
            <a:spAutoFit/>
          </a:bodyPr>
          <a:lstStyle/>
          <a:p>
            <a:r>
              <a:rPr lang="it-IT" sz="1200">
                <a:solidFill>
                  <a:schemeClr val="bg1"/>
                </a:solidFill>
              </a:rPr>
              <a:t>+</a:t>
            </a:r>
          </a:p>
        </p:txBody>
      </p:sp>
      <p:sp>
        <p:nvSpPr>
          <p:cNvPr id="20" name="CasellaDiTesto 19">
            <a:extLst>
              <a:ext uri="{FF2B5EF4-FFF2-40B4-BE49-F238E27FC236}">
                <a16:creationId xmlns:a16="http://schemas.microsoft.com/office/drawing/2014/main" id="{880D7168-31BE-3E52-6E30-33E183324506}"/>
              </a:ext>
            </a:extLst>
          </p:cNvPr>
          <p:cNvSpPr txBox="1"/>
          <p:nvPr/>
        </p:nvSpPr>
        <p:spPr>
          <a:xfrm>
            <a:off x="8231983" y="3558967"/>
            <a:ext cx="141092" cy="249374"/>
          </a:xfrm>
          <a:prstGeom prst="rect">
            <a:avLst/>
          </a:prstGeom>
          <a:noFill/>
        </p:spPr>
        <p:txBody>
          <a:bodyPr wrap="square" rtlCol="0">
            <a:spAutoFit/>
          </a:bodyPr>
          <a:lstStyle/>
          <a:p>
            <a:r>
              <a:rPr lang="it-IT" sz="1200">
                <a:solidFill>
                  <a:schemeClr val="bg1"/>
                </a:solidFill>
              </a:rPr>
              <a:t>+</a:t>
            </a:r>
          </a:p>
        </p:txBody>
      </p:sp>
      <p:sp>
        <p:nvSpPr>
          <p:cNvPr id="21" name="CasellaDiTesto 20">
            <a:extLst>
              <a:ext uri="{FF2B5EF4-FFF2-40B4-BE49-F238E27FC236}">
                <a16:creationId xmlns:a16="http://schemas.microsoft.com/office/drawing/2014/main" id="{805B2102-E4AB-40F2-A941-DBBA8D2617F9}"/>
              </a:ext>
            </a:extLst>
          </p:cNvPr>
          <p:cNvSpPr txBox="1"/>
          <p:nvPr/>
        </p:nvSpPr>
        <p:spPr>
          <a:xfrm>
            <a:off x="6458213" y="3240324"/>
            <a:ext cx="395776" cy="249374"/>
          </a:xfrm>
          <a:prstGeom prst="rect">
            <a:avLst/>
          </a:prstGeom>
          <a:noFill/>
        </p:spPr>
        <p:txBody>
          <a:bodyPr wrap="square" rtlCol="0">
            <a:spAutoFit/>
          </a:bodyPr>
          <a:lstStyle/>
          <a:p>
            <a:r>
              <a:rPr lang="it-IT" sz="1200">
                <a:solidFill>
                  <a:schemeClr val="bg1"/>
                </a:solidFill>
              </a:rPr>
              <a:t>CR</a:t>
            </a:r>
          </a:p>
        </p:txBody>
      </p:sp>
      <p:sp>
        <p:nvSpPr>
          <p:cNvPr id="22" name="CasellaDiTesto 21">
            <a:extLst>
              <a:ext uri="{FF2B5EF4-FFF2-40B4-BE49-F238E27FC236}">
                <a16:creationId xmlns:a16="http://schemas.microsoft.com/office/drawing/2014/main" id="{6B3061F1-0507-DC5D-935F-4BC61B6387E3}"/>
              </a:ext>
            </a:extLst>
          </p:cNvPr>
          <p:cNvSpPr txBox="1"/>
          <p:nvPr/>
        </p:nvSpPr>
        <p:spPr>
          <a:xfrm>
            <a:off x="7021713" y="3233496"/>
            <a:ext cx="548766" cy="276999"/>
          </a:xfrm>
          <a:prstGeom prst="rect">
            <a:avLst/>
          </a:prstGeom>
          <a:noFill/>
        </p:spPr>
        <p:txBody>
          <a:bodyPr wrap="square" rtlCol="0">
            <a:spAutoFit/>
          </a:bodyPr>
          <a:lstStyle/>
          <a:p>
            <a:r>
              <a:rPr lang="it-IT" sz="1200">
                <a:solidFill>
                  <a:schemeClr val="bg1"/>
                </a:solidFill>
              </a:rPr>
              <a:t>Slick</a:t>
            </a:r>
          </a:p>
        </p:txBody>
      </p:sp>
      <p:sp>
        <p:nvSpPr>
          <p:cNvPr id="23" name="CasellaDiTesto 22">
            <a:extLst>
              <a:ext uri="{FF2B5EF4-FFF2-40B4-BE49-F238E27FC236}">
                <a16:creationId xmlns:a16="http://schemas.microsoft.com/office/drawing/2014/main" id="{E62E5966-872B-38BD-AA5E-ACB6C3E653F6}"/>
              </a:ext>
            </a:extLst>
          </p:cNvPr>
          <p:cNvSpPr txBox="1"/>
          <p:nvPr/>
        </p:nvSpPr>
        <p:spPr>
          <a:xfrm>
            <a:off x="8380892" y="3240323"/>
            <a:ext cx="495242" cy="276999"/>
          </a:xfrm>
          <a:prstGeom prst="rect">
            <a:avLst/>
          </a:prstGeom>
          <a:noFill/>
        </p:spPr>
        <p:txBody>
          <a:bodyPr wrap="square" rtlCol="0">
            <a:spAutoFit/>
          </a:bodyPr>
          <a:lstStyle/>
          <a:p>
            <a:r>
              <a:rPr lang="it-IT" sz="1200" err="1">
                <a:solidFill>
                  <a:schemeClr val="bg1"/>
                </a:solidFill>
              </a:rPr>
              <a:t>Rain</a:t>
            </a:r>
            <a:endParaRPr lang="it-IT" sz="1200">
              <a:solidFill>
                <a:schemeClr val="bg1"/>
              </a:solidFill>
            </a:endParaRPr>
          </a:p>
        </p:txBody>
      </p:sp>
      <p:sp>
        <p:nvSpPr>
          <p:cNvPr id="24" name="CasellaDiTesto 23">
            <a:extLst>
              <a:ext uri="{FF2B5EF4-FFF2-40B4-BE49-F238E27FC236}">
                <a16:creationId xmlns:a16="http://schemas.microsoft.com/office/drawing/2014/main" id="{A00C5294-7506-7711-72E0-50F3B475FC76}"/>
              </a:ext>
            </a:extLst>
          </p:cNvPr>
          <p:cNvSpPr txBox="1"/>
          <p:nvPr/>
        </p:nvSpPr>
        <p:spPr>
          <a:xfrm>
            <a:off x="7822464" y="3240323"/>
            <a:ext cx="395776" cy="249374"/>
          </a:xfrm>
          <a:prstGeom prst="rect">
            <a:avLst/>
          </a:prstGeom>
          <a:noFill/>
        </p:spPr>
        <p:txBody>
          <a:bodyPr wrap="square" rtlCol="0">
            <a:spAutoFit/>
          </a:bodyPr>
          <a:lstStyle/>
          <a:p>
            <a:r>
              <a:rPr lang="it-IT" sz="1200">
                <a:solidFill>
                  <a:schemeClr val="bg1"/>
                </a:solidFill>
              </a:rPr>
              <a:t>CR</a:t>
            </a:r>
          </a:p>
        </p:txBody>
      </p:sp>
      <p:pic>
        <p:nvPicPr>
          <p:cNvPr id="25" name="Immagine 24">
            <a:extLst>
              <a:ext uri="{FF2B5EF4-FFF2-40B4-BE49-F238E27FC236}">
                <a16:creationId xmlns:a16="http://schemas.microsoft.com/office/drawing/2014/main" id="{F5ECF56B-919A-A99C-7417-3AB1ACFD546F}"/>
              </a:ext>
            </a:extLst>
          </p:cNvPr>
          <p:cNvPicPr>
            <a:picLocks noChangeAspect="1"/>
          </p:cNvPicPr>
          <p:nvPr/>
        </p:nvPicPr>
        <p:blipFill>
          <a:blip r:embed="rId4"/>
          <a:stretch>
            <a:fillRect/>
          </a:stretch>
        </p:blipFill>
        <p:spPr>
          <a:xfrm>
            <a:off x="8417742" y="3481195"/>
            <a:ext cx="395776" cy="346682"/>
          </a:xfrm>
          <a:prstGeom prst="rect">
            <a:avLst/>
          </a:prstGeom>
        </p:spPr>
      </p:pic>
      <p:pic>
        <p:nvPicPr>
          <p:cNvPr id="26" name="Picture 3">
            <a:extLst>
              <a:ext uri="{FF2B5EF4-FFF2-40B4-BE49-F238E27FC236}">
                <a16:creationId xmlns:a16="http://schemas.microsoft.com/office/drawing/2014/main" id="{288A8F20-2446-391B-C56D-08BF2111141F}"/>
              </a:ext>
            </a:extLst>
          </p:cNvPr>
          <p:cNvPicPr>
            <a:picLocks noChangeAspect="1"/>
          </p:cNvPicPr>
          <p:nvPr/>
        </p:nvPicPr>
        <p:blipFill>
          <a:blip r:embed="rId5"/>
          <a:srcRect l="48119" t="49875" r="6594" b="7799"/>
          <a:stretch/>
        </p:blipFill>
        <p:spPr>
          <a:xfrm>
            <a:off x="9116378" y="3468167"/>
            <a:ext cx="468626" cy="387915"/>
          </a:xfrm>
          <a:prstGeom prst="rect">
            <a:avLst/>
          </a:prstGeom>
        </p:spPr>
      </p:pic>
      <p:sp>
        <p:nvSpPr>
          <p:cNvPr id="27" name="CasellaDiTesto 26">
            <a:extLst>
              <a:ext uri="{FF2B5EF4-FFF2-40B4-BE49-F238E27FC236}">
                <a16:creationId xmlns:a16="http://schemas.microsoft.com/office/drawing/2014/main" id="{72CEBAE1-6EE3-86DE-EA0C-CE891FA75A34}"/>
              </a:ext>
            </a:extLst>
          </p:cNvPr>
          <p:cNvSpPr txBox="1"/>
          <p:nvPr/>
        </p:nvSpPr>
        <p:spPr>
          <a:xfrm>
            <a:off x="9556820" y="3537437"/>
            <a:ext cx="141092" cy="249374"/>
          </a:xfrm>
          <a:prstGeom prst="rect">
            <a:avLst/>
          </a:prstGeom>
          <a:noFill/>
        </p:spPr>
        <p:txBody>
          <a:bodyPr wrap="square" rtlCol="0">
            <a:spAutoFit/>
          </a:bodyPr>
          <a:lstStyle/>
          <a:p>
            <a:r>
              <a:rPr lang="it-IT" sz="1200">
                <a:solidFill>
                  <a:schemeClr val="bg1"/>
                </a:solidFill>
              </a:rPr>
              <a:t>+</a:t>
            </a:r>
          </a:p>
        </p:txBody>
      </p:sp>
      <p:sp>
        <p:nvSpPr>
          <p:cNvPr id="28" name="CasellaDiTesto 27">
            <a:extLst>
              <a:ext uri="{FF2B5EF4-FFF2-40B4-BE49-F238E27FC236}">
                <a16:creationId xmlns:a16="http://schemas.microsoft.com/office/drawing/2014/main" id="{6F6818BB-4AED-0EC6-1896-3334768E4133}"/>
              </a:ext>
            </a:extLst>
          </p:cNvPr>
          <p:cNvSpPr txBox="1"/>
          <p:nvPr/>
        </p:nvSpPr>
        <p:spPr>
          <a:xfrm>
            <a:off x="9706000" y="3219526"/>
            <a:ext cx="575995" cy="290969"/>
          </a:xfrm>
          <a:prstGeom prst="rect">
            <a:avLst/>
          </a:prstGeom>
          <a:noFill/>
        </p:spPr>
        <p:txBody>
          <a:bodyPr wrap="square" rtlCol="0">
            <a:spAutoFit/>
          </a:bodyPr>
          <a:lstStyle/>
          <a:p>
            <a:r>
              <a:rPr lang="it-IT" sz="1200">
                <a:solidFill>
                  <a:schemeClr val="bg1"/>
                </a:solidFill>
              </a:rPr>
              <a:t>Side</a:t>
            </a:r>
          </a:p>
        </p:txBody>
      </p:sp>
      <p:sp>
        <p:nvSpPr>
          <p:cNvPr id="29" name="CasellaDiTesto 28">
            <a:extLst>
              <a:ext uri="{FF2B5EF4-FFF2-40B4-BE49-F238E27FC236}">
                <a16:creationId xmlns:a16="http://schemas.microsoft.com/office/drawing/2014/main" id="{433EBAE8-1D2C-D72E-A424-85B936317675}"/>
              </a:ext>
            </a:extLst>
          </p:cNvPr>
          <p:cNvSpPr txBox="1"/>
          <p:nvPr/>
        </p:nvSpPr>
        <p:spPr>
          <a:xfrm>
            <a:off x="9147302" y="3218793"/>
            <a:ext cx="395776" cy="249374"/>
          </a:xfrm>
          <a:prstGeom prst="rect">
            <a:avLst/>
          </a:prstGeom>
          <a:noFill/>
        </p:spPr>
        <p:txBody>
          <a:bodyPr wrap="square" rtlCol="0">
            <a:spAutoFit/>
          </a:bodyPr>
          <a:lstStyle/>
          <a:p>
            <a:r>
              <a:rPr lang="it-IT" sz="1200">
                <a:solidFill>
                  <a:schemeClr val="bg1"/>
                </a:solidFill>
              </a:rPr>
              <a:t>CR</a:t>
            </a:r>
          </a:p>
        </p:txBody>
      </p:sp>
      <p:pic>
        <p:nvPicPr>
          <p:cNvPr id="30" name="Immagine 29">
            <a:extLst>
              <a:ext uri="{FF2B5EF4-FFF2-40B4-BE49-F238E27FC236}">
                <a16:creationId xmlns:a16="http://schemas.microsoft.com/office/drawing/2014/main" id="{482188DD-B272-3E55-0BB2-42E2C16D65C8}"/>
              </a:ext>
            </a:extLst>
          </p:cNvPr>
          <p:cNvPicPr>
            <a:picLocks noChangeAspect="1"/>
          </p:cNvPicPr>
          <p:nvPr/>
        </p:nvPicPr>
        <p:blipFill>
          <a:blip r:embed="rId7"/>
          <a:srcRect l="39092" t="93817" r="37303" b="-954"/>
          <a:stretch/>
        </p:blipFill>
        <p:spPr>
          <a:xfrm>
            <a:off x="7509195" y="6148736"/>
            <a:ext cx="1638106" cy="291216"/>
          </a:xfrm>
          <a:prstGeom prst="rect">
            <a:avLst/>
          </a:prstGeom>
        </p:spPr>
      </p:pic>
      <p:sp>
        <p:nvSpPr>
          <p:cNvPr id="31" name="Rettangolo 30">
            <a:extLst>
              <a:ext uri="{FF2B5EF4-FFF2-40B4-BE49-F238E27FC236}">
                <a16:creationId xmlns:a16="http://schemas.microsoft.com/office/drawing/2014/main" id="{0F875FD8-80C1-3608-E6CF-857D6642C770}"/>
              </a:ext>
            </a:extLst>
          </p:cNvPr>
          <p:cNvSpPr/>
          <p:nvPr/>
        </p:nvSpPr>
        <p:spPr>
          <a:xfrm>
            <a:off x="7835557" y="6148736"/>
            <a:ext cx="504907" cy="29121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2" name="Rettangolo 31">
            <a:extLst>
              <a:ext uri="{FF2B5EF4-FFF2-40B4-BE49-F238E27FC236}">
                <a16:creationId xmlns:a16="http://schemas.microsoft.com/office/drawing/2014/main" id="{69B748F3-C90F-48CD-1357-C6DF3F9BF353}"/>
              </a:ext>
            </a:extLst>
          </p:cNvPr>
          <p:cNvSpPr/>
          <p:nvPr/>
        </p:nvSpPr>
        <p:spPr>
          <a:xfrm>
            <a:off x="8529486" y="6156443"/>
            <a:ext cx="504907" cy="29121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xmlns:a14="http://schemas.microsoft.com/office/drawing/2010/main">
        <mc:Choice Requires="a14">
          <p:sp>
            <p:nvSpPr>
              <p:cNvPr id="33" name="CasellaDiTesto 32">
                <a:extLst>
                  <a:ext uri="{FF2B5EF4-FFF2-40B4-BE49-F238E27FC236}">
                    <a16:creationId xmlns:a16="http://schemas.microsoft.com/office/drawing/2014/main" id="{F519AFC3-5828-31CC-1D4F-03D727061D24}"/>
                  </a:ext>
                </a:extLst>
              </p:cNvPr>
              <p:cNvSpPr txBox="1"/>
              <p:nvPr/>
            </p:nvSpPr>
            <p:spPr>
              <a:xfrm>
                <a:off x="7828130" y="6142989"/>
                <a:ext cx="388544" cy="2499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solidFill>
                            <a:schemeClr val="bg1"/>
                          </a:solidFill>
                          <a:latin typeface="Cambria Math" panose="02040503050406030204" pitchFamily="18" charset="0"/>
                          <a:ea typeface="Cambria Math" panose="02040503050406030204" pitchFamily="18" charset="0"/>
                        </a:rPr>
                        <m:t>∆</m:t>
                      </m:r>
                      <m:sSub>
                        <m:sSubPr>
                          <m:ctrlPr>
                            <a:rPr lang="it-IT" i="1" smtClean="0">
                              <a:solidFill>
                                <a:schemeClr val="bg1"/>
                              </a:solidFill>
                              <a:latin typeface="Cambria Math" panose="02040503050406030204" pitchFamily="18" charset="0"/>
                              <a:ea typeface="Cambria Math" panose="02040503050406030204" pitchFamily="18" charset="0"/>
                            </a:rPr>
                          </m:ctrlPr>
                        </m:sSubPr>
                        <m:e>
                          <m:r>
                            <a:rPr lang="it-IT" b="0" i="1" smtClean="0">
                              <a:solidFill>
                                <a:schemeClr val="bg1"/>
                              </a:solidFill>
                              <a:latin typeface="Cambria Math" panose="02040503050406030204" pitchFamily="18" charset="0"/>
                              <a:ea typeface="Cambria Math" panose="02040503050406030204" pitchFamily="18" charset="0"/>
                            </a:rPr>
                            <m:t>𝑐</m:t>
                          </m:r>
                        </m:e>
                        <m:sub>
                          <m:r>
                            <a:rPr lang="it-IT" b="0" i="1" smtClean="0">
                              <a:solidFill>
                                <a:schemeClr val="bg1"/>
                              </a:solidFill>
                              <a:latin typeface="Cambria Math" panose="02040503050406030204" pitchFamily="18" charset="0"/>
                              <a:ea typeface="Cambria Math" panose="02040503050406030204" pitchFamily="18" charset="0"/>
                            </a:rPr>
                            <m:t>𝐷</m:t>
                          </m:r>
                        </m:sub>
                      </m:sSub>
                    </m:oMath>
                  </m:oMathPara>
                </a14:m>
                <a:endParaRPr lang="it-IT">
                  <a:solidFill>
                    <a:schemeClr val="bg1"/>
                  </a:solidFill>
                </a:endParaRPr>
              </a:p>
            </p:txBody>
          </p:sp>
        </mc:Choice>
        <mc:Fallback xmlns="">
          <p:sp>
            <p:nvSpPr>
              <p:cNvPr id="33" name="CasellaDiTesto 32">
                <a:extLst>
                  <a:ext uri="{FF2B5EF4-FFF2-40B4-BE49-F238E27FC236}">
                    <a16:creationId xmlns:a16="http://schemas.microsoft.com/office/drawing/2014/main" id="{F519AFC3-5828-31CC-1D4F-03D727061D24}"/>
                  </a:ext>
                </a:extLst>
              </p:cNvPr>
              <p:cNvSpPr txBox="1">
                <a:spLocks noRot="1" noChangeAspect="1" noMove="1" noResize="1" noEditPoints="1" noAdjustHandles="1" noChangeArrowheads="1" noChangeShapeType="1" noTextEdit="1"/>
              </p:cNvSpPr>
              <p:nvPr/>
            </p:nvSpPr>
            <p:spPr>
              <a:xfrm>
                <a:off x="7828130" y="6142989"/>
                <a:ext cx="388544" cy="249904"/>
              </a:xfrm>
              <a:prstGeom prst="rect">
                <a:avLst/>
              </a:prstGeom>
              <a:blipFill>
                <a:blip r:embed="rId12"/>
                <a:stretch>
                  <a:fillRect l="-17188" r="-10938" b="-29268"/>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4" name="CasellaDiTesto 33">
                <a:extLst>
                  <a:ext uri="{FF2B5EF4-FFF2-40B4-BE49-F238E27FC236}">
                    <a16:creationId xmlns:a16="http://schemas.microsoft.com/office/drawing/2014/main" id="{3DBC2D05-A2BF-1DF2-4413-CCEFEF4704A3}"/>
                  </a:ext>
                </a:extLst>
              </p:cNvPr>
              <p:cNvSpPr txBox="1"/>
              <p:nvPr/>
            </p:nvSpPr>
            <p:spPr>
              <a:xfrm>
                <a:off x="8603739" y="6144863"/>
                <a:ext cx="362795" cy="2499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solidFill>
                            <a:schemeClr val="bg1"/>
                          </a:solidFill>
                          <a:latin typeface="Cambria Math" panose="02040503050406030204" pitchFamily="18" charset="0"/>
                          <a:ea typeface="Cambria Math" panose="02040503050406030204" pitchFamily="18" charset="0"/>
                        </a:rPr>
                        <m:t>∆</m:t>
                      </m:r>
                      <m:sSub>
                        <m:sSubPr>
                          <m:ctrlPr>
                            <a:rPr lang="it-IT" i="1" smtClean="0">
                              <a:solidFill>
                                <a:schemeClr val="bg1"/>
                              </a:solidFill>
                              <a:latin typeface="Cambria Math" panose="02040503050406030204" pitchFamily="18" charset="0"/>
                              <a:ea typeface="Cambria Math" panose="02040503050406030204" pitchFamily="18" charset="0"/>
                            </a:rPr>
                          </m:ctrlPr>
                        </m:sSubPr>
                        <m:e>
                          <m:r>
                            <a:rPr lang="it-IT" b="0" i="1" smtClean="0">
                              <a:solidFill>
                                <a:schemeClr val="bg1"/>
                              </a:solidFill>
                              <a:latin typeface="Cambria Math" panose="02040503050406030204" pitchFamily="18" charset="0"/>
                              <a:ea typeface="Cambria Math" panose="02040503050406030204" pitchFamily="18" charset="0"/>
                            </a:rPr>
                            <m:t>𝑐</m:t>
                          </m:r>
                        </m:e>
                        <m:sub>
                          <m:r>
                            <a:rPr lang="it-IT" b="0" i="1" smtClean="0">
                              <a:solidFill>
                                <a:schemeClr val="bg1"/>
                              </a:solidFill>
                              <a:latin typeface="Cambria Math" panose="02040503050406030204" pitchFamily="18" charset="0"/>
                              <a:ea typeface="Cambria Math" panose="02040503050406030204" pitchFamily="18" charset="0"/>
                            </a:rPr>
                            <m:t>𝐿</m:t>
                          </m:r>
                        </m:sub>
                      </m:sSub>
                    </m:oMath>
                  </m:oMathPara>
                </a14:m>
                <a:endParaRPr lang="it-IT">
                  <a:solidFill>
                    <a:schemeClr val="bg1"/>
                  </a:solidFill>
                </a:endParaRPr>
              </a:p>
            </p:txBody>
          </p:sp>
        </mc:Choice>
        <mc:Fallback xmlns="">
          <p:sp>
            <p:nvSpPr>
              <p:cNvPr id="34" name="CasellaDiTesto 33">
                <a:extLst>
                  <a:ext uri="{FF2B5EF4-FFF2-40B4-BE49-F238E27FC236}">
                    <a16:creationId xmlns:a16="http://schemas.microsoft.com/office/drawing/2014/main" id="{3DBC2D05-A2BF-1DF2-4413-CCEFEF4704A3}"/>
                  </a:ext>
                </a:extLst>
              </p:cNvPr>
              <p:cNvSpPr txBox="1">
                <a:spLocks noRot="1" noChangeAspect="1" noMove="1" noResize="1" noEditPoints="1" noAdjustHandles="1" noChangeArrowheads="1" noChangeShapeType="1" noTextEdit="1"/>
              </p:cNvSpPr>
              <p:nvPr/>
            </p:nvSpPr>
            <p:spPr>
              <a:xfrm>
                <a:off x="8603739" y="6144863"/>
                <a:ext cx="362795" cy="249904"/>
              </a:xfrm>
              <a:prstGeom prst="rect">
                <a:avLst/>
              </a:prstGeom>
              <a:blipFill>
                <a:blip r:embed="rId13"/>
                <a:stretch>
                  <a:fillRect l="-18333" r="-10000" b="-31707"/>
                </a:stretch>
              </a:blipFill>
            </p:spPr>
            <p:txBody>
              <a:bodyPr/>
              <a:lstStyle/>
              <a:p>
                <a:r>
                  <a:rPr lang="it-IT">
                    <a:noFill/>
                  </a:rPr>
                  <a:t> </a:t>
                </a:r>
              </a:p>
            </p:txBody>
          </p:sp>
        </mc:Fallback>
      </mc:AlternateContent>
      <p:pic>
        <p:nvPicPr>
          <p:cNvPr id="35" name="Immagine 34">
            <a:extLst>
              <a:ext uri="{FF2B5EF4-FFF2-40B4-BE49-F238E27FC236}">
                <a16:creationId xmlns:a16="http://schemas.microsoft.com/office/drawing/2014/main" id="{AB1A32CB-1E9F-96BB-4D00-27E3AFD3902F}"/>
              </a:ext>
            </a:extLst>
          </p:cNvPr>
          <p:cNvPicPr>
            <a:picLocks noChangeAspect="1"/>
          </p:cNvPicPr>
          <p:nvPr/>
        </p:nvPicPr>
        <p:blipFill>
          <a:blip r:embed="rId10"/>
          <a:stretch>
            <a:fillRect/>
          </a:stretch>
        </p:blipFill>
        <p:spPr>
          <a:xfrm>
            <a:off x="9731097" y="3468167"/>
            <a:ext cx="395776" cy="336041"/>
          </a:xfrm>
          <a:prstGeom prst="rect">
            <a:avLst/>
          </a:prstGeom>
        </p:spPr>
      </p:pic>
      <p:cxnSp>
        <p:nvCxnSpPr>
          <p:cNvPr id="36" name="Connettore diritto 35">
            <a:extLst>
              <a:ext uri="{FF2B5EF4-FFF2-40B4-BE49-F238E27FC236}">
                <a16:creationId xmlns:a16="http://schemas.microsoft.com/office/drawing/2014/main" id="{5E7A2F77-8E98-EA20-1938-D809F36B847E}"/>
              </a:ext>
            </a:extLst>
          </p:cNvPr>
          <p:cNvCxnSpPr>
            <a:cxnSpLocks/>
          </p:cNvCxnSpPr>
          <p:nvPr/>
        </p:nvCxnSpPr>
        <p:spPr>
          <a:xfrm>
            <a:off x="5655400" y="1689791"/>
            <a:ext cx="0" cy="4844931"/>
          </a:xfrm>
          <a:prstGeom prst="line">
            <a:avLst/>
          </a:prstGeom>
          <a:ln w="38100">
            <a:solidFill>
              <a:srgbClr val="5D7D40"/>
            </a:solidFill>
          </a:ln>
        </p:spPr>
        <p:style>
          <a:lnRef idx="1">
            <a:schemeClr val="accent1"/>
          </a:lnRef>
          <a:fillRef idx="0">
            <a:schemeClr val="accent1"/>
          </a:fillRef>
          <a:effectRef idx="0">
            <a:schemeClr val="accent1"/>
          </a:effectRef>
          <a:fontRef idx="minor">
            <a:schemeClr val="tx1"/>
          </a:fontRef>
        </p:style>
      </p:cxnSp>
      <p:sp>
        <p:nvSpPr>
          <p:cNvPr id="38" name="Content Placeholder 5">
            <a:extLst>
              <a:ext uri="{FF2B5EF4-FFF2-40B4-BE49-F238E27FC236}">
                <a16:creationId xmlns:a16="http://schemas.microsoft.com/office/drawing/2014/main" id="{86985BC1-CF80-A4B5-6746-0C279D017051}"/>
              </a:ext>
            </a:extLst>
          </p:cNvPr>
          <p:cNvSpPr txBox="1">
            <a:spLocks/>
          </p:cNvSpPr>
          <p:nvPr/>
        </p:nvSpPr>
        <p:spPr>
          <a:xfrm>
            <a:off x="160140" y="6461948"/>
            <a:ext cx="11041259" cy="409860"/>
          </a:xfrm>
          <a:prstGeom prst="rect">
            <a:avLst/>
          </a:prstGeom>
        </p:spPr>
        <p:txBody>
          <a:bodyPr vert="horz" lIns="0" tIns="45720" rIns="0" bIns="0" rtlCol="0" anchor="t">
            <a:normAutofit/>
          </a:bodyPr>
          <a:lstStyle>
            <a:defPPr>
              <a:defRPr lang="en-US"/>
            </a:defPPr>
            <a:lvl1pPr marL="0" indent="0" algn="l" defTabSz="914400" rtl="0" eaLnBrk="1" latinLnBrk="0" hangingPunct="1">
              <a:lnSpc>
                <a:spcPct val="90000"/>
              </a:lnSpc>
              <a:spcBef>
                <a:spcPts val="1800"/>
              </a:spcBef>
              <a:buFont typeface="Arial" panose="020B0604020202020204" pitchFamily="34" charset="0"/>
              <a:buNone/>
              <a:defRPr sz="2000" b="0" i="0" kern="1200">
                <a:solidFill>
                  <a:schemeClr val="bg1"/>
                </a:solidFill>
                <a:latin typeface="+mn-lt"/>
                <a:ea typeface="+mn-ea"/>
                <a:cs typeface="+mn-cs"/>
              </a:defRPr>
            </a:lvl1pPr>
            <a:lvl2pPr marL="283464"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2pPr>
            <a:lvl3pPr marL="59436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3pPr>
            <a:lvl4pPr marL="82296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4pPr>
            <a:lvl5pPr marL="100584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b="1" dirty="0">
                <a:solidFill>
                  <a:srgbClr val="7CA655"/>
                </a:solidFill>
              </a:rPr>
              <a:t>Source: </a:t>
            </a:r>
            <a:r>
              <a:rPr lang="it-IT" dirty="0"/>
              <a:t>«</a:t>
            </a:r>
            <a:r>
              <a:rPr lang="en-US" sz="1600" dirty="0">
                <a:solidFill>
                  <a:srgbClr val="111111"/>
                </a:solidFill>
              </a:rPr>
              <a:t>Investigation of the influence of </a:t>
            </a:r>
            <a:r>
              <a:rPr lang="en-US" sz="1600" dirty="0" err="1">
                <a:solidFill>
                  <a:srgbClr val="111111"/>
                </a:solidFill>
              </a:rPr>
              <a:t>tyre</a:t>
            </a:r>
            <a:r>
              <a:rPr lang="en-US" sz="1600" dirty="0">
                <a:solidFill>
                  <a:srgbClr val="111111"/>
                </a:solidFill>
              </a:rPr>
              <a:t> geometry on the </a:t>
            </a:r>
            <a:r>
              <a:rPr lang="en-US" sz="1500" dirty="0">
                <a:solidFill>
                  <a:srgbClr val="111111"/>
                </a:solidFill>
              </a:rPr>
              <a:t>aerodynamics of passenger cars</a:t>
            </a:r>
            <a:r>
              <a:rPr lang="it-IT" sz="1900" dirty="0"/>
              <a:t>», </a:t>
            </a:r>
            <a:r>
              <a:rPr lang="en-US" sz="1500" dirty="0"/>
              <a:t>Teddy Hobeika , Simone Sebben</a:t>
            </a:r>
            <a:endParaRPr lang="en-US" sz="1600" dirty="0"/>
          </a:p>
          <a:p>
            <a:pPr marL="342900" indent="-342900">
              <a:lnSpc>
                <a:spcPct val="150000"/>
              </a:lnSpc>
              <a:spcBef>
                <a:spcPts val="0"/>
              </a:spcBef>
              <a:buFont typeface="Arial" panose="020B0604020202020204" pitchFamily="34" charset="0"/>
              <a:buChar char="•"/>
            </a:pPr>
            <a:endParaRPr lang="it-IT" sz="1600"/>
          </a:p>
          <a:p>
            <a:pPr marL="937260" lvl="2" indent="-342900"/>
            <a:endParaRPr lang="it-IT" b="1">
              <a:solidFill>
                <a:schemeClr val="tx2"/>
              </a:solidFill>
            </a:endParaRPr>
          </a:p>
          <a:p>
            <a:endParaRPr lang="en-US" b="1">
              <a:solidFill>
                <a:schemeClr val="tx2"/>
              </a:solidFill>
            </a:endParaRPr>
          </a:p>
        </p:txBody>
      </p:sp>
      <p:pic>
        <p:nvPicPr>
          <p:cNvPr id="40" name="Immagine 39">
            <a:extLst>
              <a:ext uri="{FF2B5EF4-FFF2-40B4-BE49-F238E27FC236}">
                <a16:creationId xmlns:a16="http://schemas.microsoft.com/office/drawing/2014/main" id="{13287D91-A170-2A14-CCDB-5ACF480BEC92}"/>
              </a:ext>
            </a:extLst>
          </p:cNvPr>
          <p:cNvPicPr>
            <a:picLocks noChangeAspect="1"/>
          </p:cNvPicPr>
          <p:nvPr/>
        </p:nvPicPr>
        <p:blipFill>
          <a:blip r:embed="rId14"/>
          <a:stretch>
            <a:fillRect/>
          </a:stretch>
        </p:blipFill>
        <p:spPr>
          <a:xfrm>
            <a:off x="397566" y="3954059"/>
            <a:ext cx="4816709" cy="2040933"/>
          </a:xfrm>
          <a:prstGeom prst="rect">
            <a:avLst/>
          </a:prstGeom>
        </p:spPr>
      </p:pic>
      <p:pic>
        <p:nvPicPr>
          <p:cNvPr id="42" name="Immagine 41">
            <a:extLst>
              <a:ext uri="{FF2B5EF4-FFF2-40B4-BE49-F238E27FC236}">
                <a16:creationId xmlns:a16="http://schemas.microsoft.com/office/drawing/2014/main" id="{8D34FCC2-96A1-9FEF-CD18-47B6653E9E90}"/>
              </a:ext>
            </a:extLst>
          </p:cNvPr>
          <p:cNvPicPr>
            <a:picLocks noChangeAspect="1"/>
          </p:cNvPicPr>
          <p:nvPr/>
        </p:nvPicPr>
        <p:blipFill>
          <a:blip r:embed="rId15"/>
          <a:stretch>
            <a:fillRect/>
          </a:stretch>
        </p:blipFill>
        <p:spPr>
          <a:xfrm>
            <a:off x="5885545" y="3996883"/>
            <a:ext cx="4396449" cy="2061052"/>
          </a:xfrm>
          <a:prstGeom prst="rect">
            <a:avLst/>
          </a:prstGeom>
        </p:spPr>
      </p:pic>
    </p:spTree>
    <p:extLst>
      <p:ext uri="{BB962C8B-B14F-4D97-AF65-F5344CB8AC3E}">
        <p14:creationId xmlns:p14="http://schemas.microsoft.com/office/powerpoint/2010/main" val="988028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C2072-7E0D-FC09-3130-1F0F0506E6E2}"/>
            </a:ext>
          </a:extLst>
        </p:cNvPr>
        <p:cNvGrpSpPr/>
        <p:nvPr/>
      </p:nvGrpSpPr>
      <p:grpSpPr>
        <a:xfrm>
          <a:off x="0" y="0"/>
          <a:ext cx="0" cy="0"/>
          <a:chOff x="0" y="0"/>
          <a:chExt cx="0" cy="0"/>
        </a:xfrm>
      </p:grpSpPr>
      <p:pic>
        <p:nvPicPr>
          <p:cNvPr id="204" name="Immagine 203">
            <a:extLst>
              <a:ext uri="{FF2B5EF4-FFF2-40B4-BE49-F238E27FC236}">
                <a16:creationId xmlns:a16="http://schemas.microsoft.com/office/drawing/2014/main" id="{B102F073-193F-EA1B-13DB-1AB18A21BF29}"/>
              </a:ext>
            </a:extLst>
          </p:cNvPr>
          <p:cNvPicPr>
            <a:picLocks noChangeAspect="1"/>
          </p:cNvPicPr>
          <p:nvPr/>
        </p:nvPicPr>
        <p:blipFill>
          <a:blip r:embed="rId3"/>
          <a:stretch>
            <a:fillRect/>
          </a:stretch>
        </p:blipFill>
        <p:spPr>
          <a:xfrm>
            <a:off x="4126814" y="3473317"/>
            <a:ext cx="519583" cy="411545"/>
          </a:xfrm>
          <a:prstGeom prst="rect">
            <a:avLst/>
          </a:prstGeom>
        </p:spPr>
      </p:pic>
      <p:pic>
        <p:nvPicPr>
          <p:cNvPr id="200" name="Immagine 199">
            <a:extLst>
              <a:ext uri="{FF2B5EF4-FFF2-40B4-BE49-F238E27FC236}">
                <a16:creationId xmlns:a16="http://schemas.microsoft.com/office/drawing/2014/main" id="{0F3A8786-6A0E-4111-65DD-B51003F30A56}"/>
              </a:ext>
            </a:extLst>
          </p:cNvPr>
          <p:cNvPicPr>
            <a:picLocks noChangeAspect="1"/>
          </p:cNvPicPr>
          <p:nvPr/>
        </p:nvPicPr>
        <p:blipFill>
          <a:blip r:embed="rId4"/>
          <a:stretch>
            <a:fillRect/>
          </a:stretch>
        </p:blipFill>
        <p:spPr>
          <a:xfrm>
            <a:off x="2898956" y="1942178"/>
            <a:ext cx="857070" cy="727711"/>
          </a:xfrm>
          <a:prstGeom prst="rect">
            <a:avLst/>
          </a:prstGeom>
        </p:spPr>
      </p:pic>
      <p:sp>
        <p:nvSpPr>
          <p:cNvPr id="2" name="Title 1">
            <a:extLst>
              <a:ext uri="{FF2B5EF4-FFF2-40B4-BE49-F238E27FC236}">
                <a16:creationId xmlns:a16="http://schemas.microsoft.com/office/drawing/2014/main" id="{50E4A343-616C-C14B-BC57-A107C51C4B8D}"/>
              </a:ext>
            </a:extLst>
          </p:cNvPr>
          <p:cNvSpPr>
            <a:spLocks noGrp="1"/>
          </p:cNvSpPr>
          <p:nvPr>
            <p:ph type="title"/>
          </p:nvPr>
        </p:nvSpPr>
        <p:spPr>
          <a:xfrm>
            <a:off x="594360" y="278129"/>
            <a:ext cx="9778365" cy="727711"/>
          </a:xfrm>
        </p:spPr>
        <p:txBody>
          <a:bodyPr/>
          <a:lstStyle/>
          <a:p>
            <a:r>
              <a:rPr lang="en-US"/>
              <a:t>Influence of </a:t>
            </a:r>
            <a:r>
              <a:rPr lang="en-US" err="1"/>
              <a:t>tyre</a:t>
            </a:r>
            <a:r>
              <a:rPr lang="en-US"/>
              <a:t> grooves</a:t>
            </a:r>
          </a:p>
        </p:txBody>
      </p:sp>
      <p:pic>
        <p:nvPicPr>
          <p:cNvPr id="3" name="Picture 2">
            <a:extLst>
              <a:ext uri="{FF2B5EF4-FFF2-40B4-BE49-F238E27FC236}">
                <a16:creationId xmlns:a16="http://schemas.microsoft.com/office/drawing/2014/main" id="{8D353892-EC14-C66F-DA5C-1F48204A1CAC}"/>
              </a:ext>
            </a:extLst>
          </p:cNvPr>
          <p:cNvPicPr>
            <a:picLocks noChangeAspect="1"/>
          </p:cNvPicPr>
          <p:nvPr/>
        </p:nvPicPr>
        <p:blipFill>
          <a:blip r:embed="rId5"/>
          <a:stretch>
            <a:fillRect/>
          </a:stretch>
        </p:blipFill>
        <p:spPr>
          <a:xfrm>
            <a:off x="11227317" y="5949493"/>
            <a:ext cx="876422" cy="838317"/>
          </a:xfrm>
          <a:prstGeom prst="rect">
            <a:avLst/>
          </a:prstGeom>
        </p:spPr>
      </p:pic>
      <p:cxnSp>
        <p:nvCxnSpPr>
          <p:cNvPr id="10" name="Connettore diritto 9">
            <a:extLst>
              <a:ext uri="{FF2B5EF4-FFF2-40B4-BE49-F238E27FC236}">
                <a16:creationId xmlns:a16="http://schemas.microsoft.com/office/drawing/2014/main" id="{4D681868-0380-B25E-E0FF-2AF3F6F9EF63}"/>
              </a:ext>
            </a:extLst>
          </p:cNvPr>
          <p:cNvCxnSpPr>
            <a:cxnSpLocks/>
          </p:cNvCxnSpPr>
          <p:nvPr/>
        </p:nvCxnSpPr>
        <p:spPr>
          <a:xfrm>
            <a:off x="594360" y="1329055"/>
            <a:ext cx="2136140" cy="0"/>
          </a:xfrm>
          <a:prstGeom prst="line">
            <a:avLst/>
          </a:prstGeom>
          <a:ln w="101600">
            <a:solidFill>
              <a:srgbClr val="5D7D40"/>
            </a:solidFill>
          </a:ln>
        </p:spPr>
        <p:style>
          <a:lnRef idx="1">
            <a:schemeClr val="accent1"/>
          </a:lnRef>
          <a:fillRef idx="0">
            <a:schemeClr val="accent1"/>
          </a:fillRef>
          <a:effectRef idx="0">
            <a:schemeClr val="accent1"/>
          </a:effectRef>
          <a:fontRef idx="minor">
            <a:schemeClr val="tx1"/>
          </a:fontRef>
        </p:style>
      </p:cxnSp>
      <p:sp>
        <p:nvSpPr>
          <p:cNvPr id="166" name="Rettangolo 165">
            <a:extLst>
              <a:ext uri="{FF2B5EF4-FFF2-40B4-BE49-F238E27FC236}">
                <a16:creationId xmlns:a16="http://schemas.microsoft.com/office/drawing/2014/main" id="{769982A4-8154-F1E1-8394-9822B327650A}"/>
              </a:ext>
            </a:extLst>
          </p:cNvPr>
          <p:cNvSpPr/>
          <p:nvPr/>
        </p:nvSpPr>
        <p:spPr>
          <a:xfrm>
            <a:off x="594360" y="2052320"/>
            <a:ext cx="2136140" cy="19301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38" name="Immagine 137">
            <a:extLst>
              <a:ext uri="{FF2B5EF4-FFF2-40B4-BE49-F238E27FC236}">
                <a16:creationId xmlns:a16="http://schemas.microsoft.com/office/drawing/2014/main" id="{575C907D-848C-73DA-64FE-B1B5E25E16BE}"/>
              </a:ext>
            </a:extLst>
          </p:cNvPr>
          <p:cNvPicPr>
            <a:picLocks noChangeAspect="1"/>
          </p:cNvPicPr>
          <p:nvPr/>
        </p:nvPicPr>
        <p:blipFill>
          <a:blip r:embed="rId6"/>
          <a:stretch>
            <a:fillRect/>
          </a:stretch>
        </p:blipFill>
        <p:spPr>
          <a:xfrm>
            <a:off x="1847345" y="3486732"/>
            <a:ext cx="438811" cy="330911"/>
          </a:xfrm>
          <a:prstGeom prst="rect">
            <a:avLst/>
          </a:prstGeom>
        </p:spPr>
      </p:pic>
      <p:sp>
        <p:nvSpPr>
          <p:cNvPr id="140" name="CasellaDiTesto 139">
            <a:extLst>
              <a:ext uri="{FF2B5EF4-FFF2-40B4-BE49-F238E27FC236}">
                <a16:creationId xmlns:a16="http://schemas.microsoft.com/office/drawing/2014/main" id="{5EA3FE83-C606-E29F-3040-7874C901BDD0}"/>
              </a:ext>
            </a:extLst>
          </p:cNvPr>
          <p:cNvSpPr txBox="1"/>
          <p:nvPr/>
        </p:nvSpPr>
        <p:spPr>
          <a:xfrm>
            <a:off x="1639121" y="3544121"/>
            <a:ext cx="156434" cy="212730"/>
          </a:xfrm>
          <a:prstGeom prst="rect">
            <a:avLst/>
          </a:prstGeom>
          <a:noFill/>
        </p:spPr>
        <p:txBody>
          <a:bodyPr wrap="square" rtlCol="0">
            <a:spAutoFit/>
          </a:bodyPr>
          <a:lstStyle/>
          <a:p>
            <a:r>
              <a:rPr lang="it-IT" sz="1200">
                <a:solidFill>
                  <a:schemeClr val="bg1"/>
                </a:solidFill>
              </a:rPr>
              <a:t>+</a:t>
            </a:r>
          </a:p>
        </p:txBody>
      </p:sp>
      <p:sp>
        <p:nvSpPr>
          <p:cNvPr id="141" name="CasellaDiTesto 140">
            <a:extLst>
              <a:ext uri="{FF2B5EF4-FFF2-40B4-BE49-F238E27FC236}">
                <a16:creationId xmlns:a16="http://schemas.microsoft.com/office/drawing/2014/main" id="{FA53F78C-2911-A5CF-8426-111081CD68D6}"/>
              </a:ext>
            </a:extLst>
          </p:cNvPr>
          <p:cNvSpPr txBox="1"/>
          <p:nvPr/>
        </p:nvSpPr>
        <p:spPr>
          <a:xfrm>
            <a:off x="3146253" y="3545822"/>
            <a:ext cx="156434" cy="212730"/>
          </a:xfrm>
          <a:prstGeom prst="rect">
            <a:avLst/>
          </a:prstGeom>
          <a:noFill/>
        </p:spPr>
        <p:txBody>
          <a:bodyPr wrap="square" rtlCol="0">
            <a:spAutoFit/>
          </a:bodyPr>
          <a:lstStyle/>
          <a:p>
            <a:r>
              <a:rPr lang="it-IT" sz="1200">
                <a:solidFill>
                  <a:schemeClr val="bg1"/>
                </a:solidFill>
              </a:rPr>
              <a:t>+</a:t>
            </a:r>
          </a:p>
        </p:txBody>
      </p:sp>
      <p:sp>
        <p:nvSpPr>
          <p:cNvPr id="142" name="CasellaDiTesto 141">
            <a:extLst>
              <a:ext uri="{FF2B5EF4-FFF2-40B4-BE49-F238E27FC236}">
                <a16:creationId xmlns:a16="http://schemas.microsoft.com/office/drawing/2014/main" id="{0915A447-5D20-F420-5DC4-81C0712E2148}"/>
              </a:ext>
            </a:extLst>
          </p:cNvPr>
          <p:cNvSpPr txBox="1"/>
          <p:nvPr/>
        </p:nvSpPr>
        <p:spPr>
          <a:xfrm>
            <a:off x="1180746" y="3232318"/>
            <a:ext cx="438811" cy="276999"/>
          </a:xfrm>
          <a:prstGeom prst="rect">
            <a:avLst/>
          </a:prstGeom>
          <a:noFill/>
        </p:spPr>
        <p:txBody>
          <a:bodyPr wrap="square" rtlCol="0">
            <a:spAutoFit/>
          </a:bodyPr>
          <a:lstStyle/>
          <a:p>
            <a:r>
              <a:rPr lang="it-IT" sz="1200">
                <a:solidFill>
                  <a:schemeClr val="bg1"/>
                </a:solidFill>
              </a:rPr>
              <a:t>OR</a:t>
            </a:r>
          </a:p>
        </p:txBody>
      </p:sp>
      <p:sp>
        <p:nvSpPr>
          <p:cNvPr id="143" name="CasellaDiTesto 142">
            <a:extLst>
              <a:ext uri="{FF2B5EF4-FFF2-40B4-BE49-F238E27FC236}">
                <a16:creationId xmlns:a16="http://schemas.microsoft.com/office/drawing/2014/main" id="{DDEFE456-2F22-DE59-2339-9C5441BADCCF}"/>
              </a:ext>
            </a:extLst>
          </p:cNvPr>
          <p:cNvSpPr txBox="1"/>
          <p:nvPr/>
        </p:nvSpPr>
        <p:spPr>
          <a:xfrm>
            <a:off x="1848481" y="3232317"/>
            <a:ext cx="519582" cy="212730"/>
          </a:xfrm>
          <a:prstGeom prst="rect">
            <a:avLst/>
          </a:prstGeom>
          <a:noFill/>
        </p:spPr>
        <p:txBody>
          <a:bodyPr wrap="square" rtlCol="0">
            <a:spAutoFit/>
          </a:bodyPr>
          <a:lstStyle/>
          <a:p>
            <a:r>
              <a:rPr lang="it-IT" sz="1200">
                <a:solidFill>
                  <a:schemeClr val="bg1"/>
                </a:solidFill>
              </a:rPr>
              <a:t>Slick</a:t>
            </a:r>
          </a:p>
        </p:txBody>
      </p:sp>
      <p:sp>
        <p:nvSpPr>
          <p:cNvPr id="144" name="CasellaDiTesto 143">
            <a:extLst>
              <a:ext uri="{FF2B5EF4-FFF2-40B4-BE49-F238E27FC236}">
                <a16:creationId xmlns:a16="http://schemas.microsoft.com/office/drawing/2014/main" id="{BBC46083-915E-F442-1509-086477D548A2}"/>
              </a:ext>
            </a:extLst>
          </p:cNvPr>
          <p:cNvSpPr txBox="1"/>
          <p:nvPr/>
        </p:nvSpPr>
        <p:spPr>
          <a:xfrm>
            <a:off x="3330179" y="3232317"/>
            <a:ext cx="519583" cy="229507"/>
          </a:xfrm>
          <a:prstGeom prst="rect">
            <a:avLst/>
          </a:prstGeom>
          <a:noFill/>
        </p:spPr>
        <p:txBody>
          <a:bodyPr wrap="square" rtlCol="0">
            <a:spAutoFit/>
          </a:bodyPr>
          <a:lstStyle/>
          <a:p>
            <a:r>
              <a:rPr lang="it-IT" sz="1200" err="1">
                <a:solidFill>
                  <a:schemeClr val="bg1"/>
                </a:solidFill>
              </a:rPr>
              <a:t>Rain</a:t>
            </a:r>
            <a:endParaRPr lang="it-IT" sz="1200">
              <a:solidFill>
                <a:schemeClr val="bg1"/>
              </a:solidFill>
            </a:endParaRPr>
          </a:p>
        </p:txBody>
      </p:sp>
      <p:sp>
        <p:nvSpPr>
          <p:cNvPr id="145" name="CasellaDiTesto 144">
            <a:extLst>
              <a:ext uri="{FF2B5EF4-FFF2-40B4-BE49-F238E27FC236}">
                <a16:creationId xmlns:a16="http://schemas.microsoft.com/office/drawing/2014/main" id="{86EA4E0A-3051-823B-7E54-2B5755E82453}"/>
              </a:ext>
            </a:extLst>
          </p:cNvPr>
          <p:cNvSpPr txBox="1"/>
          <p:nvPr/>
        </p:nvSpPr>
        <p:spPr>
          <a:xfrm>
            <a:off x="2693342" y="3232317"/>
            <a:ext cx="438811" cy="276999"/>
          </a:xfrm>
          <a:prstGeom prst="rect">
            <a:avLst/>
          </a:prstGeom>
          <a:noFill/>
        </p:spPr>
        <p:txBody>
          <a:bodyPr wrap="square" rtlCol="0">
            <a:spAutoFit/>
          </a:bodyPr>
          <a:lstStyle/>
          <a:p>
            <a:r>
              <a:rPr lang="it-IT" sz="1200">
                <a:solidFill>
                  <a:schemeClr val="bg1"/>
                </a:solidFill>
              </a:rPr>
              <a:t>OR</a:t>
            </a:r>
          </a:p>
        </p:txBody>
      </p:sp>
      <p:sp>
        <p:nvSpPr>
          <p:cNvPr id="148" name="CasellaDiTesto 147">
            <a:extLst>
              <a:ext uri="{FF2B5EF4-FFF2-40B4-BE49-F238E27FC236}">
                <a16:creationId xmlns:a16="http://schemas.microsoft.com/office/drawing/2014/main" id="{2B918D7D-9BB0-0DA2-0044-20A73FDA96F2}"/>
              </a:ext>
            </a:extLst>
          </p:cNvPr>
          <p:cNvSpPr txBox="1"/>
          <p:nvPr/>
        </p:nvSpPr>
        <p:spPr>
          <a:xfrm>
            <a:off x="4615149" y="3527456"/>
            <a:ext cx="156434" cy="212730"/>
          </a:xfrm>
          <a:prstGeom prst="rect">
            <a:avLst/>
          </a:prstGeom>
          <a:noFill/>
        </p:spPr>
        <p:txBody>
          <a:bodyPr wrap="square" rtlCol="0">
            <a:spAutoFit/>
          </a:bodyPr>
          <a:lstStyle/>
          <a:p>
            <a:r>
              <a:rPr lang="it-IT" sz="1200">
                <a:solidFill>
                  <a:schemeClr val="bg1"/>
                </a:solidFill>
              </a:rPr>
              <a:t>+</a:t>
            </a:r>
          </a:p>
        </p:txBody>
      </p:sp>
      <p:sp>
        <p:nvSpPr>
          <p:cNvPr id="149" name="CasellaDiTesto 148">
            <a:extLst>
              <a:ext uri="{FF2B5EF4-FFF2-40B4-BE49-F238E27FC236}">
                <a16:creationId xmlns:a16="http://schemas.microsoft.com/office/drawing/2014/main" id="{EE35447F-B693-32BF-82CD-D8DB74A8D1F6}"/>
              </a:ext>
            </a:extLst>
          </p:cNvPr>
          <p:cNvSpPr txBox="1"/>
          <p:nvPr/>
        </p:nvSpPr>
        <p:spPr>
          <a:xfrm>
            <a:off x="4837470" y="3213951"/>
            <a:ext cx="514543" cy="229507"/>
          </a:xfrm>
          <a:prstGeom prst="rect">
            <a:avLst/>
          </a:prstGeom>
          <a:noFill/>
        </p:spPr>
        <p:txBody>
          <a:bodyPr wrap="square" rtlCol="0">
            <a:spAutoFit/>
          </a:bodyPr>
          <a:lstStyle/>
          <a:p>
            <a:r>
              <a:rPr lang="it-IT" sz="1200" err="1">
                <a:solidFill>
                  <a:schemeClr val="bg1"/>
                </a:solidFill>
              </a:rPr>
              <a:t>Lat</a:t>
            </a:r>
            <a:r>
              <a:rPr lang="it-IT" sz="1200">
                <a:solidFill>
                  <a:schemeClr val="bg1"/>
                </a:solidFill>
              </a:rPr>
              <a:t>.</a:t>
            </a:r>
          </a:p>
        </p:txBody>
      </p:sp>
      <p:sp>
        <p:nvSpPr>
          <p:cNvPr id="150" name="CasellaDiTesto 149">
            <a:extLst>
              <a:ext uri="{FF2B5EF4-FFF2-40B4-BE49-F238E27FC236}">
                <a16:creationId xmlns:a16="http://schemas.microsoft.com/office/drawing/2014/main" id="{F8BE7A9E-5AE6-2A5C-5383-1A6A46ED8EF6}"/>
              </a:ext>
            </a:extLst>
          </p:cNvPr>
          <p:cNvSpPr txBox="1"/>
          <p:nvPr/>
        </p:nvSpPr>
        <p:spPr>
          <a:xfrm>
            <a:off x="4162237" y="3213951"/>
            <a:ext cx="438811" cy="276999"/>
          </a:xfrm>
          <a:prstGeom prst="rect">
            <a:avLst/>
          </a:prstGeom>
          <a:noFill/>
        </p:spPr>
        <p:txBody>
          <a:bodyPr wrap="square" rtlCol="0">
            <a:spAutoFit/>
          </a:bodyPr>
          <a:lstStyle/>
          <a:p>
            <a:r>
              <a:rPr lang="it-IT" sz="1200">
                <a:solidFill>
                  <a:schemeClr val="bg1"/>
                </a:solidFill>
              </a:rPr>
              <a:t>OR</a:t>
            </a:r>
          </a:p>
        </p:txBody>
      </p:sp>
      <p:pic>
        <p:nvPicPr>
          <p:cNvPr id="154" name="Immagine 153">
            <a:extLst>
              <a:ext uri="{FF2B5EF4-FFF2-40B4-BE49-F238E27FC236}">
                <a16:creationId xmlns:a16="http://schemas.microsoft.com/office/drawing/2014/main" id="{AE99C635-1904-509F-A59E-CB646AB2AA9E}"/>
              </a:ext>
            </a:extLst>
          </p:cNvPr>
          <p:cNvPicPr>
            <a:picLocks noChangeAspect="1"/>
          </p:cNvPicPr>
          <p:nvPr/>
        </p:nvPicPr>
        <p:blipFill>
          <a:blip r:embed="rId7"/>
          <a:srcRect l="39092" t="93817" r="37303" b="-954"/>
          <a:stretch/>
        </p:blipFill>
        <p:spPr>
          <a:xfrm>
            <a:off x="2366926" y="6048186"/>
            <a:ext cx="1816229" cy="248424"/>
          </a:xfrm>
          <a:prstGeom prst="rect">
            <a:avLst/>
          </a:prstGeom>
        </p:spPr>
      </p:pic>
      <p:sp>
        <p:nvSpPr>
          <p:cNvPr id="155" name="Rettangolo 154">
            <a:extLst>
              <a:ext uri="{FF2B5EF4-FFF2-40B4-BE49-F238E27FC236}">
                <a16:creationId xmlns:a16="http://schemas.microsoft.com/office/drawing/2014/main" id="{378763B5-8966-D91D-6EB5-552BCFA2D3C0}"/>
              </a:ext>
            </a:extLst>
          </p:cNvPr>
          <p:cNvSpPr/>
          <p:nvPr/>
        </p:nvSpPr>
        <p:spPr>
          <a:xfrm>
            <a:off x="2728776" y="6048186"/>
            <a:ext cx="559809" cy="24842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6" name="Rettangolo 155">
            <a:extLst>
              <a:ext uri="{FF2B5EF4-FFF2-40B4-BE49-F238E27FC236}">
                <a16:creationId xmlns:a16="http://schemas.microsoft.com/office/drawing/2014/main" id="{109B8E71-7FA6-BD4E-D025-A7B8EB93D0B8}"/>
              </a:ext>
            </a:extLst>
          </p:cNvPr>
          <p:cNvSpPr/>
          <p:nvPr/>
        </p:nvSpPr>
        <p:spPr>
          <a:xfrm>
            <a:off x="3498161" y="6054760"/>
            <a:ext cx="559809" cy="24842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xmlns:a14="http://schemas.microsoft.com/office/drawing/2010/main">
        <mc:Choice Requires="a14">
          <p:sp>
            <p:nvSpPr>
              <p:cNvPr id="157" name="CasellaDiTesto 156">
                <a:extLst>
                  <a:ext uri="{FF2B5EF4-FFF2-40B4-BE49-F238E27FC236}">
                    <a16:creationId xmlns:a16="http://schemas.microsoft.com/office/drawing/2014/main" id="{41CE7FEC-962E-F930-3C15-8B05D4CABFA4}"/>
                  </a:ext>
                </a:extLst>
              </p:cNvPr>
              <p:cNvSpPr txBox="1"/>
              <p:nvPr/>
            </p:nvSpPr>
            <p:spPr>
              <a:xfrm>
                <a:off x="2720541" y="6043283"/>
                <a:ext cx="430794" cy="213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solidFill>
                            <a:schemeClr val="bg1"/>
                          </a:solidFill>
                          <a:latin typeface="Cambria Math" panose="02040503050406030204" pitchFamily="18" charset="0"/>
                          <a:ea typeface="Cambria Math" panose="02040503050406030204" pitchFamily="18" charset="0"/>
                        </a:rPr>
                        <m:t>∆</m:t>
                      </m:r>
                      <m:sSub>
                        <m:sSubPr>
                          <m:ctrlPr>
                            <a:rPr lang="it-IT" i="1" smtClean="0">
                              <a:solidFill>
                                <a:schemeClr val="bg1"/>
                              </a:solidFill>
                              <a:latin typeface="Cambria Math" panose="02040503050406030204" pitchFamily="18" charset="0"/>
                              <a:ea typeface="Cambria Math" panose="02040503050406030204" pitchFamily="18" charset="0"/>
                            </a:rPr>
                          </m:ctrlPr>
                        </m:sSubPr>
                        <m:e>
                          <m:r>
                            <a:rPr lang="it-IT" b="0" i="1" smtClean="0">
                              <a:solidFill>
                                <a:schemeClr val="bg1"/>
                              </a:solidFill>
                              <a:latin typeface="Cambria Math" panose="02040503050406030204" pitchFamily="18" charset="0"/>
                              <a:ea typeface="Cambria Math" panose="02040503050406030204" pitchFamily="18" charset="0"/>
                            </a:rPr>
                            <m:t>𝑐</m:t>
                          </m:r>
                        </m:e>
                        <m:sub>
                          <m:r>
                            <a:rPr lang="it-IT" b="0" i="1" smtClean="0">
                              <a:solidFill>
                                <a:schemeClr val="bg1"/>
                              </a:solidFill>
                              <a:latin typeface="Cambria Math" panose="02040503050406030204" pitchFamily="18" charset="0"/>
                              <a:ea typeface="Cambria Math" panose="02040503050406030204" pitchFamily="18" charset="0"/>
                            </a:rPr>
                            <m:t>𝐷</m:t>
                          </m:r>
                        </m:sub>
                      </m:sSub>
                    </m:oMath>
                  </m:oMathPara>
                </a14:m>
                <a:endParaRPr lang="it-IT" dirty="0">
                  <a:solidFill>
                    <a:schemeClr val="bg1"/>
                  </a:solidFill>
                </a:endParaRPr>
              </a:p>
            </p:txBody>
          </p:sp>
        </mc:Choice>
        <mc:Fallback xmlns="">
          <p:sp>
            <p:nvSpPr>
              <p:cNvPr id="157" name="CasellaDiTesto 156">
                <a:extLst>
                  <a:ext uri="{FF2B5EF4-FFF2-40B4-BE49-F238E27FC236}">
                    <a16:creationId xmlns:a16="http://schemas.microsoft.com/office/drawing/2014/main" id="{41CE7FEC-962E-F930-3C15-8B05D4CABFA4}"/>
                  </a:ext>
                </a:extLst>
              </p:cNvPr>
              <p:cNvSpPr txBox="1">
                <a:spLocks noRot="1" noChangeAspect="1" noMove="1" noResize="1" noEditPoints="1" noAdjustHandles="1" noChangeArrowheads="1" noChangeShapeType="1" noTextEdit="1"/>
              </p:cNvSpPr>
              <p:nvPr/>
            </p:nvSpPr>
            <p:spPr>
              <a:xfrm>
                <a:off x="2720541" y="6043283"/>
                <a:ext cx="430794" cy="213182"/>
              </a:xfrm>
              <a:prstGeom prst="rect">
                <a:avLst/>
              </a:prstGeom>
              <a:blipFill>
                <a:blip r:embed="rId8"/>
                <a:stretch>
                  <a:fillRect l="-11268" r="-4225" b="-5428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8" name="CasellaDiTesto 157">
                <a:extLst>
                  <a:ext uri="{FF2B5EF4-FFF2-40B4-BE49-F238E27FC236}">
                    <a16:creationId xmlns:a16="http://schemas.microsoft.com/office/drawing/2014/main" id="{465E6EFD-763B-179B-BBB1-47D10622486F}"/>
                  </a:ext>
                </a:extLst>
              </p:cNvPr>
              <p:cNvSpPr txBox="1"/>
              <p:nvPr/>
            </p:nvSpPr>
            <p:spPr>
              <a:xfrm>
                <a:off x="3580487" y="6044882"/>
                <a:ext cx="402244" cy="213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solidFill>
                            <a:schemeClr val="bg1"/>
                          </a:solidFill>
                          <a:latin typeface="Cambria Math" panose="02040503050406030204" pitchFamily="18" charset="0"/>
                          <a:ea typeface="Cambria Math" panose="02040503050406030204" pitchFamily="18" charset="0"/>
                        </a:rPr>
                        <m:t>∆</m:t>
                      </m:r>
                      <m:sSub>
                        <m:sSubPr>
                          <m:ctrlPr>
                            <a:rPr lang="it-IT" i="1" smtClean="0">
                              <a:solidFill>
                                <a:schemeClr val="bg1"/>
                              </a:solidFill>
                              <a:latin typeface="Cambria Math" panose="02040503050406030204" pitchFamily="18" charset="0"/>
                              <a:ea typeface="Cambria Math" panose="02040503050406030204" pitchFamily="18" charset="0"/>
                            </a:rPr>
                          </m:ctrlPr>
                        </m:sSubPr>
                        <m:e>
                          <m:r>
                            <a:rPr lang="it-IT" b="0" i="1" smtClean="0">
                              <a:solidFill>
                                <a:schemeClr val="bg1"/>
                              </a:solidFill>
                              <a:latin typeface="Cambria Math" panose="02040503050406030204" pitchFamily="18" charset="0"/>
                              <a:ea typeface="Cambria Math" panose="02040503050406030204" pitchFamily="18" charset="0"/>
                            </a:rPr>
                            <m:t>𝑐</m:t>
                          </m:r>
                        </m:e>
                        <m:sub>
                          <m:r>
                            <a:rPr lang="it-IT" b="0" i="1" smtClean="0">
                              <a:solidFill>
                                <a:schemeClr val="bg1"/>
                              </a:solidFill>
                              <a:latin typeface="Cambria Math" panose="02040503050406030204" pitchFamily="18" charset="0"/>
                              <a:ea typeface="Cambria Math" panose="02040503050406030204" pitchFamily="18" charset="0"/>
                            </a:rPr>
                            <m:t>𝐿</m:t>
                          </m:r>
                        </m:sub>
                      </m:sSub>
                    </m:oMath>
                  </m:oMathPara>
                </a14:m>
                <a:endParaRPr lang="it-IT">
                  <a:solidFill>
                    <a:schemeClr val="bg1"/>
                  </a:solidFill>
                </a:endParaRPr>
              </a:p>
            </p:txBody>
          </p:sp>
        </mc:Choice>
        <mc:Fallback xmlns="">
          <p:sp>
            <p:nvSpPr>
              <p:cNvPr id="158" name="CasellaDiTesto 157">
                <a:extLst>
                  <a:ext uri="{FF2B5EF4-FFF2-40B4-BE49-F238E27FC236}">
                    <a16:creationId xmlns:a16="http://schemas.microsoft.com/office/drawing/2014/main" id="{465E6EFD-763B-179B-BBB1-47D10622486F}"/>
                  </a:ext>
                </a:extLst>
              </p:cNvPr>
              <p:cNvSpPr txBox="1">
                <a:spLocks noRot="1" noChangeAspect="1" noMove="1" noResize="1" noEditPoints="1" noAdjustHandles="1" noChangeArrowheads="1" noChangeShapeType="1" noTextEdit="1"/>
              </p:cNvSpPr>
              <p:nvPr/>
            </p:nvSpPr>
            <p:spPr>
              <a:xfrm>
                <a:off x="3580487" y="6044882"/>
                <a:ext cx="402244" cy="213182"/>
              </a:xfrm>
              <a:prstGeom prst="rect">
                <a:avLst/>
              </a:prstGeom>
              <a:blipFill>
                <a:blip r:embed="rId9"/>
                <a:stretch>
                  <a:fillRect l="-12121" r="-4545" b="-51429"/>
                </a:stretch>
              </a:blipFill>
            </p:spPr>
            <p:txBody>
              <a:bodyPr/>
              <a:lstStyle/>
              <a:p>
                <a:r>
                  <a:rPr lang="it-IT">
                    <a:noFill/>
                  </a:rPr>
                  <a:t> </a:t>
                </a:r>
              </a:p>
            </p:txBody>
          </p:sp>
        </mc:Fallback>
      </mc:AlternateContent>
      <p:pic>
        <p:nvPicPr>
          <p:cNvPr id="169" name="Immagine 168">
            <a:extLst>
              <a:ext uri="{FF2B5EF4-FFF2-40B4-BE49-F238E27FC236}">
                <a16:creationId xmlns:a16="http://schemas.microsoft.com/office/drawing/2014/main" id="{10AB3A3B-3EA2-E146-9DA0-3D30B7935222}"/>
              </a:ext>
            </a:extLst>
          </p:cNvPr>
          <p:cNvPicPr>
            <a:picLocks noChangeAspect="1"/>
          </p:cNvPicPr>
          <p:nvPr/>
        </p:nvPicPr>
        <p:blipFill>
          <a:blip r:embed="rId10"/>
          <a:stretch>
            <a:fillRect/>
          </a:stretch>
        </p:blipFill>
        <p:spPr>
          <a:xfrm>
            <a:off x="3370649" y="3491634"/>
            <a:ext cx="408536" cy="341709"/>
          </a:xfrm>
          <a:prstGeom prst="rect">
            <a:avLst/>
          </a:prstGeom>
        </p:spPr>
      </p:pic>
      <p:pic>
        <p:nvPicPr>
          <p:cNvPr id="170" name="Immagine 169">
            <a:extLst>
              <a:ext uri="{FF2B5EF4-FFF2-40B4-BE49-F238E27FC236}">
                <a16:creationId xmlns:a16="http://schemas.microsoft.com/office/drawing/2014/main" id="{AA9B9E99-A113-4566-2459-C7987BF0FC06}"/>
              </a:ext>
            </a:extLst>
          </p:cNvPr>
          <p:cNvPicPr>
            <a:picLocks noChangeAspect="1"/>
          </p:cNvPicPr>
          <p:nvPr/>
        </p:nvPicPr>
        <p:blipFill>
          <a:blip r:embed="rId11"/>
          <a:stretch>
            <a:fillRect/>
          </a:stretch>
        </p:blipFill>
        <p:spPr>
          <a:xfrm>
            <a:off x="4823128" y="3503508"/>
            <a:ext cx="450166" cy="314135"/>
          </a:xfrm>
          <a:prstGeom prst="rect">
            <a:avLst/>
          </a:prstGeom>
        </p:spPr>
      </p:pic>
      <p:sp>
        <p:nvSpPr>
          <p:cNvPr id="197" name="CasellaDiTesto 196">
            <a:extLst>
              <a:ext uri="{FF2B5EF4-FFF2-40B4-BE49-F238E27FC236}">
                <a16:creationId xmlns:a16="http://schemas.microsoft.com/office/drawing/2014/main" id="{D3502645-5367-26AE-C31A-E22E836FE45F}"/>
              </a:ext>
            </a:extLst>
          </p:cNvPr>
          <p:cNvSpPr txBox="1"/>
          <p:nvPr/>
        </p:nvSpPr>
        <p:spPr>
          <a:xfrm>
            <a:off x="1614639" y="1503558"/>
            <a:ext cx="3052674" cy="430887"/>
          </a:xfrm>
          <a:prstGeom prst="rect">
            <a:avLst/>
          </a:prstGeom>
          <a:noFill/>
        </p:spPr>
        <p:txBody>
          <a:bodyPr wrap="square" rtlCol="0">
            <a:spAutoFit/>
          </a:bodyPr>
          <a:lstStyle/>
          <a:p>
            <a:pPr algn="ctr"/>
            <a:r>
              <a:rPr lang="it-IT" sz="2200" dirty="0">
                <a:solidFill>
                  <a:schemeClr val="bg1"/>
                </a:solidFill>
                <a:latin typeface="Aptos" panose="020B0004020202020204" pitchFamily="34" charset="0"/>
              </a:rPr>
              <a:t>Side </a:t>
            </a:r>
            <a:r>
              <a:rPr lang="it-IT" sz="2200" dirty="0" err="1">
                <a:solidFill>
                  <a:schemeClr val="bg1"/>
                </a:solidFill>
                <a:latin typeface="Aptos" panose="020B0004020202020204" pitchFamily="34" charset="0"/>
              </a:rPr>
              <a:t>grooves</a:t>
            </a:r>
            <a:r>
              <a:rPr lang="it-IT" sz="2200" dirty="0">
                <a:solidFill>
                  <a:schemeClr val="bg1"/>
                </a:solidFill>
                <a:latin typeface="Aptos" panose="020B0004020202020204" pitchFamily="34" charset="0"/>
              </a:rPr>
              <a:t> </a:t>
            </a:r>
            <a:r>
              <a:rPr lang="it-IT" sz="2200" dirty="0" err="1">
                <a:solidFill>
                  <a:schemeClr val="bg1"/>
                </a:solidFill>
                <a:latin typeface="Aptos" panose="020B0004020202020204" pitchFamily="34" charset="0"/>
              </a:rPr>
              <a:t>addition</a:t>
            </a:r>
            <a:r>
              <a:rPr lang="it-IT" sz="2200" dirty="0">
                <a:solidFill>
                  <a:schemeClr val="bg1"/>
                </a:solidFill>
                <a:latin typeface="Aptos" panose="020B0004020202020204" pitchFamily="34" charset="0"/>
              </a:rPr>
              <a:t>:</a:t>
            </a:r>
          </a:p>
        </p:txBody>
      </p:sp>
      <p:sp>
        <p:nvSpPr>
          <p:cNvPr id="199" name="CasellaDiTesto 198">
            <a:extLst>
              <a:ext uri="{FF2B5EF4-FFF2-40B4-BE49-F238E27FC236}">
                <a16:creationId xmlns:a16="http://schemas.microsoft.com/office/drawing/2014/main" id="{6A86A380-F084-A02B-584E-BC58F5C212BF}"/>
              </a:ext>
            </a:extLst>
          </p:cNvPr>
          <p:cNvSpPr txBox="1"/>
          <p:nvPr/>
        </p:nvSpPr>
        <p:spPr>
          <a:xfrm>
            <a:off x="3172641" y="2790655"/>
            <a:ext cx="156002" cy="430887"/>
          </a:xfrm>
          <a:prstGeom prst="rect">
            <a:avLst/>
          </a:prstGeom>
          <a:noFill/>
        </p:spPr>
        <p:txBody>
          <a:bodyPr wrap="square" rtlCol="0">
            <a:spAutoFit/>
          </a:bodyPr>
          <a:lstStyle/>
          <a:p>
            <a:r>
              <a:rPr lang="it-IT" sz="2200">
                <a:solidFill>
                  <a:schemeClr val="bg1"/>
                </a:solidFill>
              </a:rPr>
              <a:t>+</a:t>
            </a:r>
          </a:p>
        </p:txBody>
      </p:sp>
      <p:pic>
        <p:nvPicPr>
          <p:cNvPr id="206" name="Immagine 205">
            <a:extLst>
              <a:ext uri="{FF2B5EF4-FFF2-40B4-BE49-F238E27FC236}">
                <a16:creationId xmlns:a16="http://schemas.microsoft.com/office/drawing/2014/main" id="{38905314-220A-FAC1-2B03-763425F01875}"/>
              </a:ext>
            </a:extLst>
          </p:cNvPr>
          <p:cNvPicPr>
            <a:picLocks noChangeAspect="1"/>
          </p:cNvPicPr>
          <p:nvPr/>
        </p:nvPicPr>
        <p:blipFill>
          <a:blip r:embed="rId12"/>
          <a:stretch>
            <a:fillRect/>
          </a:stretch>
        </p:blipFill>
        <p:spPr>
          <a:xfrm>
            <a:off x="613733" y="3978018"/>
            <a:ext cx="4799608" cy="2060289"/>
          </a:xfrm>
          <a:prstGeom prst="rect">
            <a:avLst/>
          </a:prstGeom>
        </p:spPr>
      </p:pic>
      <p:pic>
        <p:nvPicPr>
          <p:cNvPr id="207" name="Immagine 206">
            <a:extLst>
              <a:ext uri="{FF2B5EF4-FFF2-40B4-BE49-F238E27FC236}">
                <a16:creationId xmlns:a16="http://schemas.microsoft.com/office/drawing/2014/main" id="{62CE5E2C-E57F-E97E-76CF-1858F99E8FF4}"/>
              </a:ext>
            </a:extLst>
          </p:cNvPr>
          <p:cNvPicPr>
            <a:picLocks noChangeAspect="1"/>
          </p:cNvPicPr>
          <p:nvPr/>
        </p:nvPicPr>
        <p:blipFill>
          <a:blip r:embed="rId3"/>
          <a:stretch>
            <a:fillRect/>
          </a:stretch>
        </p:blipFill>
        <p:spPr>
          <a:xfrm>
            <a:off x="2612888" y="3468693"/>
            <a:ext cx="519583" cy="411545"/>
          </a:xfrm>
          <a:prstGeom prst="rect">
            <a:avLst/>
          </a:prstGeom>
        </p:spPr>
      </p:pic>
      <p:pic>
        <p:nvPicPr>
          <p:cNvPr id="208" name="Immagine 207">
            <a:extLst>
              <a:ext uri="{FF2B5EF4-FFF2-40B4-BE49-F238E27FC236}">
                <a16:creationId xmlns:a16="http://schemas.microsoft.com/office/drawing/2014/main" id="{5B9BB4B5-B55D-CCAE-FA31-8E44FE65DE6A}"/>
              </a:ext>
            </a:extLst>
          </p:cNvPr>
          <p:cNvPicPr>
            <a:picLocks noChangeAspect="1"/>
          </p:cNvPicPr>
          <p:nvPr/>
        </p:nvPicPr>
        <p:blipFill>
          <a:blip r:embed="rId3"/>
          <a:stretch>
            <a:fillRect/>
          </a:stretch>
        </p:blipFill>
        <p:spPr>
          <a:xfrm>
            <a:off x="1118751" y="3461824"/>
            <a:ext cx="519583" cy="411545"/>
          </a:xfrm>
          <a:prstGeom prst="rect">
            <a:avLst/>
          </a:prstGeom>
        </p:spPr>
      </p:pic>
      <p:sp>
        <p:nvSpPr>
          <p:cNvPr id="209" name="Freccia a destra 208">
            <a:extLst>
              <a:ext uri="{FF2B5EF4-FFF2-40B4-BE49-F238E27FC236}">
                <a16:creationId xmlns:a16="http://schemas.microsoft.com/office/drawing/2014/main" id="{096884FC-71A2-93BE-52AF-C8F34C2D1E95}"/>
              </a:ext>
            </a:extLst>
          </p:cNvPr>
          <p:cNvSpPr/>
          <p:nvPr/>
        </p:nvSpPr>
        <p:spPr>
          <a:xfrm>
            <a:off x="5786693" y="4558289"/>
            <a:ext cx="644892" cy="450562"/>
          </a:xfrm>
          <a:prstGeom prst="right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0" name="CasellaDiTesto 209">
            <a:extLst>
              <a:ext uri="{FF2B5EF4-FFF2-40B4-BE49-F238E27FC236}">
                <a16:creationId xmlns:a16="http://schemas.microsoft.com/office/drawing/2014/main" id="{339699BD-F4A1-1A52-1223-81CAD9DECFE7}"/>
              </a:ext>
            </a:extLst>
          </p:cNvPr>
          <p:cNvSpPr txBox="1"/>
          <p:nvPr/>
        </p:nvSpPr>
        <p:spPr>
          <a:xfrm>
            <a:off x="7348705" y="3225088"/>
            <a:ext cx="3052674" cy="430887"/>
          </a:xfrm>
          <a:prstGeom prst="rect">
            <a:avLst/>
          </a:prstGeom>
          <a:noFill/>
        </p:spPr>
        <p:txBody>
          <a:bodyPr wrap="square" rtlCol="0">
            <a:spAutoFit/>
          </a:bodyPr>
          <a:lstStyle/>
          <a:p>
            <a:pPr algn="ctr"/>
            <a:r>
              <a:rPr lang="it-IT" sz="2200" dirty="0" err="1">
                <a:solidFill>
                  <a:schemeClr val="bg1"/>
                </a:solidFill>
                <a:latin typeface="Aptos" panose="020B0004020202020204" pitchFamily="34" charset="0"/>
              </a:rPr>
              <a:t>Increase</a:t>
            </a:r>
            <a:r>
              <a:rPr lang="it-IT" sz="2200" dirty="0">
                <a:solidFill>
                  <a:schemeClr val="bg1"/>
                </a:solidFill>
                <a:latin typeface="Aptos" panose="020B0004020202020204" pitchFamily="34" charset="0"/>
              </a:rPr>
              <a:t> in drag due to:</a:t>
            </a:r>
          </a:p>
        </p:txBody>
      </p:sp>
      <p:pic>
        <p:nvPicPr>
          <p:cNvPr id="211" name="Picture 16">
            <a:extLst>
              <a:ext uri="{FF2B5EF4-FFF2-40B4-BE49-F238E27FC236}">
                <a16:creationId xmlns:a16="http://schemas.microsoft.com/office/drawing/2014/main" id="{3F7B3D10-AAB6-F812-395C-D1A5210F8754}"/>
              </a:ext>
            </a:extLst>
          </p:cNvPr>
          <p:cNvPicPr>
            <a:picLocks noChangeAspect="1"/>
          </p:cNvPicPr>
          <p:nvPr/>
        </p:nvPicPr>
        <p:blipFill>
          <a:blip r:embed="rId13"/>
          <a:stretch>
            <a:fillRect/>
          </a:stretch>
        </p:blipFill>
        <p:spPr>
          <a:xfrm>
            <a:off x="6772915" y="3906218"/>
            <a:ext cx="4600173" cy="1754705"/>
          </a:xfrm>
          <a:prstGeom prst="rect">
            <a:avLst/>
          </a:prstGeom>
        </p:spPr>
      </p:pic>
      <p:grpSp>
        <p:nvGrpSpPr>
          <p:cNvPr id="217" name="Gruppo 216">
            <a:extLst>
              <a:ext uri="{FF2B5EF4-FFF2-40B4-BE49-F238E27FC236}">
                <a16:creationId xmlns:a16="http://schemas.microsoft.com/office/drawing/2014/main" id="{3FB43B95-9949-6D65-B8FA-95176F45C68B}"/>
              </a:ext>
            </a:extLst>
          </p:cNvPr>
          <p:cNvGrpSpPr/>
          <p:nvPr/>
        </p:nvGrpSpPr>
        <p:grpSpPr>
          <a:xfrm>
            <a:off x="7356541" y="5340397"/>
            <a:ext cx="1249312" cy="641052"/>
            <a:chOff x="7135592" y="1622662"/>
            <a:chExt cx="1249312" cy="641052"/>
          </a:xfrm>
        </p:grpSpPr>
        <p:pic>
          <p:nvPicPr>
            <p:cNvPr id="212" name="Immagine 211">
              <a:extLst>
                <a:ext uri="{FF2B5EF4-FFF2-40B4-BE49-F238E27FC236}">
                  <a16:creationId xmlns:a16="http://schemas.microsoft.com/office/drawing/2014/main" id="{BB7C1B4A-D8BA-A8CF-8F41-CE19FD6A056A}"/>
                </a:ext>
              </a:extLst>
            </p:cNvPr>
            <p:cNvPicPr>
              <a:picLocks noChangeAspect="1"/>
            </p:cNvPicPr>
            <p:nvPr/>
          </p:nvPicPr>
          <p:blipFill>
            <a:blip r:embed="rId6"/>
            <a:stretch>
              <a:fillRect/>
            </a:stretch>
          </p:blipFill>
          <p:spPr>
            <a:xfrm>
              <a:off x="7864186" y="1877077"/>
              <a:ext cx="438811" cy="330911"/>
            </a:xfrm>
            <a:prstGeom prst="rect">
              <a:avLst/>
            </a:prstGeom>
          </p:spPr>
        </p:pic>
        <p:sp>
          <p:nvSpPr>
            <p:cNvPr id="213" name="CasellaDiTesto 212">
              <a:extLst>
                <a:ext uri="{FF2B5EF4-FFF2-40B4-BE49-F238E27FC236}">
                  <a16:creationId xmlns:a16="http://schemas.microsoft.com/office/drawing/2014/main" id="{429F8850-33A0-4F39-0871-313BF9C22D0D}"/>
                </a:ext>
              </a:extLst>
            </p:cNvPr>
            <p:cNvSpPr txBox="1"/>
            <p:nvPr/>
          </p:nvSpPr>
          <p:spPr>
            <a:xfrm>
              <a:off x="7655962" y="1934466"/>
              <a:ext cx="156434" cy="212730"/>
            </a:xfrm>
            <a:prstGeom prst="rect">
              <a:avLst/>
            </a:prstGeom>
            <a:noFill/>
          </p:spPr>
          <p:txBody>
            <a:bodyPr wrap="square" rtlCol="0">
              <a:spAutoFit/>
            </a:bodyPr>
            <a:lstStyle/>
            <a:p>
              <a:r>
                <a:rPr lang="it-IT" sz="1200">
                  <a:solidFill>
                    <a:schemeClr val="bg1"/>
                  </a:solidFill>
                </a:rPr>
                <a:t>+</a:t>
              </a:r>
            </a:p>
          </p:txBody>
        </p:sp>
        <p:sp>
          <p:nvSpPr>
            <p:cNvPr id="214" name="CasellaDiTesto 213">
              <a:extLst>
                <a:ext uri="{FF2B5EF4-FFF2-40B4-BE49-F238E27FC236}">
                  <a16:creationId xmlns:a16="http://schemas.microsoft.com/office/drawing/2014/main" id="{11D171CA-97F0-B81F-CDFE-F33F714D9CB4}"/>
                </a:ext>
              </a:extLst>
            </p:cNvPr>
            <p:cNvSpPr txBox="1"/>
            <p:nvPr/>
          </p:nvSpPr>
          <p:spPr>
            <a:xfrm>
              <a:off x="7197587" y="1622663"/>
              <a:ext cx="438811" cy="276999"/>
            </a:xfrm>
            <a:prstGeom prst="rect">
              <a:avLst/>
            </a:prstGeom>
            <a:noFill/>
          </p:spPr>
          <p:txBody>
            <a:bodyPr wrap="square" rtlCol="0">
              <a:spAutoFit/>
            </a:bodyPr>
            <a:lstStyle/>
            <a:p>
              <a:r>
                <a:rPr lang="it-IT" sz="1200">
                  <a:solidFill>
                    <a:schemeClr val="bg1"/>
                  </a:solidFill>
                </a:rPr>
                <a:t>OR</a:t>
              </a:r>
            </a:p>
          </p:txBody>
        </p:sp>
        <p:sp>
          <p:nvSpPr>
            <p:cNvPr id="215" name="CasellaDiTesto 214">
              <a:extLst>
                <a:ext uri="{FF2B5EF4-FFF2-40B4-BE49-F238E27FC236}">
                  <a16:creationId xmlns:a16="http://schemas.microsoft.com/office/drawing/2014/main" id="{B05E8DDF-5A41-CABF-8BDE-E7F0F1767415}"/>
                </a:ext>
              </a:extLst>
            </p:cNvPr>
            <p:cNvSpPr txBox="1"/>
            <p:nvPr/>
          </p:nvSpPr>
          <p:spPr>
            <a:xfrm>
              <a:off x="7865322" y="1622662"/>
              <a:ext cx="519582" cy="212730"/>
            </a:xfrm>
            <a:prstGeom prst="rect">
              <a:avLst/>
            </a:prstGeom>
            <a:noFill/>
          </p:spPr>
          <p:txBody>
            <a:bodyPr wrap="square" rtlCol="0">
              <a:spAutoFit/>
            </a:bodyPr>
            <a:lstStyle/>
            <a:p>
              <a:r>
                <a:rPr lang="it-IT" sz="1200">
                  <a:solidFill>
                    <a:schemeClr val="bg1"/>
                  </a:solidFill>
                </a:rPr>
                <a:t>Slick</a:t>
              </a:r>
            </a:p>
          </p:txBody>
        </p:sp>
        <p:pic>
          <p:nvPicPr>
            <p:cNvPr id="216" name="Immagine 215">
              <a:extLst>
                <a:ext uri="{FF2B5EF4-FFF2-40B4-BE49-F238E27FC236}">
                  <a16:creationId xmlns:a16="http://schemas.microsoft.com/office/drawing/2014/main" id="{4D3F450C-8CEF-EDC6-14A6-A33DF7E337AB}"/>
                </a:ext>
              </a:extLst>
            </p:cNvPr>
            <p:cNvPicPr>
              <a:picLocks noChangeAspect="1"/>
            </p:cNvPicPr>
            <p:nvPr/>
          </p:nvPicPr>
          <p:blipFill>
            <a:blip r:embed="rId3"/>
            <a:stretch>
              <a:fillRect/>
            </a:stretch>
          </p:blipFill>
          <p:spPr>
            <a:xfrm>
              <a:off x="7135592" y="1852169"/>
              <a:ext cx="519583" cy="411545"/>
            </a:xfrm>
            <a:prstGeom prst="rect">
              <a:avLst/>
            </a:prstGeom>
          </p:spPr>
        </p:pic>
      </p:grpSp>
      <p:sp>
        <p:nvSpPr>
          <p:cNvPr id="218" name="Rettangolo 217">
            <a:extLst>
              <a:ext uri="{FF2B5EF4-FFF2-40B4-BE49-F238E27FC236}">
                <a16:creationId xmlns:a16="http://schemas.microsoft.com/office/drawing/2014/main" id="{33323BCE-C3FB-8BB4-7C94-177BA7D57CCA}"/>
              </a:ext>
            </a:extLst>
          </p:cNvPr>
          <p:cNvSpPr/>
          <p:nvPr/>
        </p:nvSpPr>
        <p:spPr>
          <a:xfrm>
            <a:off x="7825534" y="5385446"/>
            <a:ext cx="311326" cy="22246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9" name="Rettangolo 218">
            <a:extLst>
              <a:ext uri="{FF2B5EF4-FFF2-40B4-BE49-F238E27FC236}">
                <a16:creationId xmlns:a16="http://schemas.microsoft.com/office/drawing/2014/main" id="{97C5FC6A-5730-9006-91A1-9050CA1FD33E}"/>
              </a:ext>
            </a:extLst>
          </p:cNvPr>
          <p:cNvSpPr/>
          <p:nvPr/>
        </p:nvSpPr>
        <p:spPr>
          <a:xfrm>
            <a:off x="9912903" y="5385446"/>
            <a:ext cx="311326" cy="22246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2" name="CasellaDiTesto 221">
            <a:extLst>
              <a:ext uri="{FF2B5EF4-FFF2-40B4-BE49-F238E27FC236}">
                <a16:creationId xmlns:a16="http://schemas.microsoft.com/office/drawing/2014/main" id="{A293BAF1-C6EC-5226-F638-4C330589CCAB}"/>
              </a:ext>
            </a:extLst>
          </p:cNvPr>
          <p:cNvSpPr txBox="1"/>
          <p:nvPr/>
        </p:nvSpPr>
        <p:spPr>
          <a:xfrm>
            <a:off x="10104349" y="5652201"/>
            <a:ext cx="156434" cy="212730"/>
          </a:xfrm>
          <a:prstGeom prst="rect">
            <a:avLst/>
          </a:prstGeom>
          <a:noFill/>
        </p:spPr>
        <p:txBody>
          <a:bodyPr wrap="square" rtlCol="0">
            <a:spAutoFit/>
          </a:bodyPr>
          <a:lstStyle/>
          <a:p>
            <a:r>
              <a:rPr lang="it-IT" sz="1200">
                <a:solidFill>
                  <a:schemeClr val="bg1"/>
                </a:solidFill>
              </a:rPr>
              <a:t>+</a:t>
            </a:r>
          </a:p>
        </p:txBody>
      </p:sp>
      <p:sp>
        <p:nvSpPr>
          <p:cNvPr id="223" name="CasellaDiTesto 222">
            <a:extLst>
              <a:ext uri="{FF2B5EF4-FFF2-40B4-BE49-F238E27FC236}">
                <a16:creationId xmlns:a16="http://schemas.microsoft.com/office/drawing/2014/main" id="{FC0934D4-4154-C701-866A-CA94BE78F365}"/>
              </a:ext>
            </a:extLst>
          </p:cNvPr>
          <p:cNvSpPr txBox="1"/>
          <p:nvPr/>
        </p:nvSpPr>
        <p:spPr>
          <a:xfrm>
            <a:off x="9645974" y="5340398"/>
            <a:ext cx="438811" cy="276999"/>
          </a:xfrm>
          <a:prstGeom prst="rect">
            <a:avLst/>
          </a:prstGeom>
          <a:noFill/>
        </p:spPr>
        <p:txBody>
          <a:bodyPr wrap="square" rtlCol="0">
            <a:spAutoFit/>
          </a:bodyPr>
          <a:lstStyle/>
          <a:p>
            <a:r>
              <a:rPr lang="it-IT" sz="1200">
                <a:solidFill>
                  <a:schemeClr val="bg1"/>
                </a:solidFill>
              </a:rPr>
              <a:t>OR</a:t>
            </a:r>
          </a:p>
        </p:txBody>
      </p:sp>
      <p:sp>
        <p:nvSpPr>
          <p:cNvPr id="224" name="CasellaDiTesto 223">
            <a:extLst>
              <a:ext uri="{FF2B5EF4-FFF2-40B4-BE49-F238E27FC236}">
                <a16:creationId xmlns:a16="http://schemas.microsoft.com/office/drawing/2014/main" id="{C3699209-705A-AED6-2E06-35A2AFB1CB28}"/>
              </a:ext>
            </a:extLst>
          </p:cNvPr>
          <p:cNvSpPr txBox="1"/>
          <p:nvPr/>
        </p:nvSpPr>
        <p:spPr>
          <a:xfrm>
            <a:off x="10313709" y="5340397"/>
            <a:ext cx="519582" cy="276999"/>
          </a:xfrm>
          <a:prstGeom prst="rect">
            <a:avLst/>
          </a:prstGeom>
          <a:noFill/>
        </p:spPr>
        <p:txBody>
          <a:bodyPr wrap="square" rtlCol="0">
            <a:spAutoFit/>
          </a:bodyPr>
          <a:lstStyle/>
          <a:p>
            <a:r>
              <a:rPr lang="it-IT" sz="1200">
                <a:solidFill>
                  <a:schemeClr val="bg1"/>
                </a:solidFill>
              </a:rPr>
              <a:t>Side</a:t>
            </a:r>
          </a:p>
        </p:txBody>
      </p:sp>
      <p:pic>
        <p:nvPicPr>
          <p:cNvPr id="225" name="Immagine 224">
            <a:extLst>
              <a:ext uri="{FF2B5EF4-FFF2-40B4-BE49-F238E27FC236}">
                <a16:creationId xmlns:a16="http://schemas.microsoft.com/office/drawing/2014/main" id="{3CD34ECB-BA1F-C676-D29C-B103CBE47546}"/>
              </a:ext>
            </a:extLst>
          </p:cNvPr>
          <p:cNvPicPr>
            <a:picLocks noChangeAspect="1"/>
          </p:cNvPicPr>
          <p:nvPr/>
        </p:nvPicPr>
        <p:blipFill>
          <a:blip r:embed="rId3"/>
          <a:stretch>
            <a:fillRect/>
          </a:stretch>
        </p:blipFill>
        <p:spPr>
          <a:xfrm>
            <a:off x="9583979" y="5569904"/>
            <a:ext cx="519583" cy="411545"/>
          </a:xfrm>
          <a:prstGeom prst="rect">
            <a:avLst/>
          </a:prstGeom>
        </p:spPr>
      </p:pic>
      <p:pic>
        <p:nvPicPr>
          <p:cNvPr id="226" name="Immagine 225">
            <a:extLst>
              <a:ext uri="{FF2B5EF4-FFF2-40B4-BE49-F238E27FC236}">
                <a16:creationId xmlns:a16="http://schemas.microsoft.com/office/drawing/2014/main" id="{69037E3C-AAF1-4D20-DF92-104628A82A04}"/>
              </a:ext>
            </a:extLst>
          </p:cNvPr>
          <p:cNvPicPr>
            <a:picLocks noChangeAspect="1"/>
          </p:cNvPicPr>
          <p:nvPr/>
        </p:nvPicPr>
        <p:blipFill>
          <a:blip r:embed="rId4"/>
          <a:stretch>
            <a:fillRect/>
          </a:stretch>
        </p:blipFill>
        <p:spPr>
          <a:xfrm>
            <a:off x="10334471" y="5574073"/>
            <a:ext cx="407498" cy="345993"/>
          </a:xfrm>
          <a:prstGeom prst="rect">
            <a:avLst/>
          </a:prstGeom>
        </p:spPr>
      </p:pic>
      <p:sp>
        <p:nvSpPr>
          <p:cNvPr id="5" name="Content Placeholder 5">
            <a:extLst>
              <a:ext uri="{FF2B5EF4-FFF2-40B4-BE49-F238E27FC236}">
                <a16:creationId xmlns:a16="http://schemas.microsoft.com/office/drawing/2014/main" id="{2DCEEE07-C5B6-6BE6-0CD1-CB1DEBF2F4FB}"/>
              </a:ext>
            </a:extLst>
          </p:cNvPr>
          <p:cNvSpPr txBox="1">
            <a:spLocks/>
          </p:cNvSpPr>
          <p:nvPr/>
        </p:nvSpPr>
        <p:spPr>
          <a:xfrm>
            <a:off x="160140" y="6461948"/>
            <a:ext cx="11041259" cy="409860"/>
          </a:xfrm>
          <a:prstGeom prst="rect">
            <a:avLst/>
          </a:prstGeom>
        </p:spPr>
        <p:txBody>
          <a:bodyPr vert="horz" lIns="0" tIns="45720" rIns="0" bIns="0" rtlCol="0" anchor="t">
            <a:normAutofit/>
          </a:bodyPr>
          <a:lstStyle>
            <a:defPPr>
              <a:defRPr lang="en-US"/>
            </a:defPPr>
            <a:lvl1pPr marL="0" indent="0" algn="l" defTabSz="914400" rtl="0" eaLnBrk="1" latinLnBrk="0" hangingPunct="1">
              <a:lnSpc>
                <a:spcPct val="90000"/>
              </a:lnSpc>
              <a:spcBef>
                <a:spcPts val="1800"/>
              </a:spcBef>
              <a:buFont typeface="Arial" panose="020B0604020202020204" pitchFamily="34" charset="0"/>
              <a:buNone/>
              <a:defRPr sz="2000" b="0" i="0" kern="1200">
                <a:solidFill>
                  <a:schemeClr val="bg1"/>
                </a:solidFill>
                <a:latin typeface="+mn-lt"/>
                <a:ea typeface="+mn-ea"/>
                <a:cs typeface="+mn-cs"/>
              </a:defRPr>
            </a:lvl1pPr>
            <a:lvl2pPr marL="283464"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2pPr>
            <a:lvl3pPr marL="59436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3pPr>
            <a:lvl4pPr marL="82296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4pPr>
            <a:lvl5pPr marL="100584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b="1" dirty="0">
                <a:solidFill>
                  <a:srgbClr val="7CA655"/>
                </a:solidFill>
              </a:rPr>
              <a:t>Source: </a:t>
            </a:r>
            <a:r>
              <a:rPr lang="it-IT" dirty="0"/>
              <a:t>«</a:t>
            </a:r>
            <a:r>
              <a:rPr lang="en-US" sz="1600" dirty="0">
                <a:solidFill>
                  <a:srgbClr val="111111"/>
                </a:solidFill>
              </a:rPr>
              <a:t>Investigation of the influence of </a:t>
            </a:r>
            <a:r>
              <a:rPr lang="en-US" sz="1600" dirty="0" err="1">
                <a:solidFill>
                  <a:srgbClr val="111111"/>
                </a:solidFill>
              </a:rPr>
              <a:t>tyre</a:t>
            </a:r>
            <a:r>
              <a:rPr lang="en-US" sz="1600" dirty="0">
                <a:solidFill>
                  <a:srgbClr val="111111"/>
                </a:solidFill>
              </a:rPr>
              <a:t> geometry on the </a:t>
            </a:r>
            <a:r>
              <a:rPr lang="en-US" sz="1500" dirty="0">
                <a:solidFill>
                  <a:srgbClr val="111111"/>
                </a:solidFill>
              </a:rPr>
              <a:t>aerodynamics of passenger cars</a:t>
            </a:r>
            <a:r>
              <a:rPr lang="it-IT" sz="1900" dirty="0"/>
              <a:t>», </a:t>
            </a:r>
            <a:r>
              <a:rPr lang="en-US" sz="1500" dirty="0"/>
              <a:t>Teddy Hobeika , Simone Sebben</a:t>
            </a:r>
            <a:endParaRPr lang="en-US" sz="1600" dirty="0"/>
          </a:p>
          <a:p>
            <a:pPr marL="342900" indent="-342900">
              <a:lnSpc>
                <a:spcPct val="150000"/>
              </a:lnSpc>
              <a:spcBef>
                <a:spcPts val="0"/>
              </a:spcBef>
              <a:buFont typeface="Arial" panose="020B0604020202020204" pitchFamily="34" charset="0"/>
              <a:buChar char="•"/>
            </a:pPr>
            <a:endParaRPr lang="it-IT" sz="1600"/>
          </a:p>
          <a:p>
            <a:pPr marL="937260" lvl="2" indent="-342900"/>
            <a:endParaRPr lang="it-IT" b="1">
              <a:solidFill>
                <a:schemeClr val="tx2"/>
              </a:solidFill>
            </a:endParaRPr>
          </a:p>
          <a:p>
            <a:endParaRPr lang="en-US" b="1">
              <a:solidFill>
                <a:schemeClr val="tx2"/>
              </a:solidFill>
            </a:endParaRPr>
          </a:p>
        </p:txBody>
      </p:sp>
    </p:spTree>
    <p:extLst>
      <p:ext uri="{BB962C8B-B14F-4D97-AF65-F5344CB8AC3E}">
        <p14:creationId xmlns:p14="http://schemas.microsoft.com/office/powerpoint/2010/main" val="3991156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49EC5-5F3E-0036-4312-EC18760455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F30600-97FC-27D5-9518-0110742BA36A}"/>
              </a:ext>
            </a:extLst>
          </p:cNvPr>
          <p:cNvSpPr>
            <a:spLocks noGrp="1"/>
          </p:cNvSpPr>
          <p:nvPr>
            <p:ph type="title"/>
          </p:nvPr>
        </p:nvSpPr>
        <p:spPr>
          <a:xfrm>
            <a:off x="594360" y="278129"/>
            <a:ext cx="9778365" cy="727711"/>
          </a:xfrm>
        </p:spPr>
        <p:txBody>
          <a:bodyPr/>
          <a:lstStyle/>
          <a:p>
            <a:r>
              <a:rPr lang="en-US" dirty="0"/>
              <a:t>Influence of rims openings</a:t>
            </a:r>
          </a:p>
        </p:txBody>
      </p:sp>
      <p:pic>
        <p:nvPicPr>
          <p:cNvPr id="3" name="Picture 2">
            <a:extLst>
              <a:ext uri="{FF2B5EF4-FFF2-40B4-BE49-F238E27FC236}">
                <a16:creationId xmlns:a16="http://schemas.microsoft.com/office/drawing/2014/main" id="{7348EAD3-CB1A-F1B4-D6DD-FB06E68F06D9}"/>
              </a:ext>
            </a:extLst>
          </p:cNvPr>
          <p:cNvPicPr>
            <a:picLocks noChangeAspect="1"/>
          </p:cNvPicPr>
          <p:nvPr/>
        </p:nvPicPr>
        <p:blipFill>
          <a:blip r:embed="rId3"/>
          <a:stretch>
            <a:fillRect/>
          </a:stretch>
        </p:blipFill>
        <p:spPr>
          <a:xfrm>
            <a:off x="11227317" y="5949493"/>
            <a:ext cx="876422" cy="838317"/>
          </a:xfrm>
          <a:prstGeom prst="rect">
            <a:avLst/>
          </a:prstGeom>
        </p:spPr>
      </p:pic>
      <p:cxnSp>
        <p:nvCxnSpPr>
          <p:cNvPr id="10" name="Connettore diritto 9">
            <a:extLst>
              <a:ext uri="{FF2B5EF4-FFF2-40B4-BE49-F238E27FC236}">
                <a16:creationId xmlns:a16="http://schemas.microsoft.com/office/drawing/2014/main" id="{274899DF-1B16-8A73-53C8-D2F33FACFE32}"/>
              </a:ext>
            </a:extLst>
          </p:cNvPr>
          <p:cNvCxnSpPr>
            <a:cxnSpLocks/>
          </p:cNvCxnSpPr>
          <p:nvPr/>
        </p:nvCxnSpPr>
        <p:spPr>
          <a:xfrm>
            <a:off x="594360" y="1329055"/>
            <a:ext cx="2136140" cy="0"/>
          </a:xfrm>
          <a:prstGeom prst="line">
            <a:avLst/>
          </a:prstGeom>
          <a:ln w="101600">
            <a:solidFill>
              <a:srgbClr val="5D7D40"/>
            </a:solidFill>
          </a:ln>
        </p:spPr>
        <p:style>
          <a:lnRef idx="1">
            <a:schemeClr val="accent1"/>
          </a:lnRef>
          <a:fillRef idx="0">
            <a:schemeClr val="accent1"/>
          </a:fillRef>
          <a:effectRef idx="0">
            <a:schemeClr val="accent1"/>
          </a:effectRef>
          <a:fontRef idx="minor">
            <a:schemeClr val="tx1"/>
          </a:fontRef>
        </p:style>
      </p:cxnSp>
      <p:sp>
        <p:nvSpPr>
          <p:cNvPr id="166" name="Rettangolo 165">
            <a:extLst>
              <a:ext uri="{FF2B5EF4-FFF2-40B4-BE49-F238E27FC236}">
                <a16:creationId xmlns:a16="http://schemas.microsoft.com/office/drawing/2014/main" id="{B0A8F47B-B971-AED1-989D-C661CD44D025}"/>
              </a:ext>
            </a:extLst>
          </p:cNvPr>
          <p:cNvSpPr/>
          <p:nvPr/>
        </p:nvSpPr>
        <p:spPr>
          <a:xfrm>
            <a:off x="594360" y="2052320"/>
            <a:ext cx="2136140" cy="19301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CasellaDiTesto 4">
            <a:extLst>
              <a:ext uri="{FF2B5EF4-FFF2-40B4-BE49-F238E27FC236}">
                <a16:creationId xmlns:a16="http://schemas.microsoft.com/office/drawing/2014/main" id="{A2617EEB-CCF7-9E52-9073-D35B923BBD9C}"/>
              </a:ext>
            </a:extLst>
          </p:cNvPr>
          <p:cNvSpPr txBox="1"/>
          <p:nvPr/>
        </p:nvSpPr>
        <p:spPr>
          <a:xfrm>
            <a:off x="1175495" y="1584750"/>
            <a:ext cx="1848393" cy="646331"/>
          </a:xfrm>
          <a:prstGeom prst="rect">
            <a:avLst/>
          </a:prstGeom>
          <a:noFill/>
        </p:spPr>
        <p:txBody>
          <a:bodyPr wrap="square">
            <a:spAutoFit/>
          </a:bodyPr>
          <a:lstStyle/>
          <a:p>
            <a:pPr algn="ctr"/>
            <a:r>
              <a:rPr lang="it-IT" sz="1800" dirty="0" err="1">
                <a:solidFill>
                  <a:schemeClr val="bg1"/>
                </a:solidFill>
                <a:latin typeface="Aptos" panose="020B0004020202020204" pitchFamily="34" charset="0"/>
              </a:rPr>
              <a:t>Rain</a:t>
            </a:r>
            <a:r>
              <a:rPr lang="it-IT" sz="1800" dirty="0">
                <a:solidFill>
                  <a:schemeClr val="bg1"/>
                </a:solidFill>
                <a:latin typeface="Aptos" panose="020B0004020202020204" pitchFamily="34" charset="0"/>
              </a:rPr>
              <a:t> </a:t>
            </a:r>
            <a:r>
              <a:rPr lang="it-IT" sz="1800" dirty="0" err="1">
                <a:solidFill>
                  <a:schemeClr val="bg1"/>
                </a:solidFill>
                <a:latin typeface="Aptos" panose="020B0004020202020204" pitchFamily="34" charset="0"/>
              </a:rPr>
              <a:t>grooved</a:t>
            </a:r>
            <a:r>
              <a:rPr lang="it-IT" sz="1800" dirty="0">
                <a:solidFill>
                  <a:schemeClr val="bg1"/>
                </a:solidFill>
                <a:latin typeface="Aptos" panose="020B0004020202020204" pitchFamily="34" charset="0"/>
              </a:rPr>
              <a:t> </a:t>
            </a:r>
            <a:r>
              <a:rPr lang="it-IT" sz="1800" dirty="0" err="1">
                <a:solidFill>
                  <a:schemeClr val="bg1"/>
                </a:solidFill>
                <a:latin typeface="Aptos" panose="020B0004020202020204" pitchFamily="34" charset="0"/>
              </a:rPr>
              <a:t>tyres</a:t>
            </a:r>
            <a:r>
              <a:rPr lang="it-IT" sz="1800" dirty="0">
                <a:solidFill>
                  <a:schemeClr val="bg1"/>
                </a:solidFill>
                <a:latin typeface="Aptos" panose="020B0004020202020204" pitchFamily="34" charset="0"/>
              </a:rPr>
              <a:t> </a:t>
            </a:r>
            <a:endParaRPr lang="it-IT" dirty="0"/>
          </a:p>
        </p:txBody>
      </p:sp>
      <p:sp>
        <p:nvSpPr>
          <p:cNvPr id="6" name="CasellaDiTesto 5">
            <a:extLst>
              <a:ext uri="{FF2B5EF4-FFF2-40B4-BE49-F238E27FC236}">
                <a16:creationId xmlns:a16="http://schemas.microsoft.com/office/drawing/2014/main" id="{1845B104-7102-3893-4960-010A09B912AD}"/>
              </a:ext>
            </a:extLst>
          </p:cNvPr>
          <p:cNvSpPr txBox="1"/>
          <p:nvPr/>
        </p:nvSpPr>
        <p:spPr>
          <a:xfrm>
            <a:off x="4669517" y="1584623"/>
            <a:ext cx="2021659" cy="646331"/>
          </a:xfrm>
          <a:prstGeom prst="rect">
            <a:avLst/>
          </a:prstGeom>
          <a:noFill/>
        </p:spPr>
        <p:txBody>
          <a:bodyPr wrap="square">
            <a:spAutoFit/>
          </a:bodyPr>
          <a:lstStyle/>
          <a:p>
            <a:pPr algn="ctr"/>
            <a:r>
              <a:rPr lang="it-IT" sz="1800" dirty="0" err="1">
                <a:solidFill>
                  <a:schemeClr val="bg1"/>
                </a:solidFill>
                <a:latin typeface="Aptos" panose="020B0004020202020204" pitchFamily="34" charset="0"/>
              </a:rPr>
              <a:t>Lateral</a:t>
            </a:r>
            <a:r>
              <a:rPr lang="it-IT" sz="1800" dirty="0">
                <a:solidFill>
                  <a:schemeClr val="bg1"/>
                </a:solidFill>
                <a:latin typeface="Aptos" panose="020B0004020202020204" pitchFamily="34" charset="0"/>
              </a:rPr>
              <a:t> </a:t>
            </a:r>
            <a:r>
              <a:rPr lang="it-IT" sz="1800" dirty="0" err="1">
                <a:solidFill>
                  <a:schemeClr val="bg1"/>
                </a:solidFill>
                <a:latin typeface="Aptos" panose="020B0004020202020204" pitchFamily="34" charset="0"/>
              </a:rPr>
              <a:t>grooved</a:t>
            </a:r>
            <a:r>
              <a:rPr lang="it-IT" sz="1800" dirty="0">
                <a:solidFill>
                  <a:schemeClr val="bg1"/>
                </a:solidFill>
                <a:latin typeface="Aptos" panose="020B0004020202020204" pitchFamily="34" charset="0"/>
              </a:rPr>
              <a:t> </a:t>
            </a:r>
            <a:r>
              <a:rPr lang="it-IT" sz="1800" dirty="0" err="1">
                <a:solidFill>
                  <a:schemeClr val="bg1"/>
                </a:solidFill>
                <a:latin typeface="Aptos" panose="020B0004020202020204" pitchFamily="34" charset="0"/>
              </a:rPr>
              <a:t>tyres</a:t>
            </a:r>
            <a:r>
              <a:rPr lang="it-IT" sz="1800" dirty="0">
                <a:solidFill>
                  <a:schemeClr val="bg1"/>
                </a:solidFill>
                <a:latin typeface="Aptos" panose="020B0004020202020204" pitchFamily="34" charset="0"/>
              </a:rPr>
              <a:t> </a:t>
            </a:r>
            <a:endParaRPr lang="it-IT" dirty="0"/>
          </a:p>
        </p:txBody>
      </p:sp>
      <p:sp>
        <p:nvSpPr>
          <p:cNvPr id="7" name="CasellaDiTesto 6">
            <a:extLst>
              <a:ext uri="{FF2B5EF4-FFF2-40B4-BE49-F238E27FC236}">
                <a16:creationId xmlns:a16="http://schemas.microsoft.com/office/drawing/2014/main" id="{7C120499-80AA-B0C9-8F04-63722E864E80}"/>
              </a:ext>
            </a:extLst>
          </p:cNvPr>
          <p:cNvSpPr txBox="1"/>
          <p:nvPr/>
        </p:nvSpPr>
        <p:spPr>
          <a:xfrm>
            <a:off x="8446597" y="1588488"/>
            <a:ext cx="1837235" cy="646331"/>
          </a:xfrm>
          <a:prstGeom prst="rect">
            <a:avLst/>
          </a:prstGeom>
          <a:noFill/>
        </p:spPr>
        <p:txBody>
          <a:bodyPr wrap="square">
            <a:spAutoFit/>
          </a:bodyPr>
          <a:lstStyle/>
          <a:p>
            <a:pPr algn="ctr"/>
            <a:r>
              <a:rPr lang="it-IT" sz="1800" dirty="0">
                <a:solidFill>
                  <a:schemeClr val="bg1"/>
                </a:solidFill>
                <a:latin typeface="Aptos" panose="020B0004020202020204" pitchFamily="34" charset="0"/>
              </a:rPr>
              <a:t>Side </a:t>
            </a:r>
            <a:r>
              <a:rPr lang="it-IT" sz="1800" dirty="0" err="1">
                <a:solidFill>
                  <a:schemeClr val="bg1"/>
                </a:solidFill>
                <a:latin typeface="Aptos" panose="020B0004020202020204" pitchFamily="34" charset="0"/>
              </a:rPr>
              <a:t>grooved</a:t>
            </a:r>
            <a:r>
              <a:rPr lang="it-IT" sz="1800" dirty="0">
                <a:solidFill>
                  <a:schemeClr val="bg1"/>
                </a:solidFill>
                <a:latin typeface="Aptos" panose="020B0004020202020204" pitchFamily="34" charset="0"/>
              </a:rPr>
              <a:t> </a:t>
            </a:r>
            <a:r>
              <a:rPr lang="it-IT" sz="1800" dirty="0" err="1">
                <a:solidFill>
                  <a:schemeClr val="bg1"/>
                </a:solidFill>
                <a:latin typeface="Aptos" panose="020B0004020202020204" pitchFamily="34" charset="0"/>
              </a:rPr>
              <a:t>tyres</a:t>
            </a:r>
            <a:r>
              <a:rPr lang="it-IT" sz="1800" dirty="0">
                <a:solidFill>
                  <a:schemeClr val="bg1"/>
                </a:solidFill>
                <a:latin typeface="Aptos" panose="020B0004020202020204" pitchFamily="34" charset="0"/>
              </a:rPr>
              <a:t> </a:t>
            </a:r>
            <a:endParaRPr lang="it-IT" dirty="0"/>
          </a:p>
        </p:txBody>
      </p:sp>
      <p:pic>
        <p:nvPicPr>
          <p:cNvPr id="8" name="Immagine 7">
            <a:extLst>
              <a:ext uri="{FF2B5EF4-FFF2-40B4-BE49-F238E27FC236}">
                <a16:creationId xmlns:a16="http://schemas.microsoft.com/office/drawing/2014/main" id="{FF6C02F3-153F-24ED-9BA2-F0631A759C55}"/>
              </a:ext>
            </a:extLst>
          </p:cNvPr>
          <p:cNvPicPr>
            <a:picLocks noChangeAspect="1"/>
          </p:cNvPicPr>
          <p:nvPr/>
        </p:nvPicPr>
        <p:blipFill>
          <a:blip r:embed="rId4"/>
          <a:stretch>
            <a:fillRect/>
          </a:stretch>
        </p:blipFill>
        <p:spPr>
          <a:xfrm>
            <a:off x="1681786" y="2421778"/>
            <a:ext cx="835813" cy="727837"/>
          </a:xfrm>
          <a:prstGeom prst="rect">
            <a:avLst/>
          </a:prstGeom>
        </p:spPr>
      </p:pic>
      <p:pic>
        <p:nvPicPr>
          <p:cNvPr id="9" name="Immagine 8">
            <a:extLst>
              <a:ext uri="{FF2B5EF4-FFF2-40B4-BE49-F238E27FC236}">
                <a16:creationId xmlns:a16="http://schemas.microsoft.com/office/drawing/2014/main" id="{4BD20605-B3E4-9F17-692C-4154BD1AEC64}"/>
              </a:ext>
            </a:extLst>
          </p:cNvPr>
          <p:cNvPicPr>
            <a:picLocks noChangeAspect="1"/>
          </p:cNvPicPr>
          <p:nvPr/>
        </p:nvPicPr>
        <p:blipFill>
          <a:blip r:embed="rId5"/>
          <a:stretch>
            <a:fillRect/>
          </a:stretch>
        </p:blipFill>
        <p:spPr>
          <a:xfrm>
            <a:off x="5337185" y="2461084"/>
            <a:ext cx="839992" cy="688405"/>
          </a:xfrm>
          <a:prstGeom prst="rect">
            <a:avLst/>
          </a:prstGeom>
        </p:spPr>
      </p:pic>
      <p:pic>
        <p:nvPicPr>
          <p:cNvPr id="11" name="Immagine 10">
            <a:extLst>
              <a:ext uri="{FF2B5EF4-FFF2-40B4-BE49-F238E27FC236}">
                <a16:creationId xmlns:a16="http://schemas.microsoft.com/office/drawing/2014/main" id="{2326490B-2C1D-8EB9-ECF7-0122BC0A8F1E}"/>
              </a:ext>
            </a:extLst>
          </p:cNvPr>
          <p:cNvPicPr>
            <a:picLocks noChangeAspect="1"/>
          </p:cNvPicPr>
          <p:nvPr/>
        </p:nvPicPr>
        <p:blipFill>
          <a:blip r:embed="rId6"/>
          <a:stretch>
            <a:fillRect/>
          </a:stretch>
        </p:blipFill>
        <p:spPr>
          <a:xfrm>
            <a:off x="8971964" y="2421840"/>
            <a:ext cx="857070" cy="727711"/>
          </a:xfrm>
          <a:prstGeom prst="rect">
            <a:avLst/>
          </a:prstGeom>
        </p:spPr>
      </p:pic>
      <p:cxnSp>
        <p:nvCxnSpPr>
          <p:cNvPr id="14" name="Connettore diritto 13">
            <a:extLst>
              <a:ext uri="{FF2B5EF4-FFF2-40B4-BE49-F238E27FC236}">
                <a16:creationId xmlns:a16="http://schemas.microsoft.com/office/drawing/2014/main" id="{3F9987BF-4D8C-B077-478D-F3CBF26E09C1}"/>
              </a:ext>
            </a:extLst>
          </p:cNvPr>
          <p:cNvCxnSpPr>
            <a:cxnSpLocks/>
          </p:cNvCxnSpPr>
          <p:nvPr/>
        </p:nvCxnSpPr>
        <p:spPr>
          <a:xfrm>
            <a:off x="3804828" y="1578761"/>
            <a:ext cx="0" cy="4844931"/>
          </a:xfrm>
          <a:prstGeom prst="line">
            <a:avLst/>
          </a:prstGeom>
          <a:ln w="38100">
            <a:solidFill>
              <a:srgbClr val="5D7D40"/>
            </a:solidFill>
          </a:ln>
        </p:spPr>
        <p:style>
          <a:lnRef idx="1">
            <a:schemeClr val="accent1"/>
          </a:lnRef>
          <a:fillRef idx="0">
            <a:schemeClr val="accent1"/>
          </a:fillRef>
          <a:effectRef idx="0">
            <a:schemeClr val="accent1"/>
          </a:effectRef>
          <a:fontRef idx="minor">
            <a:schemeClr val="tx1"/>
          </a:fontRef>
        </p:style>
      </p:cxnSp>
      <p:sp>
        <p:nvSpPr>
          <p:cNvPr id="15" name="CasellaDiTesto 14">
            <a:extLst>
              <a:ext uri="{FF2B5EF4-FFF2-40B4-BE49-F238E27FC236}">
                <a16:creationId xmlns:a16="http://schemas.microsoft.com/office/drawing/2014/main" id="{BEE3DC00-C1AD-BFAF-F55A-FEEF5E1F4871}"/>
              </a:ext>
            </a:extLst>
          </p:cNvPr>
          <p:cNvSpPr txBox="1"/>
          <p:nvPr/>
        </p:nvSpPr>
        <p:spPr>
          <a:xfrm>
            <a:off x="1232580" y="3480693"/>
            <a:ext cx="414854" cy="235483"/>
          </a:xfrm>
          <a:prstGeom prst="rect">
            <a:avLst/>
          </a:prstGeom>
          <a:noFill/>
        </p:spPr>
        <p:txBody>
          <a:bodyPr wrap="square" rtlCol="0">
            <a:spAutoFit/>
          </a:bodyPr>
          <a:lstStyle/>
          <a:p>
            <a:r>
              <a:rPr lang="it-IT" sz="1200">
                <a:solidFill>
                  <a:schemeClr val="bg1"/>
                </a:solidFill>
              </a:rPr>
              <a:t>CR</a:t>
            </a:r>
          </a:p>
        </p:txBody>
      </p:sp>
      <p:pic>
        <p:nvPicPr>
          <p:cNvPr id="16" name="Picture 3">
            <a:extLst>
              <a:ext uri="{FF2B5EF4-FFF2-40B4-BE49-F238E27FC236}">
                <a16:creationId xmlns:a16="http://schemas.microsoft.com/office/drawing/2014/main" id="{ADF5BB05-55DD-0E63-3D5E-167737F5225E}"/>
              </a:ext>
            </a:extLst>
          </p:cNvPr>
          <p:cNvPicPr>
            <a:picLocks noChangeAspect="1"/>
          </p:cNvPicPr>
          <p:nvPr/>
        </p:nvPicPr>
        <p:blipFill>
          <a:blip r:embed="rId7"/>
          <a:srcRect l="48119" t="49875" r="6594" b="7799"/>
          <a:stretch/>
        </p:blipFill>
        <p:spPr>
          <a:xfrm>
            <a:off x="1188633" y="3716177"/>
            <a:ext cx="491216" cy="416269"/>
          </a:xfrm>
          <a:prstGeom prst="rect">
            <a:avLst/>
          </a:prstGeom>
        </p:spPr>
      </p:pic>
      <p:sp>
        <p:nvSpPr>
          <p:cNvPr id="17" name="CasellaDiTesto 16">
            <a:extLst>
              <a:ext uri="{FF2B5EF4-FFF2-40B4-BE49-F238E27FC236}">
                <a16:creationId xmlns:a16="http://schemas.microsoft.com/office/drawing/2014/main" id="{84FC5769-BD25-6D38-E33A-21FFB01D5298}"/>
              </a:ext>
            </a:extLst>
          </p:cNvPr>
          <p:cNvSpPr txBox="1"/>
          <p:nvPr/>
        </p:nvSpPr>
        <p:spPr>
          <a:xfrm>
            <a:off x="2716763" y="3486670"/>
            <a:ext cx="438811" cy="276999"/>
          </a:xfrm>
          <a:prstGeom prst="rect">
            <a:avLst/>
          </a:prstGeom>
          <a:noFill/>
        </p:spPr>
        <p:txBody>
          <a:bodyPr wrap="square" rtlCol="0">
            <a:spAutoFit/>
          </a:bodyPr>
          <a:lstStyle/>
          <a:p>
            <a:r>
              <a:rPr lang="it-IT" sz="1200">
                <a:solidFill>
                  <a:schemeClr val="bg1"/>
                </a:solidFill>
              </a:rPr>
              <a:t>OR</a:t>
            </a:r>
          </a:p>
        </p:txBody>
      </p:sp>
      <p:pic>
        <p:nvPicPr>
          <p:cNvPr id="18" name="Immagine 17">
            <a:extLst>
              <a:ext uri="{FF2B5EF4-FFF2-40B4-BE49-F238E27FC236}">
                <a16:creationId xmlns:a16="http://schemas.microsoft.com/office/drawing/2014/main" id="{6DC21BB4-5745-03FC-16C1-4CA0A105DEF4}"/>
              </a:ext>
            </a:extLst>
          </p:cNvPr>
          <p:cNvPicPr>
            <a:picLocks noChangeAspect="1"/>
          </p:cNvPicPr>
          <p:nvPr/>
        </p:nvPicPr>
        <p:blipFill>
          <a:blip r:embed="rId8"/>
          <a:stretch>
            <a:fillRect/>
          </a:stretch>
        </p:blipFill>
        <p:spPr>
          <a:xfrm>
            <a:off x="2654768" y="3716176"/>
            <a:ext cx="519583" cy="411545"/>
          </a:xfrm>
          <a:prstGeom prst="rect">
            <a:avLst/>
          </a:prstGeom>
        </p:spPr>
      </p:pic>
      <p:sp>
        <p:nvSpPr>
          <p:cNvPr id="19" name="CasellaDiTesto 18">
            <a:extLst>
              <a:ext uri="{FF2B5EF4-FFF2-40B4-BE49-F238E27FC236}">
                <a16:creationId xmlns:a16="http://schemas.microsoft.com/office/drawing/2014/main" id="{7197E8EC-CE52-C379-E0A4-DAD92C5DC50B}"/>
              </a:ext>
            </a:extLst>
          </p:cNvPr>
          <p:cNvSpPr txBox="1"/>
          <p:nvPr/>
        </p:nvSpPr>
        <p:spPr>
          <a:xfrm>
            <a:off x="1969965" y="3213629"/>
            <a:ext cx="156002" cy="430887"/>
          </a:xfrm>
          <a:prstGeom prst="rect">
            <a:avLst/>
          </a:prstGeom>
          <a:noFill/>
        </p:spPr>
        <p:txBody>
          <a:bodyPr wrap="square" rtlCol="0">
            <a:spAutoFit/>
          </a:bodyPr>
          <a:lstStyle/>
          <a:p>
            <a:r>
              <a:rPr lang="it-IT" sz="2200" dirty="0">
                <a:solidFill>
                  <a:schemeClr val="bg1"/>
                </a:solidFill>
              </a:rPr>
              <a:t>+</a:t>
            </a:r>
          </a:p>
        </p:txBody>
      </p:sp>
      <p:pic>
        <p:nvPicPr>
          <p:cNvPr id="20" name="Immagine 19">
            <a:extLst>
              <a:ext uri="{FF2B5EF4-FFF2-40B4-BE49-F238E27FC236}">
                <a16:creationId xmlns:a16="http://schemas.microsoft.com/office/drawing/2014/main" id="{561C8F7C-7363-11E9-0A3F-89E5F1B95512}"/>
              </a:ext>
            </a:extLst>
          </p:cNvPr>
          <p:cNvPicPr>
            <a:picLocks noChangeAspect="1"/>
          </p:cNvPicPr>
          <p:nvPr/>
        </p:nvPicPr>
        <p:blipFill>
          <a:blip r:embed="rId9"/>
          <a:srcRect l="39092" t="93817" r="37303" b="-954"/>
          <a:stretch/>
        </p:blipFill>
        <p:spPr>
          <a:xfrm>
            <a:off x="1299236" y="6150560"/>
            <a:ext cx="1816229" cy="248424"/>
          </a:xfrm>
          <a:prstGeom prst="rect">
            <a:avLst/>
          </a:prstGeom>
        </p:spPr>
      </p:pic>
      <p:sp>
        <p:nvSpPr>
          <p:cNvPr id="21" name="Rettangolo 20">
            <a:extLst>
              <a:ext uri="{FF2B5EF4-FFF2-40B4-BE49-F238E27FC236}">
                <a16:creationId xmlns:a16="http://schemas.microsoft.com/office/drawing/2014/main" id="{ED06F794-60A1-172C-A232-774D1349D007}"/>
              </a:ext>
            </a:extLst>
          </p:cNvPr>
          <p:cNvSpPr/>
          <p:nvPr/>
        </p:nvSpPr>
        <p:spPr>
          <a:xfrm>
            <a:off x="1661086" y="6150560"/>
            <a:ext cx="559809" cy="24842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Rettangolo 21">
            <a:extLst>
              <a:ext uri="{FF2B5EF4-FFF2-40B4-BE49-F238E27FC236}">
                <a16:creationId xmlns:a16="http://schemas.microsoft.com/office/drawing/2014/main" id="{9D56FD53-0656-7613-4374-8F4ECCA6E1B4}"/>
              </a:ext>
            </a:extLst>
          </p:cNvPr>
          <p:cNvSpPr/>
          <p:nvPr/>
        </p:nvSpPr>
        <p:spPr>
          <a:xfrm>
            <a:off x="2430471" y="6157134"/>
            <a:ext cx="559809" cy="24842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xmlns:a14="http://schemas.microsoft.com/office/drawing/2010/main">
        <mc:Choice Requires="a14">
          <p:sp>
            <p:nvSpPr>
              <p:cNvPr id="23" name="CasellaDiTesto 22">
                <a:extLst>
                  <a:ext uri="{FF2B5EF4-FFF2-40B4-BE49-F238E27FC236}">
                    <a16:creationId xmlns:a16="http://schemas.microsoft.com/office/drawing/2014/main" id="{4E261AF0-AC97-4508-29CB-73C765CB8A56}"/>
                  </a:ext>
                </a:extLst>
              </p:cNvPr>
              <p:cNvSpPr txBox="1"/>
              <p:nvPr/>
            </p:nvSpPr>
            <p:spPr>
              <a:xfrm>
                <a:off x="1631280" y="6147256"/>
                <a:ext cx="430794" cy="213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solidFill>
                            <a:schemeClr val="bg1"/>
                          </a:solidFill>
                          <a:latin typeface="Cambria Math" panose="02040503050406030204" pitchFamily="18" charset="0"/>
                          <a:ea typeface="Cambria Math" panose="02040503050406030204" pitchFamily="18" charset="0"/>
                        </a:rPr>
                        <m:t>∆</m:t>
                      </m:r>
                      <m:sSub>
                        <m:sSubPr>
                          <m:ctrlPr>
                            <a:rPr lang="it-IT" i="1" smtClean="0">
                              <a:solidFill>
                                <a:schemeClr val="bg1"/>
                              </a:solidFill>
                              <a:latin typeface="Cambria Math" panose="02040503050406030204" pitchFamily="18" charset="0"/>
                              <a:ea typeface="Cambria Math" panose="02040503050406030204" pitchFamily="18" charset="0"/>
                            </a:rPr>
                          </m:ctrlPr>
                        </m:sSubPr>
                        <m:e>
                          <m:r>
                            <a:rPr lang="it-IT" b="0" i="1" smtClean="0">
                              <a:solidFill>
                                <a:schemeClr val="bg1"/>
                              </a:solidFill>
                              <a:latin typeface="Cambria Math" panose="02040503050406030204" pitchFamily="18" charset="0"/>
                              <a:ea typeface="Cambria Math" panose="02040503050406030204" pitchFamily="18" charset="0"/>
                            </a:rPr>
                            <m:t>𝑐</m:t>
                          </m:r>
                        </m:e>
                        <m:sub>
                          <m:r>
                            <a:rPr lang="it-IT" b="0" i="1" smtClean="0">
                              <a:solidFill>
                                <a:schemeClr val="bg1"/>
                              </a:solidFill>
                              <a:latin typeface="Cambria Math" panose="02040503050406030204" pitchFamily="18" charset="0"/>
                              <a:ea typeface="Cambria Math" panose="02040503050406030204" pitchFamily="18" charset="0"/>
                            </a:rPr>
                            <m:t>𝐷</m:t>
                          </m:r>
                        </m:sub>
                      </m:sSub>
                    </m:oMath>
                  </m:oMathPara>
                </a14:m>
                <a:endParaRPr lang="it-IT" dirty="0">
                  <a:solidFill>
                    <a:schemeClr val="bg1"/>
                  </a:solidFill>
                </a:endParaRPr>
              </a:p>
            </p:txBody>
          </p:sp>
        </mc:Choice>
        <mc:Fallback xmlns="">
          <p:sp>
            <p:nvSpPr>
              <p:cNvPr id="23" name="CasellaDiTesto 22">
                <a:extLst>
                  <a:ext uri="{FF2B5EF4-FFF2-40B4-BE49-F238E27FC236}">
                    <a16:creationId xmlns:a16="http://schemas.microsoft.com/office/drawing/2014/main" id="{4E261AF0-AC97-4508-29CB-73C765CB8A56}"/>
                  </a:ext>
                </a:extLst>
              </p:cNvPr>
              <p:cNvSpPr txBox="1">
                <a:spLocks noRot="1" noChangeAspect="1" noMove="1" noResize="1" noEditPoints="1" noAdjustHandles="1" noChangeArrowheads="1" noChangeShapeType="1" noTextEdit="1"/>
              </p:cNvSpPr>
              <p:nvPr/>
            </p:nvSpPr>
            <p:spPr>
              <a:xfrm>
                <a:off x="1631280" y="6147256"/>
                <a:ext cx="430794" cy="213182"/>
              </a:xfrm>
              <a:prstGeom prst="rect">
                <a:avLst/>
              </a:prstGeom>
              <a:blipFill>
                <a:blip r:embed="rId11"/>
                <a:stretch>
                  <a:fillRect l="-12857" r="-4286" b="-5428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 name="CasellaDiTesto 23">
                <a:extLst>
                  <a:ext uri="{FF2B5EF4-FFF2-40B4-BE49-F238E27FC236}">
                    <a16:creationId xmlns:a16="http://schemas.microsoft.com/office/drawing/2014/main" id="{08B0B6E4-7CEA-47EB-27A1-5C24C19C1DB0}"/>
                  </a:ext>
                </a:extLst>
              </p:cNvPr>
              <p:cNvSpPr txBox="1"/>
              <p:nvPr/>
            </p:nvSpPr>
            <p:spPr>
              <a:xfrm>
                <a:off x="2512797" y="6147256"/>
                <a:ext cx="402244" cy="213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solidFill>
                            <a:schemeClr val="bg1"/>
                          </a:solidFill>
                          <a:latin typeface="Cambria Math" panose="02040503050406030204" pitchFamily="18" charset="0"/>
                          <a:ea typeface="Cambria Math" panose="02040503050406030204" pitchFamily="18" charset="0"/>
                        </a:rPr>
                        <m:t>∆</m:t>
                      </m:r>
                      <m:sSub>
                        <m:sSubPr>
                          <m:ctrlPr>
                            <a:rPr lang="it-IT" i="1" smtClean="0">
                              <a:solidFill>
                                <a:schemeClr val="bg1"/>
                              </a:solidFill>
                              <a:latin typeface="Cambria Math" panose="02040503050406030204" pitchFamily="18" charset="0"/>
                              <a:ea typeface="Cambria Math" panose="02040503050406030204" pitchFamily="18" charset="0"/>
                            </a:rPr>
                          </m:ctrlPr>
                        </m:sSubPr>
                        <m:e>
                          <m:r>
                            <a:rPr lang="it-IT" b="0" i="1" smtClean="0">
                              <a:solidFill>
                                <a:schemeClr val="bg1"/>
                              </a:solidFill>
                              <a:latin typeface="Cambria Math" panose="02040503050406030204" pitchFamily="18" charset="0"/>
                              <a:ea typeface="Cambria Math" panose="02040503050406030204" pitchFamily="18" charset="0"/>
                            </a:rPr>
                            <m:t>𝑐</m:t>
                          </m:r>
                        </m:e>
                        <m:sub>
                          <m:r>
                            <a:rPr lang="it-IT" b="0" i="1" smtClean="0">
                              <a:solidFill>
                                <a:schemeClr val="bg1"/>
                              </a:solidFill>
                              <a:latin typeface="Cambria Math" panose="02040503050406030204" pitchFamily="18" charset="0"/>
                              <a:ea typeface="Cambria Math" panose="02040503050406030204" pitchFamily="18" charset="0"/>
                            </a:rPr>
                            <m:t>𝐿</m:t>
                          </m:r>
                        </m:sub>
                      </m:sSub>
                    </m:oMath>
                  </m:oMathPara>
                </a14:m>
                <a:endParaRPr lang="it-IT" dirty="0">
                  <a:solidFill>
                    <a:schemeClr val="bg1"/>
                  </a:solidFill>
                </a:endParaRPr>
              </a:p>
            </p:txBody>
          </p:sp>
        </mc:Choice>
        <mc:Fallback xmlns="">
          <p:sp>
            <p:nvSpPr>
              <p:cNvPr id="24" name="CasellaDiTesto 23">
                <a:extLst>
                  <a:ext uri="{FF2B5EF4-FFF2-40B4-BE49-F238E27FC236}">
                    <a16:creationId xmlns:a16="http://schemas.microsoft.com/office/drawing/2014/main" id="{08B0B6E4-7CEA-47EB-27A1-5C24C19C1DB0}"/>
                  </a:ext>
                </a:extLst>
              </p:cNvPr>
              <p:cNvSpPr txBox="1">
                <a:spLocks noRot="1" noChangeAspect="1" noMove="1" noResize="1" noEditPoints="1" noAdjustHandles="1" noChangeArrowheads="1" noChangeShapeType="1" noTextEdit="1"/>
              </p:cNvSpPr>
              <p:nvPr/>
            </p:nvSpPr>
            <p:spPr>
              <a:xfrm>
                <a:off x="2512797" y="6147256"/>
                <a:ext cx="402244" cy="213182"/>
              </a:xfrm>
              <a:prstGeom prst="rect">
                <a:avLst/>
              </a:prstGeom>
              <a:blipFill>
                <a:blip r:embed="rId12"/>
                <a:stretch>
                  <a:fillRect l="-12121" r="-4545" b="-54286"/>
                </a:stretch>
              </a:blipFill>
            </p:spPr>
            <p:txBody>
              <a:bodyPr/>
              <a:lstStyle/>
              <a:p>
                <a:r>
                  <a:rPr lang="it-IT">
                    <a:noFill/>
                  </a:rPr>
                  <a:t> </a:t>
                </a:r>
              </a:p>
            </p:txBody>
          </p:sp>
        </mc:Fallback>
      </mc:AlternateContent>
      <p:cxnSp>
        <p:nvCxnSpPr>
          <p:cNvPr id="25" name="Connettore diritto 24">
            <a:extLst>
              <a:ext uri="{FF2B5EF4-FFF2-40B4-BE49-F238E27FC236}">
                <a16:creationId xmlns:a16="http://schemas.microsoft.com/office/drawing/2014/main" id="{14E94265-D785-147D-83C7-B6515516FF38}"/>
              </a:ext>
            </a:extLst>
          </p:cNvPr>
          <p:cNvCxnSpPr>
            <a:cxnSpLocks/>
          </p:cNvCxnSpPr>
          <p:nvPr/>
        </p:nvCxnSpPr>
        <p:spPr>
          <a:xfrm>
            <a:off x="7549514" y="1615231"/>
            <a:ext cx="0" cy="4844931"/>
          </a:xfrm>
          <a:prstGeom prst="line">
            <a:avLst/>
          </a:prstGeom>
          <a:ln w="38100">
            <a:solidFill>
              <a:srgbClr val="5D7D40"/>
            </a:solidFill>
          </a:ln>
        </p:spPr>
        <p:style>
          <a:lnRef idx="1">
            <a:schemeClr val="accent1"/>
          </a:lnRef>
          <a:fillRef idx="0">
            <a:schemeClr val="accent1"/>
          </a:fillRef>
          <a:effectRef idx="0">
            <a:schemeClr val="accent1"/>
          </a:effectRef>
          <a:fontRef idx="minor">
            <a:schemeClr val="tx1"/>
          </a:fontRef>
        </p:style>
      </p:cxnSp>
      <p:pic>
        <p:nvPicPr>
          <p:cNvPr id="27" name="Immagine 26">
            <a:extLst>
              <a:ext uri="{FF2B5EF4-FFF2-40B4-BE49-F238E27FC236}">
                <a16:creationId xmlns:a16="http://schemas.microsoft.com/office/drawing/2014/main" id="{B4FA26C8-510E-F40E-5839-F7CE82FA23F4}"/>
              </a:ext>
            </a:extLst>
          </p:cNvPr>
          <p:cNvPicPr>
            <a:picLocks noChangeAspect="1"/>
          </p:cNvPicPr>
          <p:nvPr/>
        </p:nvPicPr>
        <p:blipFill>
          <a:blip r:embed="rId13"/>
          <a:stretch>
            <a:fillRect/>
          </a:stretch>
        </p:blipFill>
        <p:spPr>
          <a:xfrm>
            <a:off x="4181710" y="4175698"/>
            <a:ext cx="2944719" cy="1940208"/>
          </a:xfrm>
          <a:prstGeom prst="rect">
            <a:avLst/>
          </a:prstGeom>
        </p:spPr>
      </p:pic>
      <p:sp>
        <p:nvSpPr>
          <p:cNvPr id="28" name="CasellaDiTesto 27">
            <a:extLst>
              <a:ext uri="{FF2B5EF4-FFF2-40B4-BE49-F238E27FC236}">
                <a16:creationId xmlns:a16="http://schemas.microsoft.com/office/drawing/2014/main" id="{15F33F57-66FD-9FE7-C918-5FDA98C802B5}"/>
              </a:ext>
            </a:extLst>
          </p:cNvPr>
          <p:cNvSpPr txBox="1"/>
          <p:nvPr/>
        </p:nvSpPr>
        <p:spPr>
          <a:xfrm>
            <a:off x="4863450" y="3441279"/>
            <a:ext cx="414854" cy="235483"/>
          </a:xfrm>
          <a:prstGeom prst="rect">
            <a:avLst/>
          </a:prstGeom>
          <a:noFill/>
        </p:spPr>
        <p:txBody>
          <a:bodyPr wrap="square" rtlCol="0">
            <a:spAutoFit/>
          </a:bodyPr>
          <a:lstStyle/>
          <a:p>
            <a:r>
              <a:rPr lang="it-IT" sz="1200">
                <a:solidFill>
                  <a:schemeClr val="bg1"/>
                </a:solidFill>
              </a:rPr>
              <a:t>CR</a:t>
            </a:r>
          </a:p>
        </p:txBody>
      </p:sp>
      <p:pic>
        <p:nvPicPr>
          <p:cNvPr id="29" name="Picture 3">
            <a:extLst>
              <a:ext uri="{FF2B5EF4-FFF2-40B4-BE49-F238E27FC236}">
                <a16:creationId xmlns:a16="http://schemas.microsoft.com/office/drawing/2014/main" id="{76F69372-097B-8331-9CDE-3ACD1566F7F8}"/>
              </a:ext>
            </a:extLst>
          </p:cNvPr>
          <p:cNvPicPr>
            <a:picLocks noChangeAspect="1"/>
          </p:cNvPicPr>
          <p:nvPr/>
        </p:nvPicPr>
        <p:blipFill>
          <a:blip r:embed="rId7"/>
          <a:srcRect l="48119" t="49875" r="6594" b="7799"/>
          <a:stretch/>
        </p:blipFill>
        <p:spPr>
          <a:xfrm>
            <a:off x="4819503" y="3676763"/>
            <a:ext cx="491216" cy="416269"/>
          </a:xfrm>
          <a:prstGeom prst="rect">
            <a:avLst/>
          </a:prstGeom>
        </p:spPr>
      </p:pic>
      <p:sp>
        <p:nvSpPr>
          <p:cNvPr id="30" name="CasellaDiTesto 29">
            <a:extLst>
              <a:ext uri="{FF2B5EF4-FFF2-40B4-BE49-F238E27FC236}">
                <a16:creationId xmlns:a16="http://schemas.microsoft.com/office/drawing/2014/main" id="{F53A4008-7EF3-330B-AC24-35F8D2DE58E8}"/>
              </a:ext>
            </a:extLst>
          </p:cNvPr>
          <p:cNvSpPr txBox="1"/>
          <p:nvPr/>
        </p:nvSpPr>
        <p:spPr>
          <a:xfrm>
            <a:off x="6347633" y="3447256"/>
            <a:ext cx="438811" cy="276999"/>
          </a:xfrm>
          <a:prstGeom prst="rect">
            <a:avLst/>
          </a:prstGeom>
          <a:noFill/>
        </p:spPr>
        <p:txBody>
          <a:bodyPr wrap="square" rtlCol="0">
            <a:spAutoFit/>
          </a:bodyPr>
          <a:lstStyle/>
          <a:p>
            <a:r>
              <a:rPr lang="it-IT" sz="1200">
                <a:solidFill>
                  <a:schemeClr val="bg1"/>
                </a:solidFill>
              </a:rPr>
              <a:t>OR</a:t>
            </a:r>
          </a:p>
        </p:txBody>
      </p:sp>
      <p:pic>
        <p:nvPicPr>
          <p:cNvPr id="31" name="Immagine 30">
            <a:extLst>
              <a:ext uri="{FF2B5EF4-FFF2-40B4-BE49-F238E27FC236}">
                <a16:creationId xmlns:a16="http://schemas.microsoft.com/office/drawing/2014/main" id="{71611EB8-AE7E-5392-6AC2-FC63103BE542}"/>
              </a:ext>
            </a:extLst>
          </p:cNvPr>
          <p:cNvPicPr>
            <a:picLocks noChangeAspect="1"/>
          </p:cNvPicPr>
          <p:nvPr/>
        </p:nvPicPr>
        <p:blipFill>
          <a:blip r:embed="rId8"/>
          <a:stretch>
            <a:fillRect/>
          </a:stretch>
        </p:blipFill>
        <p:spPr>
          <a:xfrm>
            <a:off x="6285638" y="3676762"/>
            <a:ext cx="519583" cy="411545"/>
          </a:xfrm>
          <a:prstGeom prst="rect">
            <a:avLst/>
          </a:prstGeom>
        </p:spPr>
      </p:pic>
      <p:pic>
        <p:nvPicPr>
          <p:cNvPr id="33" name="Immagine 32">
            <a:extLst>
              <a:ext uri="{FF2B5EF4-FFF2-40B4-BE49-F238E27FC236}">
                <a16:creationId xmlns:a16="http://schemas.microsoft.com/office/drawing/2014/main" id="{43D8C6F8-0FFE-E489-A4FC-2AE082DD9563}"/>
              </a:ext>
            </a:extLst>
          </p:cNvPr>
          <p:cNvPicPr>
            <a:picLocks noChangeAspect="1"/>
          </p:cNvPicPr>
          <p:nvPr/>
        </p:nvPicPr>
        <p:blipFill>
          <a:blip r:embed="rId9"/>
          <a:srcRect l="39092" t="93817" r="37303" b="-954"/>
          <a:stretch/>
        </p:blipFill>
        <p:spPr>
          <a:xfrm>
            <a:off x="4937624" y="6115906"/>
            <a:ext cx="1816229" cy="248424"/>
          </a:xfrm>
          <a:prstGeom prst="rect">
            <a:avLst/>
          </a:prstGeom>
        </p:spPr>
      </p:pic>
      <p:sp>
        <p:nvSpPr>
          <p:cNvPr id="34" name="Rettangolo 33">
            <a:extLst>
              <a:ext uri="{FF2B5EF4-FFF2-40B4-BE49-F238E27FC236}">
                <a16:creationId xmlns:a16="http://schemas.microsoft.com/office/drawing/2014/main" id="{1469C807-6035-1452-D042-E0B2F41F42BB}"/>
              </a:ext>
            </a:extLst>
          </p:cNvPr>
          <p:cNvSpPr/>
          <p:nvPr/>
        </p:nvSpPr>
        <p:spPr>
          <a:xfrm>
            <a:off x="5299474" y="6115906"/>
            <a:ext cx="559809" cy="24842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5" name="Rettangolo 34">
            <a:extLst>
              <a:ext uri="{FF2B5EF4-FFF2-40B4-BE49-F238E27FC236}">
                <a16:creationId xmlns:a16="http://schemas.microsoft.com/office/drawing/2014/main" id="{E8DB65C8-C617-FFC1-5D94-BAA9090A651E}"/>
              </a:ext>
            </a:extLst>
          </p:cNvPr>
          <p:cNvSpPr/>
          <p:nvPr/>
        </p:nvSpPr>
        <p:spPr>
          <a:xfrm>
            <a:off x="6068859" y="6122480"/>
            <a:ext cx="559809" cy="24842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xmlns:a14="http://schemas.microsoft.com/office/drawing/2010/main">
        <mc:Choice Requires="a14">
          <p:sp>
            <p:nvSpPr>
              <p:cNvPr id="36" name="CasellaDiTesto 35">
                <a:extLst>
                  <a:ext uri="{FF2B5EF4-FFF2-40B4-BE49-F238E27FC236}">
                    <a16:creationId xmlns:a16="http://schemas.microsoft.com/office/drawing/2014/main" id="{3E571E12-9216-6CFC-147B-4887D38523C3}"/>
                  </a:ext>
                </a:extLst>
              </p:cNvPr>
              <p:cNvSpPr txBox="1"/>
              <p:nvPr/>
            </p:nvSpPr>
            <p:spPr>
              <a:xfrm>
                <a:off x="5269668" y="6112602"/>
                <a:ext cx="430794" cy="213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solidFill>
                            <a:schemeClr val="bg1"/>
                          </a:solidFill>
                          <a:latin typeface="Cambria Math" panose="02040503050406030204" pitchFamily="18" charset="0"/>
                          <a:ea typeface="Cambria Math" panose="02040503050406030204" pitchFamily="18" charset="0"/>
                        </a:rPr>
                        <m:t>∆</m:t>
                      </m:r>
                      <m:sSub>
                        <m:sSubPr>
                          <m:ctrlPr>
                            <a:rPr lang="it-IT" i="1" smtClean="0">
                              <a:solidFill>
                                <a:schemeClr val="bg1"/>
                              </a:solidFill>
                              <a:latin typeface="Cambria Math" panose="02040503050406030204" pitchFamily="18" charset="0"/>
                              <a:ea typeface="Cambria Math" panose="02040503050406030204" pitchFamily="18" charset="0"/>
                            </a:rPr>
                          </m:ctrlPr>
                        </m:sSubPr>
                        <m:e>
                          <m:r>
                            <a:rPr lang="it-IT" b="0" i="1" smtClean="0">
                              <a:solidFill>
                                <a:schemeClr val="bg1"/>
                              </a:solidFill>
                              <a:latin typeface="Cambria Math" panose="02040503050406030204" pitchFamily="18" charset="0"/>
                              <a:ea typeface="Cambria Math" panose="02040503050406030204" pitchFamily="18" charset="0"/>
                            </a:rPr>
                            <m:t>𝑐</m:t>
                          </m:r>
                        </m:e>
                        <m:sub>
                          <m:r>
                            <a:rPr lang="it-IT" b="0" i="1" smtClean="0">
                              <a:solidFill>
                                <a:schemeClr val="bg1"/>
                              </a:solidFill>
                              <a:latin typeface="Cambria Math" panose="02040503050406030204" pitchFamily="18" charset="0"/>
                              <a:ea typeface="Cambria Math" panose="02040503050406030204" pitchFamily="18" charset="0"/>
                            </a:rPr>
                            <m:t>𝐷</m:t>
                          </m:r>
                        </m:sub>
                      </m:sSub>
                    </m:oMath>
                  </m:oMathPara>
                </a14:m>
                <a:endParaRPr lang="it-IT" dirty="0">
                  <a:solidFill>
                    <a:schemeClr val="bg1"/>
                  </a:solidFill>
                </a:endParaRPr>
              </a:p>
            </p:txBody>
          </p:sp>
        </mc:Choice>
        <mc:Fallback xmlns="">
          <p:sp>
            <p:nvSpPr>
              <p:cNvPr id="36" name="CasellaDiTesto 35">
                <a:extLst>
                  <a:ext uri="{FF2B5EF4-FFF2-40B4-BE49-F238E27FC236}">
                    <a16:creationId xmlns:a16="http://schemas.microsoft.com/office/drawing/2014/main" id="{3E571E12-9216-6CFC-147B-4887D38523C3}"/>
                  </a:ext>
                </a:extLst>
              </p:cNvPr>
              <p:cNvSpPr txBox="1">
                <a:spLocks noRot="1" noChangeAspect="1" noMove="1" noResize="1" noEditPoints="1" noAdjustHandles="1" noChangeArrowheads="1" noChangeShapeType="1" noTextEdit="1"/>
              </p:cNvSpPr>
              <p:nvPr/>
            </p:nvSpPr>
            <p:spPr>
              <a:xfrm>
                <a:off x="5269668" y="6112602"/>
                <a:ext cx="430794" cy="213182"/>
              </a:xfrm>
              <a:prstGeom prst="rect">
                <a:avLst/>
              </a:prstGeom>
              <a:blipFill>
                <a:blip r:embed="rId14"/>
                <a:stretch>
                  <a:fillRect l="-11268" r="-4225" b="-5142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7" name="CasellaDiTesto 36">
                <a:extLst>
                  <a:ext uri="{FF2B5EF4-FFF2-40B4-BE49-F238E27FC236}">
                    <a16:creationId xmlns:a16="http://schemas.microsoft.com/office/drawing/2014/main" id="{6C992B48-1AA8-D3C5-9C31-2EBB9E0FA8EB}"/>
                  </a:ext>
                </a:extLst>
              </p:cNvPr>
              <p:cNvSpPr txBox="1"/>
              <p:nvPr/>
            </p:nvSpPr>
            <p:spPr>
              <a:xfrm>
                <a:off x="6151185" y="6112602"/>
                <a:ext cx="402244" cy="213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solidFill>
                            <a:schemeClr val="bg1"/>
                          </a:solidFill>
                          <a:latin typeface="Cambria Math" panose="02040503050406030204" pitchFamily="18" charset="0"/>
                          <a:ea typeface="Cambria Math" panose="02040503050406030204" pitchFamily="18" charset="0"/>
                        </a:rPr>
                        <m:t>∆</m:t>
                      </m:r>
                      <m:sSub>
                        <m:sSubPr>
                          <m:ctrlPr>
                            <a:rPr lang="it-IT" i="1" smtClean="0">
                              <a:solidFill>
                                <a:schemeClr val="bg1"/>
                              </a:solidFill>
                              <a:latin typeface="Cambria Math" panose="02040503050406030204" pitchFamily="18" charset="0"/>
                              <a:ea typeface="Cambria Math" panose="02040503050406030204" pitchFamily="18" charset="0"/>
                            </a:rPr>
                          </m:ctrlPr>
                        </m:sSubPr>
                        <m:e>
                          <m:r>
                            <a:rPr lang="it-IT" b="0" i="1" smtClean="0">
                              <a:solidFill>
                                <a:schemeClr val="bg1"/>
                              </a:solidFill>
                              <a:latin typeface="Cambria Math" panose="02040503050406030204" pitchFamily="18" charset="0"/>
                              <a:ea typeface="Cambria Math" panose="02040503050406030204" pitchFamily="18" charset="0"/>
                            </a:rPr>
                            <m:t>𝑐</m:t>
                          </m:r>
                        </m:e>
                        <m:sub>
                          <m:r>
                            <a:rPr lang="it-IT" b="0" i="1" smtClean="0">
                              <a:solidFill>
                                <a:schemeClr val="bg1"/>
                              </a:solidFill>
                              <a:latin typeface="Cambria Math" panose="02040503050406030204" pitchFamily="18" charset="0"/>
                              <a:ea typeface="Cambria Math" panose="02040503050406030204" pitchFamily="18" charset="0"/>
                            </a:rPr>
                            <m:t>𝐿</m:t>
                          </m:r>
                        </m:sub>
                      </m:sSub>
                    </m:oMath>
                  </m:oMathPara>
                </a14:m>
                <a:endParaRPr lang="it-IT">
                  <a:solidFill>
                    <a:schemeClr val="bg1"/>
                  </a:solidFill>
                </a:endParaRPr>
              </a:p>
            </p:txBody>
          </p:sp>
        </mc:Choice>
        <mc:Fallback xmlns="">
          <p:sp>
            <p:nvSpPr>
              <p:cNvPr id="37" name="CasellaDiTesto 36">
                <a:extLst>
                  <a:ext uri="{FF2B5EF4-FFF2-40B4-BE49-F238E27FC236}">
                    <a16:creationId xmlns:a16="http://schemas.microsoft.com/office/drawing/2014/main" id="{6C992B48-1AA8-D3C5-9C31-2EBB9E0FA8EB}"/>
                  </a:ext>
                </a:extLst>
              </p:cNvPr>
              <p:cNvSpPr txBox="1">
                <a:spLocks noRot="1" noChangeAspect="1" noMove="1" noResize="1" noEditPoints="1" noAdjustHandles="1" noChangeArrowheads="1" noChangeShapeType="1" noTextEdit="1"/>
              </p:cNvSpPr>
              <p:nvPr/>
            </p:nvSpPr>
            <p:spPr>
              <a:xfrm>
                <a:off x="6151185" y="6112602"/>
                <a:ext cx="402244" cy="213182"/>
              </a:xfrm>
              <a:prstGeom prst="rect">
                <a:avLst/>
              </a:prstGeom>
              <a:blipFill>
                <a:blip r:embed="rId15"/>
                <a:stretch>
                  <a:fillRect l="-12121" r="-4545" b="-51429"/>
                </a:stretch>
              </a:blipFill>
            </p:spPr>
            <p:txBody>
              <a:bodyPr/>
              <a:lstStyle/>
              <a:p>
                <a:r>
                  <a:rPr lang="it-IT">
                    <a:noFill/>
                  </a:rPr>
                  <a:t> </a:t>
                </a:r>
              </a:p>
            </p:txBody>
          </p:sp>
        </mc:Fallback>
      </mc:AlternateContent>
      <p:sp>
        <p:nvSpPr>
          <p:cNvPr id="38" name="CasellaDiTesto 37">
            <a:extLst>
              <a:ext uri="{FF2B5EF4-FFF2-40B4-BE49-F238E27FC236}">
                <a16:creationId xmlns:a16="http://schemas.microsoft.com/office/drawing/2014/main" id="{CA1C5DC4-AEA7-74D4-04E1-245E58C51173}"/>
              </a:ext>
            </a:extLst>
          </p:cNvPr>
          <p:cNvSpPr txBox="1"/>
          <p:nvPr/>
        </p:nvSpPr>
        <p:spPr>
          <a:xfrm>
            <a:off x="5597012" y="3225370"/>
            <a:ext cx="156002" cy="430887"/>
          </a:xfrm>
          <a:prstGeom prst="rect">
            <a:avLst/>
          </a:prstGeom>
          <a:noFill/>
        </p:spPr>
        <p:txBody>
          <a:bodyPr wrap="square" rtlCol="0">
            <a:spAutoFit/>
          </a:bodyPr>
          <a:lstStyle/>
          <a:p>
            <a:r>
              <a:rPr lang="it-IT" sz="2200" dirty="0">
                <a:solidFill>
                  <a:schemeClr val="bg1"/>
                </a:solidFill>
              </a:rPr>
              <a:t>+</a:t>
            </a:r>
          </a:p>
        </p:txBody>
      </p:sp>
      <p:pic>
        <p:nvPicPr>
          <p:cNvPr id="41" name="Immagine 40">
            <a:extLst>
              <a:ext uri="{FF2B5EF4-FFF2-40B4-BE49-F238E27FC236}">
                <a16:creationId xmlns:a16="http://schemas.microsoft.com/office/drawing/2014/main" id="{C4CA0675-1232-DC1C-563E-99A96FF16DAF}"/>
              </a:ext>
            </a:extLst>
          </p:cNvPr>
          <p:cNvPicPr>
            <a:picLocks noChangeAspect="1"/>
          </p:cNvPicPr>
          <p:nvPr/>
        </p:nvPicPr>
        <p:blipFill>
          <a:blip r:embed="rId9"/>
          <a:srcRect l="39092" t="93817" r="37303" b="-954"/>
          <a:stretch/>
        </p:blipFill>
        <p:spPr>
          <a:xfrm>
            <a:off x="8739637" y="6102768"/>
            <a:ext cx="1816229" cy="248424"/>
          </a:xfrm>
          <a:prstGeom prst="rect">
            <a:avLst/>
          </a:prstGeom>
        </p:spPr>
      </p:pic>
      <p:sp>
        <p:nvSpPr>
          <p:cNvPr id="42" name="Rettangolo 41">
            <a:extLst>
              <a:ext uri="{FF2B5EF4-FFF2-40B4-BE49-F238E27FC236}">
                <a16:creationId xmlns:a16="http://schemas.microsoft.com/office/drawing/2014/main" id="{20347716-0336-D989-B307-64C0E1E67CBC}"/>
              </a:ext>
            </a:extLst>
          </p:cNvPr>
          <p:cNvSpPr/>
          <p:nvPr/>
        </p:nvSpPr>
        <p:spPr>
          <a:xfrm>
            <a:off x="9101487" y="6102768"/>
            <a:ext cx="559809" cy="24842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3" name="Rettangolo 42">
            <a:extLst>
              <a:ext uri="{FF2B5EF4-FFF2-40B4-BE49-F238E27FC236}">
                <a16:creationId xmlns:a16="http://schemas.microsoft.com/office/drawing/2014/main" id="{687ABFE2-C48E-EE6C-FBB7-BC834F88E16D}"/>
              </a:ext>
            </a:extLst>
          </p:cNvPr>
          <p:cNvSpPr/>
          <p:nvPr/>
        </p:nvSpPr>
        <p:spPr>
          <a:xfrm>
            <a:off x="9870872" y="6109342"/>
            <a:ext cx="559809" cy="24842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xmlns:a14="http://schemas.microsoft.com/office/drawing/2010/main">
        <mc:Choice Requires="a14">
          <p:sp>
            <p:nvSpPr>
              <p:cNvPr id="44" name="CasellaDiTesto 43">
                <a:extLst>
                  <a:ext uri="{FF2B5EF4-FFF2-40B4-BE49-F238E27FC236}">
                    <a16:creationId xmlns:a16="http://schemas.microsoft.com/office/drawing/2014/main" id="{CEC9A25D-50A7-3687-BDB3-A8C4E9F18961}"/>
                  </a:ext>
                </a:extLst>
              </p:cNvPr>
              <p:cNvSpPr txBox="1"/>
              <p:nvPr/>
            </p:nvSpPr>
            <p:spPr>
              <a:xfrm>
                <a:off x="9071681" y="6099464"/>
                <a:ext cx="430794" cy="213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solidFill>
                            <a:schemeClr val="bg1"/>
                          </a:solidFill>
                          <a:latin typeface="Cambria Math" panose="02040503050406030204" pitchFamily="18" charset="0"/>
                          <a:ea typeface="Cambria Math" panose="02040503050406030204" pitchFamily="18" charset="0"/>
                        </a:rPr>
                        <m:t>∆</m:t>
                      </m:r>
                      <m:sSub>
                        <m:sSubPr>
                          <m:ctrlPr>
                            <a:rPr lang="it-IT" i="1" smtClean="0">
                              <a:solidFill>
                                <a:schemeClr val="bg1"/>
                              </a:solidFill>
                              <a:latin typeface="Cambria Math" panose="02040503050406030204" pitchFamily="18" charset="0"/>
                              <a:ea typeface="Cambria Math" panose="02040503050406030204" pitchFamily="18" charset="0"/>
                            </a:rPr>
                          </m:ctrlPr>
                        </m:sSubPr>
                        <m:e>
                          <m:r>
                            <a:rPr lang="it-IT" b="0" i="1" smtClean="0">
                              <a:solidFill>
                                <a:schemeClr val="bg1"/>
                              </a:solidFill>
                              <a:latin typeface="Cambria Math" panose="02040503050406030204" pitchFamily="18" charset="0"/>
                              <a:ea typeface="Cambria Math" panose="02040503050406030204" pitchFamily="18" charset="0"/>
                            </a:rPr>
                            <m:t>𝑐</m:t>
                          </m:r>
                        </m:e>
                        <m:sub>
                          <m:r>
                            <a:rPr lang="it-IT" b="0" i="1" smtClean="0">
                              <a:solidFill>
                                <a:schemeClr val="bg1"/>
                              </a:solidFill>
                              <a:latin typeface="Cambria Math" panose="02040503050406030204" pitchFamily="18" charset="0"/>
                              <a:ea typeface="Cambria Math" panose="02040503050406030204" pitchFamily="18" charset="0"/>
                            </a:rPr>
                            <m:t>𝐷</m:t>
                          </m:r>
                        </m:sub>
                      </m:sSub>
                    </m:oMath>
                  </m:oMathPara>
                </a14:m>
                <a:endParaRPr lang="it-IT" dirty="0">
                  <a:solidFill>
                    <a:schemeClr val="bg1"/>
                  </a:solidFill>
                </a:endParaRPr>
              </a:p>
            </p:txBody>
          </p:sp>
        </mc:Choice>
        <mc:Fallback xmlns="">
          <p:sp>
            <p:nvSpPr>
              <p:cNvPr id="44" name="CasellaDiTesto 43">
                <a:extLst>
                  <a:ext uri="{FF2B5EF4-FFF2-40B4-BE49-F238E27FC236}">
                    <a16:creationId xmlns:a16="http://schemas.microsoft.com/office/drawing/2014/main" id="{CEC9A25D-50A7-3687-BDB3-A8C4E9F18961}"/>
                  </a:ext>
                </a:extLst>
              </p:cNvPr>
              <p:cNvSpPr txBox="1">
                <a:spLocks noRot="1" noChangeAspect="1" noMove="1" noResize="1" noEditPoints="1" noAdjustHandles="1" noChangeArrowheads="1" noChangeShapeType="1" noTextEdit="1"/>
              </p:cNvSpPr>
              <p:nvPr/>
            </p:nvSpPr>
            <p:spPr>
              <a:xfrm>
                <a:off x="9071681" y="6099464"/>
                <a:ext cx="430794" cy="213182"/>
              </a:xfrm>
              <a:prstGeom prst="rect">
                <a:avLst/>
              </a:prstGeom>
              <a:blipFill>
                <a:blip r:embed="rId14"/>
                <a:stretch>
                  <a:fillRect l="-11268" r="-4225" b="-5142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5" name="CasellaDiTesto 44">
                <a:extLst>
                  <a:ext uri="{FF2B5EF4-FFF2-40B4-BE49-F238E27FC236}">
                    <a16:creationId xmlns:a16="http://schemas.microsoft.com/office/drawing/2014/main" id="{C6BAE75F-A414-D11F-39AA-6B47D27466C1}"/>
                  </a:ext>
                </a:extLst>
              </p:cNvPr>
              <p:cNvSpPr txBox="1"/>
              <p:nvPr/>
            </p:nvSpPr>
            <p:spPr>
              <a:xfrm>
                <a:off x="9953198" y="6099464"/>
                <a:ext cx="402244" cy="213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solidFill>
                            <a:schemeClr val="bg1"/>
                          </a:solidFill>
                          <a:latin typeface="Cambria Math" panose="02040503050406030204" pitchFamily="18" charset="0"/>
                          <a:ea typeface="Cambria Math" panose="02040503050406030204" pitchFamily="18" charset="0"/>
                        </a:rPr>
                        <m:t>∆</m:t>
                      </m:r>
                      <m:sSub>
                        <m:sSubPr>
                          <m:ctrlPr>
                            <a:rPr lang="it-IT" i="1" smtClean="0">
                              <a:solidFill>
                                <a:schemeClr val="bg1"/>
                              </a:solidFill>
                              <a:latin typeface="Cambria Math" panose="02040503050406030204" pitchFamily="18" charset="0"/>
                              <a:ea typeface="Cambria Math" panose="02040503050406030204" pitchFamily="18" charset="0"/>
                            </a:rPr>
                          </m:ctrlPr>
                        </m:sSubPr>
                        <m:e>
                          <m:r>
                            <a:rPr lang="it-IT" b="0" i="1" smtClean="0">
                              <a:solidFill>
                                <a:schemeClr val="bg1"/>
                              </a:solidFill>
                              <a:latin typeface="Cambria Math" panose="02040503050406030204" pitchFamily="18" charset="0"/>
                              <a:ea typeface="Cambria Math" panose="02040503050406030204" pitchFamily="18" charset="0"/>
                            </a:rPr>
                            <m:t>𝑐</m:t>
                          </m:r>
                        </m:e>
                        <m:sub>
                          <m:r>
                            <a:rPr lang="it-IT" b="0" i="1" smtClean="0">
                              <a:solidFill>
                                <a:schemeClr val="bg1"/>
                              </a:solidFill>
                              <a:latin typeface="Cambria Math" panose="02040503050406030204" pitchFamily="18" charset="0"/>
                              <a:ea typeface="Cambria Math" panose="02040503050406030204" pitchFamily="18" charset="0"/>
                            </a:rPr>
                            <m:t>𝐿</m:t>
                          </m:r>
                        </m:sub>
                      </m:sSub>
                    </m:oMath>
                  </m:oMathPara>
                </a14:m>
                <a:endParaRPr lang="it-IT">
                  <a:solidFill>
                    <a:schemeClr val="bg1"/>
                  </a:solidFill>
                </a:endParaRPr>
              </a:p>
            </p:txBody>
          </p:sp>
        </mc:Choice>
        <mc:Fallback xmlns="">
          <p:sp>
            <p:nvSpPr>
              <p:cNvPr id="45" name="CasellaDiTesto 44">
                <a:extLst>
                  <a:ext uri="{FF2B5EF4-FFF2-40B4-BE49-F238E27FC236}">
                    <a16:creationId xmlns:a16="http://schemas.microsoft.com/office/drawing/2014/main" id="{C6BAE75F-A414-D11F-39AA-6B47D27466C1}"/>
                  </a:ext>
                </a:extLst>
              </p:cNvPr>
              <p:cNvSpPr txBox="1">
                <a:spLocks noRot="1" noChangeAspect="1" noMove="1" noResize="1" noEditPoints="1" noAdjustHandles="1" noChangeArrowheads="1" noChangeShapeType="1" noTextEdit="1"/>
              </p:cNvSpPr>
              <p:nvPr/>
            </p:nvSpPr>
            <p:spPr>
              <a:xfrm>
                <a:off x="9953198" y="6099464"/>
                <a:ext cx="402244" cy="213182"/>
              </a:xfrm>
              <a:prstGeom prst="rect">
                <a:avLst/>
              </a:prstGeom>
              <a:blipFill>
                <a:blip r:embed="rId16"/>
                <a:stretch>
                  <a:fillRect l="-13636" r="-3030" b="-51429"/>
                </a:stretch>
              </a:blipFill>
            </p:spPr>
            <p:txBody>
              <a:bodyPr/>
              <a:lstStyle/>
              <a:p>
                <a:r>
                  <a:rPr lang="it-IT">
                    <a:noFill/>
                  </a:rPr>
                  <a:t> </a:t>
                </a:r>
              </a:p>
            </p:txBody>
          </p:sp>
        </mc:Fallback>
      </mc:AlternateContent>
      <p:sp>
        <p:nvSpPr>
          <p:cNvPr id="46" name="CasellaDiTesto 45">
            <a:extLst>
              <a:ext uri="{FF2B5EF4-FFF2-40B4-BE49-F238E27FC236}">
                <a16:creationId xmlns:a16="http://schemas.microsoft.com/office/drawing/2014/main" id="{4B4FA699-8020-94AE-8533-E6051DC1D8D8}"/>
              </a:ext>
            </a:extLst>
          </p:cNvPr>
          <p:cNvSpPr txBox="1"/>
          <p:nvPr/>
        </p:nvSpPr>
        <p:spPr>
          <a:xfrm>
            <a:off x="8524695" y="3425347"/>
            <a:ext cx="414854" cy="235483"/>
          </a:xfrm>
          <a:prstGeom prst="rect">
            <a:avLst/>
          </a:prstGeom>
          <a:noFill/>
        </p:spPr>
        <p:txBody>
          <a:bodyPr wrap="square" rtlCol="0">
            <a:spAutoFit/>
          </a:bodyPr>
          <a:lstStyle/>
          <a:p>
            <a:r>
              <a:rPr lang="it-IT" sz="1200">
                <a:solidFill>
                  <a:schemeClr val="bg1"/>
                </a:solidFill>
              </a:rPr>
              <a:t>CR</a:t>
            </a:r>
          </a:p>
        </p:txBody>
      </p:sp>
      <p:pic>
        <p:nvPicPr>
          <p:cNvPr id="47" name="Picture 3">
            <a:extLst>
              <a:ext uri="{FF2B5EF4-FFF2-40B4-BE49-F238E27FC236}">
                <a16:creationId xmlns:a16="http://schemas.microsoft.com/office/drawing/2014/main" id="{E67178D9-F75E-5931-0816-069D68C678C6}"/>
              </a:ext>
            </a:extLst>
          </p:cNvPr>
          <p:cNvPicPr>
            <a:picLocks noChangeAspect="1"/>
          </p:cNvPicPr>
          <p:nvPr/>
        </p:nvPicPr>
        <p:blipFill>
          <a:blip r:embed="rId7"/>
          <a:srcRect l="48119" t="49875" r="6594" b="7799"/>
          <a:stretch/>
        </p:blipFill>
        <p:spPr>
          <a:xfrm>
            <a:off x="8480748" y="3660831"/>
            <a:ext cx="491216" cy="416269"/>
          </a:xfrm>
          <a:prstGeom prst="rect">
            <a:avLst/>
          </a:prstGeom>
        </p:spPr>
      </p:pic>
      <p:sp>
        <p:nvSpPr>
          <p:cNvPr id="48" name="CasellaDiTesto 47">
            <a:extLst>
              <a:ext uri="{FF2B5EF4-FFF2-40B4-BE49-F238E27FC236}">
                <a16:creationId xmlns:a16="http://schemas.microsoft.com/office/drawing/2014/main" id="{AF7A638F-DF5E-E453-45AF-5469E6C19A10}"/>
              </a:ext>
            </a:extLst>
          </p:cNvPr>
          <p:cNvSpPr txBox="1"/>
          <p:nvPr/>
        </p:nvSpPr>
        <p:spPr>
          <a:xfrm>
            <a:off x="10008878" y="3431324"/>
            <a:ext cx="438811" cy="276999"/>
          </a:xfrm>
          <a:prstGeom prst="rect">
            <a:avLst/>
          </a:prstGeom>
          <a:noFill/>
        </p:spPr>
        <p:txBody>
          <a:bodyPr wrap="square" rtlCol="0">
            <a:spAutoFit/>
          </a:bodyPr>
          <a:lstStyle/>
          <a:p>
            <a:r>
              <a:rPr lang="it-IT" sz="1200">
                <a:solidFill>
                  <a:schemeClr val="bg1"/>
                </a:solidFill>
              </a:rPr>
              <a:t>OR</a:t>
            </a:r>
          </a:p>
        </p:txBody>
      </p:sp>
      <p:pic>
        <p:nvPicPr>
          <p:cNvPr id="49" name="Immagine 48">
            <a:extLst>
              <a:ext uri="{FF2B5EF4-FFF2-40B4-BE49-F238E27FC236}">
                <a16:creationId xmlns:a16="http://schemas.microsoft.com/office/drawing/2014/main" id="{FE356AEF-0C78-FB13-34E3-27B93AD50A3A}"/>
              </a:ext>
            </a:extLst>
          </p:cNvPr>
          <p:cNvPicPr>
            <a:picLocks noChangeAspect="1"/>
          </p:cNvPicPr>
          <p:nvPr/>
        </p:nvPicPr>
        <p:blipFill>
          <a:blip r:embed="rId8"/>
          <a:stretch>
            <a:fillRect/>
          </a:stretch>
        </p:blipFill>
        <p:spPr>
          <a:xfrm>
            <a:off x="9946883" y="3660830"/>
            <a:ext cx="519583" cy="411545"/>
          </a:xfrm>
          <a:prstGeom prst="rect">
            <a:avLst/>
          </a:prstGeom>
        </p:spPr>
      </p:pic>
      <p:sp>
        <p:nvSpPr>
          <p:cNvPr id="50" name="CasellaDiTesto 49">
            <a:extLst>
              <a:ext uri="{FF2B5EF4-FFF2-40B4-BE49-F238E27FC236}">
                <a16:creationId xmlns:a16="http://schemas.microsoft.com/office/drawing/2014/main" id="{478AC283-5AC9-87B5-C1A4-28A6EE89A975}"/>
              </a:ext>
            </a:extLst>
          </p:cNvPr>
          <p:cNvSpPr txBox="1"/>
          <p:nvPr/>
        </p:nvSpPr>
        <p:spPr>
          <a:xfrm>
            <a:off x="9287214" y="3239713"/>
            <a:ext cx="156002" cy="430887"/>
          </a:xfrm>
          <a:prstGeom prst="rect">
            <a:avLst/>
          </a:prstGeom>
          <a:noFill/>
        </p:spPr>
        <p:txBody>
          <a:bodyPr wrap="square" rtlCol="0">
            <a:spAutoFit/>
          </a:bodyPr>
          <a:lstStyle/>
          <a:p>
            <a:r>
              <a:rPr lang="it-IT" sz="2200" dirty="0">
                <a:solidFill>
                  <a:schemeClr val="bg1"/>
                </a:solidFill>
              </a:rPr>
              <a:t>+</a:t>
            </a:r>
          </a:p>
        </p:txBody>
      </p:sp>
      <p:pic>
        <p:nvPicPr>
          <p:cNvPr id="52" name="Immagine 51">
            <a:extLst>
              <a:ext uri="{FF2B5EF4-FFF2-40B4-BE49-F238E27FC236}">
                <a16:creationId xmlns:a16="http://schemas.microsoft.com/office/drawing/2014/main" id="{B42E200B-EBEE-97CC-D58D-07396C2A5624}"/>
              </a:ext>
            </a:extLst>
          </p:cNvPr>
          <p:cNvPicPr>
            <a:picLocks noChangeAspect="1"/>
          </p:cNvPicPr>
          <p:nvPr/>
        </p:nvPicPr>
        <p:blipFill>
          <a:blip r:embed="rId17"/>
          <a:stretch>
            <a:fillRect/>
          </a:stretch>
        </p:blipFill>
        <p:spPr>
          <a:xfrm>
            <a:off x="7886677" y="4162559"/>
            <a:ext cx="2958937" cy="1870062"/>
          </a:xfrm>
          <a:prstGeom prst="rect">
            <a:avLst/>
          </a:prstGeom>
        </p:spPr>
      </p:pic>
      <p:sp>
        <p:nvSpPr>
          <p:cNvPr id="12" name="Content Placeholder 5">
            <a:extLst>
              <a:ext uri="{FF2B5EF4-FFF2-40B4-BE49-F238E27FC236}">
                <a16:creationId xmlns:a16="http://schemas.microsoft.com/office/drawing/2014/main" id="{E2864656-8551-7AE2-2CD2-699FB4FDC924}"/>
              </a:ext>
            </a:extLst>
          </p:cNvPr>
          <p:cNvSpPr txBox="1">
            <a:spLocks/>
          </p:cNvSpPr>
          <p:nvPr/>
        </p:nvSpPr>
        <p:spPr>
          <a:xfrm>
            <a:off x="160140" y="6461948"/>
            <a:ext cx="11041259" cy="409860"/>
          </a:xfrm>
          <a:prstGeom prst="rect">
            <a:avLst/>
          </a:prstGeom>
        </p:spPr>
        <p:txBody>
          <a:bodyPr vert="horz" lIns="0" tIns="45720" rIns="0" bIns="0" rtlCol="0" anchor="t">
            <a:normAutofit/>
          </a:bodyPr>
          <a:lstStyle>
            <a:defPPr>
              <a:defRPr lang="en-US"/>
            </a:defPPr>
            <a:lvl1pPr marL="0" indent="0" algn="l" defTabSz="914400" rtl="0" eaLnBrk="1" latinLnBrk="0" hangingPunct="1">
              <a:lnSpc>
                <a:spcPct val="90000"/>
              </a:lnSpc>
              <a:spcBef>
                <a:spcPts val="1800"/>
              </a:spcBef>
              <a:buFont typeface="Arial" panose="020B0604020202020204" pitchFamily="34" charset="0"/>
              <a:buNone/>
              <a:defRPr sz="2000" b="0" i="0" kern="1200">
                <a:solidFill>
                  <a:schemeClr val="bg1"/>
                </a:solidFill>
                <a:latin typeface="+mn-lt"/>
                <a:ea typeface="+mn-ea"/>
                <a:cs typeface="+mn-cs"/>
              </a:defRPr>
            </a:lvl1pPr>
            <a:lvl2pPr marL="283464"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2pPr>
            <a:lvl3pPr marL="59436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3pPr>
            <a:lvl4pPr marL="82296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4pPr>
            <a:lvl5pPr marL="100584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b="1" dirty="0">
                <a:solidFill>
                  <a:srgbClr val="7CA655"/>
                </a:solidFill>
              </a:rPr>
              <a:t>Source: </a:t>
            </a:r>
            <a:r>
              <a:rPr lang="it-IT" dirty="0"/>
              <a:t>«</a:t>
            </a:r>
            <a:r>
              <a:rPr lang="en-US" sz="1600" dirty="0">
                <a:solidFill>
                  <a:srgbClr val="111111"/>
                </a:solidFill>
              </a:rPr>
              <a:t>Investigation of the influence of </a:t>
            </a:r>
            <a:r>
              <a:rPr lang="en-US" sz="1600" dirty="0" err="1">
                <a:solidFill>
                  <a:srgbClr val="111111"/>
                </a:solidFill>
              </a:rPr>
              <a:t>tyre</a:t>
            </a:r>
            <a:r>
              <a:rPr lang="en-US" sz="1600" dirty="0">
                <a:solidFill>
                  <a:srgbClr val="111111"/>
                </a:solidFill>
              </a:rPr>
              <a:t> geometry on the </a:t>
            </a:r>
            <a:r>
              <a:rPr lang="en-US" sz="1500" dirty="0">
                <a:solidFill>
                  <a:srgbClr val="111111"/>
                </a:solidFill>
              </a:rPr>
              <a:t>aerodynamics of passenger cars</a:t>
            </a:r>
            <a:r>
              <a:rPr lang="it-IT" sz="1900" dirty="0"/>
              <a:t>», </a:t>
            </a:r>
            <a:r>
              <a:rPr lang="en-US" sz="1500" dirty="0"/>
              <a:t>Teddy Hobeika , Simone Sebben</a:t>
            </a:r>
            <a:endParaRPr lang="en-US" sz="1600" dirty="0"/>
          </a:p>
          <a:p>
            <a:pPr marL="342900" indent="-342900">
              <a:lnSpc>
                <a:spcPct val="150000"/>
              </a:lnSpc>
              <a:spcBef>
                <a:spcPts val="0"/>
              </a:spcBef>
              <a:buFont typeface="Arial" panose="020B0604020202020204" pitchFamily="34" charset="0"/>
              <a:buChar char="•"/>
            </a:pPr>
            <a:endParaRPr lang="it-IT" sz="1600"/>
          </a:p>
          <a:p>
            <a:pPr marL="937260" lvl="2" indent="-342900"/>
            <a:endParaRPr lang="it-IT" b="1">
              <a:solidFill>
                <a:schemeClr val="tx2"/>
              </a:solidFill>
            </a:endParaRPr>
          </a:p>
          <a:p>
            <a:endParaRPr lang="en-US" b="1">
              <a:solidFill>
                <a:schemeClr val="tx2"/>
              </a:solidFill>
            </a:endParaRPr>
          </a:p>
        </p:txBody>
      </p:sp>
      <p:pic>
        <p:nvPicPr>
          <p:cNvPr id="26" name="Immagine 25">
            <a:extLst>
              <a:ext uri="{FF2B5EF4-FFF2-40B4-BE49-F238E27FC236}">
                <a16:creationId xmlns:a16="http://schemas.microsoft.com/office/drawing/2014/main" id="{9F4E0BA6-F4CB-E66C-0E5B-609F7721AA17}"/>
              </a:ext>
            </a:extLst>
          </p:cNvPr>
          <p:cNvPicPr>
            <a:picLocks noChangeAspect="1"/>
          </p:cNvPicPr>
          <p:nvPr/>
        </p:nvPicPr>
        <p:blipFill>
          <a:blip r:embed="rId18"/>
          <a:stretch>
            <a:fillRect/>
          </a:stretch>
        </p:blipFill>
        <p:spPr>
          <a:xfrm>
            <a:off x="422416" y="4216840"/>
            <a:ext cx="3087837" cy="1886549"/>
          </a:xfrm>
          <a:prstGeom prst="rect">
            <a:avLst/>
          </a:prstGeom>
        </p:spPr>
      </p:pic>
    </p:spTree>
    <p:extLst>
      <p:ext uri="{BB962C8B-B14F-4D97-AF65-F5344CB8AC3E}">
        <p14:creationId xmlns:p14="http://schemas.microsoft.com/office/powerpoint/2010/main" val="364375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B3485-1A12-B185-E7EE-3057EA443D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41DB38-7ED8-031B-79D1-21D98031E7BC}"/>
              </a:ext>
            </a:extLst>
          </p:cNvPr>
          <p:cNvSpPr>
            <a:spLocks noGrp="1"/>
          </p:cNvSpPr>
          <p:nvPr>
            <p:ph type="title"/>
          </p:nvPr>
        </p:nvSpPr>
        <p:spPr>
          <a:xfrm>
            <a:off x="594360" y="-28378"/>
            <a:ext cx="9778365" cy="1494596"/>
          </a:xfrm>
        </p:spPr>
        <p:txBody>
          <a:bodyPr/>
          <a:lstStyle/>
          <a:p>
            <a:r>
              <a:rPr lang="en-US" dirty="0"/>
              <a:t>Influence of </a:t>
            </a:r>
            <a:r>
              <a:rPr lang="en-US" dirty="0" err="1"/>
              <a:t>tyre</a:t>
            </a:r>
            <a:r>
              <a:rPr lang="en-US" dirty="0"/>
              <a:t> profile </a:t>
            </a:r>
          </a:p>
        </p:txBody>
      </p:sp>
      <p:pic>
        <p:nvPicPr>
          <p:cNvPr id="6" name="Picture 5">
            <a:extLst>
              <a:ext uri="{FF2B5EF4-FFF2-40B4-BE49-F238E27FC236}">
                <a16:creationId xmlns:a16="http://schemas.microsoft.com/office/drawing/2014/main" id="{37FD291B-D2F6-6A50-04FB-7DFE35F69809}"/>
              </a:ext>
            </a:extLst>
          </p:cNvPr>
          <p:cNvPicPr>
            <a:picLocks noChangeAspect="1"/>
          </p:cNvPicPr>
          <p:nvPr/>
        </p:nvPicPr>
        <p:blipFill>
          <a:blip r:embed="rId3"/>
          <a:stretch>
            <a:fillRect/>
          </a:stretch>
        </p:blipFill>
        <p:spPr>
          <a:xfrm>
            <a:off x="11227317" y="5949493"/>
            <a:ext cx="876422" cy="838317"/>
          </a:xfrm>
          <a:prstGeom prst="rect">
            <a:avLst/>
          </a:prstGeom>
        </p:spPr>
      </p:pic>
      <p:pic>
        <p:nvPicPr>
          <p:cNvPr id="3" name="Picture 2">
            <a:extLst>
              <a:ext uri="{FF2B5EF4-FFF2-40B4-BE49-F238E27FC236}">
                <a16:creationId xmlns:a16="http://schemas.microsoft.com/office/drawing/2014/main" id="{D94B3585-9B54-3607-974D-36E00EA3FD5B}"/>
              </a:ext>
            </a:extLst>
          </p:cNvPr>
          <p:cNvPicPr>
            <a:picLocks noChangeAspect="1"/>
          </p:cNvPicPr>
          <p:nvPr/>
        </p:nvPicPr>
        <p:blipFill>
          <a:blip r:embed="rId4"/>
          <a:stretch>
            <a:fillRect/>
          </a:stretch>
        </p:blipFill>
        <p:spPr>
          <a:xfrm>
            <a:off x="7563644" y="2025885"/>
            <a:ext cx="3171693" cy="1403115"/>
          </a:xfrm>
          <a:prstGeom prst="rect">
            <a:avLst/>
          </a:prstGeom>
        </p:spPr>
      </p:pic>
      <p:pic>
        <p:nvPicPr>
          <p:cNvPr id="4" name="Picture 3">
            <a:extLst>
              <a:ext uri="{FF2B5EF4-FFF2-40B4-BE49-F238E27FC236}">
                <a16:creationId xmlns:a16="http://schemas.microsoft.com/office/drawing/2014/main" id="{34650F85-6F33-ED7E-28DC-497DE09DEF89}"/>
              </a:ext>
            </a:extLst>
          </p:cNvPr>
          <p:cNvPicPr>
            <a:picLocks noChangeAspect="1"/>
          </p:cNvPicPr>
          <p:nvPr/>
        </p:nvPicPr>
        <p:blipFill>
          <a:blip r:embed="rId5"/>
          <a:stretch>
            <a:fillRect/>
          </a:stretch>
        </p:blipFill>
        <p:spPr>
          <a:xfrm>
            <a:off x="7697093" y="3778542"/>
            <a:ext cx="2904793" cy="2170951"/>
          </a:xfrm>
          <a:prstGeom prst="rect">
            <a:avLst/>
          </a:prstGeom>
        </p:spPr>
      </p:pic>
      <p:sp>
        <p:nvSpPr>
          <p:cNvPr id="7" name="Rettangolo 6">
            <a:extLst>
              <a:ext uri="{FF2B5EF4-FFF2-40B4-BE49-F238E27FC236}">
                <a16:creationId xmlns:a16="http://schemas.microsoft.com/office/drawing/2014/main" id="{888B0731-12F5-7689-2FF3-D0156D6BE08A}"/>
              </a:ext>
            </a:extLst>
          </p:cNvPr>
          <p:cNvSpPr/>
          <p:nvPr/>
        </p:nvSpPr>
        <p:spPr>
          <a:xfrm>
            <a:off x="594360" y="2052320"/>
            <a:ext cx="2136140" cy="19301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9" name="Connettore diritto 8">
            <a:extLst>
              <a:ext uri="{FF2B5EF4-FFF2-40B4-BE49-F238E27FC236}">
                <a16:creationId xmlns:a16="http://schemas.microsoft.com/office/drawing/2014/main" id="{6846E708-717A-7BBF-3370-376FA5C75F23}"/>
              </a:ext>
            </a:extLst>
          </p:cNvPr>
          <p:cNvCxnSpPr>
            <a:cxnSpLocks/>
          </p:cNvCxnSpPr>
          <p:nvPr/>
        </p:nvCxnSpPr>
        <p:spPr>
          <a:xfrm>
            <a:off x="594360" y="1806575"/>
            <a:ext cx="2136140" cy="0"/>
          </a:xfrm>
          <a:prstGeom prst="line">
            <a:avLst/>
          </a:prstGeom>
          <a:ln w="101600">
            <a:solidFill>
              <a:srgbClr val="5D7D4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737429D-97DC-58D6-57C9-DB18C48A0FA1}"/>
              </a:ext>
            </a:extLst>
          </p:cNvPr>
          <p:cNvSpPr txBox="1"/>
          <p:nvPr/>
        </p:nvSpPr>
        <p:spPr>
          <a:xfrm>
            <a:off x="594360" y="2620456"/>
            <a:ext cx="6822440" cy="2908489"/>
          </a:xfrm>
          <a:prstGeom prst="rect">
            <a:avLst/>
          </a:prstGeom>
          <a:noFill/>
        </p:spPr>
        <p:txBody>
          <a:bodyPr wrap="square" rtlCol="0">
            <a:spAutoFit/>
          </a:bodyPr>
          <a:lstStyle/>
          <a:p>
            <a:pPr marL="285750" indent="-285750">
              <a:buFont typeface="Arial" panose="020B0604020202020204" pitchFamily="34" charset="0"/>
              <a:buChar char="•"/>
            </a:pPr>
            <a:r>
              <a:rPr lang="it-IT" sz="2200" dirty="0">
                <a:solidFill>
                  <a:schemeClr val="bg1"/>
                </a:solidFill>
                <a:latin typeface="Aptos" panose="020B0004020202020204" pitchFamily="34" charset="0"/>
              </a:rPr>
              <a:t>Drag </a:t>
            </a:r>
            <a:r>
              <a:rPr lang="it-IT" sz="2200" dirty="0" err="1">
                <a:solidFill>
                  <a:schemeClr val="bg1"/>
                </a:solidFill>
                <a:latin typeface="Aptos" panose="020B0004020202020204" pitchFamily="34" charset="0"/>
              </a:rPr>
              <a:t>reduction</a:t>
            </a:r>
            <a:r>
              <a:rPr lang="it-IT" sz="2200" dirty="0">
                <a:solidFill>
                  <a:schemeClr val="bg1"/>
                </a:solidFill>
                <a:latin typeface="Aptos" panose="020B0004020202020204" pitchFamily="34" charset="0"/>
              </a:rPr>
              <a:t> with </a:t>
            </a:r>
            <a:r>
              <a:rPr lang="it-IT" sz="2200" dirty="0" err="1">
                <a:solidFill>
                  <a:schemeClr val="bg1"/>
                </a:solidFill>
                <a:latin typeface="Aptos" panose="020B0004020202020204" pitchFamily="34" charset="0"/>
              </a:rPr>
              <a:t>closed</a:t>
            </a:r>
            <a:r>
              <a:rPr lang="it-IT" sz="2200" dirty="0">
                <a:solidFill>
                  <a:schemeClr val="bg1"/>
                </a:solidFill>
                <a:latin typeface="Aptos" panose="020B0004020202020204" pitchFamily="34" charset="0"/>
              </a:rPr>
              <a:t> </a:t>
            </a:r>
            <a:r>
              <a:rPr lang="it-IT" sz="2200" dirty="0" err="1">
                <a:solidFill>
                  <a:schemeClr val="bg1"/>
                </a:solidFill>
                <a:latin typeface="Aptos" panose="020B0004020202020204" pitchFamily="34" charset="0"/>
              </a:rPr>
              <a:t>rim</a:t>
            </a:r>
            <a:r>
              <a:rPr lang="it-IT" sz="2200" dirty="0">
                <a:solidFill>
                  <a:schemeClr val="bg1"/>
                </a:solidFill>
                <a:latin typeface="Aptos" panose="020B0004020202020204" pitchFamily="34" charset="0"/>
              </a:rPr>
              <a:t> in the NS </a:t>
            </a:r>
            <a:r>
              <a:rPr lang="it-IT" sz="2200" dirty="0" err="1">
                <a:solidFill>
                  <a:schemeClr val="bg1"/>
                </a:solidFill>
                <a:latin typeface="Aptos" panose="020B0004020202020204" pitchFamily="34" charset="0"/>
              </a:rPr>
              <a:t>configuration</a:t>
            </a:r>
            <a:r>
              <a:rPr lang="it-IT" sz="2200" dirty="0">
                <a:solidFill>
                  <a:schemeClr val="bg1"/>
                </a:solidFill>
                <a:latin typeface="Aptos" panose="020B0004020202020204" pitchFamily="34" charset="0"/>
              </a:rPr>
              <a:t>.</a:t>
            </a:r>
          </a:p>
          <a:p>
            <a:pPr marL="342900" indent="-342900">
              <a:lnSpc>
                <a:spcPct val="150000"/>
              </a:lnSpc>
              <a:buFont typeface="Arial" panose="020B0604020202020204" pitchFamily="34" charset="0"/>
              <a:buChar char="•"/>
            </a:pPr>
            <a:r>
              <a:rPr lang="it-IT" sz="2200" dirty="0" err="1">
                <a:solidFill>
                  <a:schemeClr val="bg1"/>
                </a:solidFill>
                <a:latin typeface="Aptos" panose="020B0004020202020204" pitchFamily="34" charset="0"/>
              </a:rPr>
              <a:t>Increased</a:t>
            </a:r>
            <a:r>
              <a:rPr lang="it-IT" sz="2200" dirty="0">
                <a:solidFill>
                  <a:schemeClr val="bg1"/>
                </a:solidFill>
                <a:latin typeface="Aptos" panose="020B0004020202020204" pitchFamily="34" charset="0"/>
              </a:rPr>
              <a:t> drag with NTNS </a:t>
            </a:r>
            <a:r>
              <a:rPr lang="it-IT" sz="2200" dirty="0" err="1">
                <a:solidFill>
                  <a:schemeClr val="bg1"/>
                </a:solidFill>
                <a:latin typeface="Aptos" panose="020B0004020202020204" pitchFamily="34" charset="0"/>
              </a:rPr>
              <a:t>configuration</a:t>
            </a:r>
            <a:r>
              <a:rPr lang="it-IT" sz="2200" dirty="0">
                <a:solidFill>
                  <a:schemeClr val="bg1"/>
                </a:solidFill>
                <a:latin typeface="Aptos" panose="020B0004020202020204" pitchFamily="34" charset="0"/>
              </a:rPr>
              <a:t>. </a:t>
            </a:r>
          </a:p>
          <a:p>
            <a:pPr marL="342900" indent="-342900">
              <a:lnSpc>
                <a:spcPct val="150000"/>
              </a:lnSpc>
              <a:buFont typeface="Arial" panose="020B0604020202020204" pitchFamily="34" charset="0"/>
              <a:buChar char="•"/>
            </a:pPr>
            <a:r>
              <a:rPr lang="it-IT" sz="2200" dirty="0">
                <a:solidFill>
                  <a:schemeClr val="bg1"/>
                </a:solidFill>
                <a:latin typeface="Aptos" panose="020B0004020202020204" pitchFamily="34" charset="0"/>
              </a:rPr>
              <a:t>Same flow </a:t>
            </a:r>
            <a:r>
              <a:rPr lang="it-IT" sz="2200" dirty="0" err="1">
                <a:solidFill>
                  <a:schemeClr val="bg1"/>
                </a:solidFill>
                <a:latin typeface="Aptos" panose="020B0004020202020204" pitchFamily="34" charset="0"/>
              </a:rPr>
              <a:t>mechanism</a:t>
            </a:r>
            <a:r>
              <a:rPr lang="it-IT" sz="2200" dirty="0">
                <a:solidFill>
                  <a:schemeClr val="bg1"/>
                </a:solidFill>
                <a:latin typeface="Aptos" panose="020B0004020202020204" pitchFamily="34" charset="0"/>
              </a:rPr>
              <a:t> in </a:t>
            </a:r>
            <a:r>
              <a:rPr lang="it-IT" sz="2200" dirty="0" err="1">
                <a:solidFill>
                  <a:schemeClr val="bg1"/>
                </a:solidFill>
                <a:latin typeface="Aptos" panose="020B0004020202020204" pitchFamily="34" charset="0"/>
              </a:rPr>
              <a:t>both</a:t>
            </a:r>
            <a:r>
              <a:rPr lang="it-IT" sz="2200" dirty="0">
                <a:solidFill>
                  <a:schemeClr val="bg1"/>
                </a:solidFill>
                <a:latin typeface="Aptos" panose="020B0004020202020204" pitchFamily="34" charset="0"/>
              </a:rPr>
              <a:t> </a:t>
            </a:r>
            <a:r>
              <a:rPr lang="it-IT" sz="2200" dirty="0" err="1">
                <a:solidFill>
                  <a:schemeClr val="bg1"/>
                </a:solidFill>
                <a:latin typeface="Aptos" panose="020B0004020202020204" pitchFamily="34" charset="0"/>
              </a:rPr>
              <a:t>rims</a:t>
            </a:r>
            <a:r>
              <a:rPr lang="it-IT" sz="2200" dirty="0">
                <a:solidFill>
                  <a:schemeClr val="bg1"/>
                </a:solidFill>
                <a:latin typeface="Aptos" panose="020B0004020202020204" pitchFamily="34" charset="0"/>
              </a:rPr>
              <a:t> </a:t>
            </a:r>
            <a:r>
              <a:rPr lang="it-IT" sz="2200" dirty="0" err="1">
                <a:solidFill>
                  <a:schemeClr val="bg1"/>
                </a:solidFill>
                <a:latin typeface="Aptos" panose="020B0004020202020204" pitchFamily="34" charset="0"/>
              </a:rPr>
              <a:t>configurations</a:t>
            </a:r>
            <a:r>
              <a:rPr lang="it-IT" sz="2200" dirty="0">
                <a:solidFill>
                  <a:schemeClr val="bg1"/>
                </a:solidFill>
                <a:latin typeface="Aptos" panose="020B0004020202020204" pitchFamily="34" charset="0"/>
              </a:rPr>
              <a:t>.</a:t>
            </a:r>
          </a:p>
          <a:p>
            <a:pPr marL="285750" indent="-285750">
              <a:lnSpc>
                <a:spcPct val="150000"/>
              </a:lnSpc>
              <a:buFont typeface="Arial" panose="020B0604020202020204" pitchFamily="34" charset="0"/>
              <a:buChar char="•"/>
            </a:pPr>
            <a:r>
              <a:rPr lang="it-IT" sz="2200" dirty="0" err="1">
                <a:solidFill>
                  <a:schemeClr val="bg1"/>
                </a:solidFill>
                <a:latin typeface="Aptos" panose="020B0004020202020204" pitchFamily="34" charset="0"/>
              </a:rPr>
              <a:t>Larger</a:t>
            </a:r>
            <a:r>
              <a:rPr lang="it-IT" sz="2200" dirty="0">
                <a:solidFill>
                  <a:schemeClr val="bg1"/>
                </a:solidFill>
                <a:latin typeface="Aptos" panose="020B0004020202020204" pitchFamily="34" charset="0"/>
              </a:rPr>
              <a:t> drag delta for the open </a:t>
            </a:r>
            <a:r>
              <a:rPr lang="it-IT" sz="2200" dirty="0" err="1">
                <a:solidFill>
                  <a:schemeClr val="bg1"/>
                </a:solidFill>
                <a:latin typeface="Aptos" panose="020B0004020202020204" pitchFamily="34" charset="0"/>
              </a:rPr>
              <a:t>rim</a:t>
            </a:r>
            <a:endParaRPr lang="en-US" sz="2200" dirty="0">
              <a:solidFill>
                <a:schemeClr val="bg1"/>
              </a:solidFill>
              <a:latin typeface="Aptos" panose="020B0004020202020204" pitchFamily="34" charset="0"/>
            </a:endParaRPr>
          </a:p>
          <a:p>
            <a:pPr marL="342900" indent="-342900">
              <a:buFont typeface="Arial" panose="020B0604020202020204" pitchFamily="34" charset="0"/>
              <a:buChar char="•"/>
            </a:pPr>
            <a:endParaRPr lang="it-IT" sz="2200" dirty="0">
              <a:solidFill>
                <a:schemeClr val="bg1"/>
              </a:solidFill>
              <a:latin typeface="Aptos" panose="020B0004020202020204" pitchFamily="34" charset="0"/>
            </a:endParaRPr>
          </a:p>
          <a:p>
            <a:endParaRPr lang="en-US" dirty="0"/>
          </a:p>
        </p:txBody>
      </p:sp>
      <p:sp>
        <p:nvSpPr>
          <p:cNvPr id="10" name="Content Placeholder 5">
            <a:extLst>
              <a:ext uri="{FF2B5EF4-FFF2-40B4-BE49-F238E27FC236}">
                <a16:creationId xmlns:a16="http://schemas.microsoft.com/office/drawing/2014/main" id="{A614CF94-F700-2331-9868-49425BBBD816}"/>
              </a:ext>
            </a:extLst>
          </p:cNvPr>
          <p:cNvSpPr txBox="1">
            <a:spLocks/>
          </p:cNvSpPr>
          <p:nvPr/>
        </p:nvSpPr>
        <p:spPr>
          <a:xfrm>
            <a:off x="594360" y="6129861"/>
            <a:ext cx="10147532" cy="901027"/>
          </a:xfrm>
          <a:prstGeom prst="rect">
            <a:avLst/>
          </a:prstGeom>
        </p:spPr>
        <p:txBody>
          <a:bodyPr vert="horz" lIns="0" tIns="45720" rIns="0" bIns="0" rtlCol="0">
            <a:normAutofit/>
          </a:bodyPr>
          <a:lstStyle>
            <a:lvl1pPr marL="0" indent="0" algn="l" defTabSz="914400" rtl="0" eaLnBrk="1" latinLnBrk="0" hangingPunct="1">
              <a:lnSpc>
                <a:spcPct val="90000"/>
              </a:lnSpc>
              <a:spcBef>
                <a:spcPts val="1800"/>
              </a:spcBef>
              <a:buFont typeface="Arial" panose="020B0604020202020204" pitchFamily="34" charset="0"/>
              <a:buNone/>
              <a:defRPr sz="2000" b="0" i="0" kern="1200">
                <a:solidFill>
                  <a:schemeClr val="bg1"/>
                </a:solidFill>
                <a:latin typeface="+mn-lt"/>
                <a:ea typeface="+mn-ea"/>
                <a:cs typeface="+mn-cs"/>
              </a:defRPr>
            </a:lvl1pPr>
            <a:lvl2pPr marL="283464"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2pPr>
            <a:lvl3pPr marL="59436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3pPr>
            <a:lvl4pPr marL="82296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4pPr>
            <a:lvl5pPr marL="100584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b="1">
                <a:solidFill>
                  <a:srgbClr val="7CA655"/>
                </a:solidFill>
              </a:rPr>
              <a:t>Source: </a:t>
            </a:r>
            <a:r>
              <a:rPr lang="it-IT"/>
              <a:t>«</a:t>
            </a:r>
            <a:r>
              <a:rPr lang="en-US" sz="1800" b="0" i="0" err="1">
                <a:solidFill>
                  <a:srgbClr val="1F1F1F"/>
                </a:solidFill>
                <a:effectLst/>
              </a:rPr>
              <a:t>Characterisation</a:t>
            </a:r>
            <a:r>
              <a:rPr lang="en-US" sz="1800" b="0" i="0">
                <a:solidFill>
                  <a:srgbClr val="1F1F1F"/>
                </a:solidFill>
                <a:effectLst/>
              </a:rPr>
              <a:t> of the flow around passenger vehicle wheels with varying </a:t>
            </a:r>
            <a:r>
              <a:rPr lang="en-US" sz="1800" b="0" i="0" err="1">
                <a:solidFill>
                  <a:srgbClr val="1F1F1F"/>
                </a:solidFill>
                <a:effectLst/>
              </a:rPr>
              <a:t>tyre</a:t>
            </a:r>
            <a:r>
              <a:rPr lang="en-US" sz="1800" b="0" i="0">
                <a:solidFill>
                  <a:srgbClr val="1F1F1F"/>
                </a:solidFill>
                <a:effectLst/>
              </a:rPr>
              <a:t> profiles </a:t>
            </a:r>
            <a:r>
              <a:rPr lang="it-IT"/>
              <a:t>»,</a:t>
            </a:r>
            <a:r>
              <a:rPr lang="en-US" sz="2000" b="0" i="0">
                <a:solidFill>
                  <a:srgbClr val="1F1F1F"/>
                </a:solidFill>
                <a:effectLst/>
              </a:rPr>
              <a:t> </a:t>
            </a:r>
            <a:r>
              <a:rPr lang="en-US" sz="1600" b="0" i="0">
                <a:solidFill>
                  <a:srgbClr val="1F1F1F"/>
                </a:solidFill>
                <a:effectLst/>
              </a:rPr>
              <a:t>Erik </a:t>
            </a:r>
            <a:r>
              <a:rPr lang="en-US" sz="1600" b="0" i="0" err="1">
                <a:solidFill>
                  <a:srgbClr val="1F1F1F"/>
                </a:solidFill>
                <a:effectLst/>
              </a:rPr>
              <a:t>Josefsson</a:t>
            </a:r>
            <a:r>
              <a:rPr lang="en-US" sz="1600" b="0" i="0">
                <a:solidFill>
                  <a:srgbClr val="1F1F1F"/>
                </a:solidFill>
                <a:effectLst/>
              </a:rPr>
              <a:t>, Simone </a:t>
            </a:r>
            <a:r>
              <a:rPr lang="en-US" sz="1600" b="0" i="0" err="1">
                <a:solidFill>
                  <a:srgbClr val="1F1F1F"/>
                </a:solidFill>
                <a:effectLst/>
              </a:rPr>
              <a:t>Sebben</a:t>
            </a:r>
            <a:r>
              <a:rPr lang="en-US" sz="1600" b="0" i="0">
                <a:solidFill>
                  <a:srgbClr val="1F1F1F"/>
                </a:solidFill>
                <a:effectLst/>
              </a:rPr>
              <a:t>, Magnus Urquhart</a:t>
            </a:r>
            <a:endParaRPr lang="it-IT" sz="1600"/>
          </a:p>
          <a:p>
            <a:endParaRPr lang="en-US" b="1">
              <a:solidFill>
                <a:schemeClr val="tx2"/>
              </a:solidFill>
            </a:endParaRPr>
          </a:p>
        </p:txBody>
      </p:sp>
    </p:spTree>
    <p:extLst>
      <p:ext uri="{BB962C8B-B14F-4D97-AF65-F5344CB8AC3E}">
        <p14:creationId xmlns:p14="http://schemas.microsoft.com/office/powerpoint/2010/main" val="2828716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1EECE-15AB-8155-6FFE-5CC3C33C3D0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8916DE7-4D50-CF8C-5AC8-E19D2ED8F16C}"/>
              </a:ext>
            </a:extLst>
          </p:cNvPr>
          <p:cNvSpPr>
            <a:spLocks noGrp="1"/>
          </p:cNvSpPr>
          <p:nvPr>
            <p:ph type="title"/>
          </p:nvPr>
        </p:nvSpPr>
        <p:spPr>
          <a:xfrm>
            <a:off x="594360" y="102875"/>
            <a:ext cx="10873740" cy="1680205"/>
          </a:xfrm>
        </p:spPr>
        <p:txBody>
          <a:bodyPr/>
          <a:lstStyle/>
          <a:p>
            <a:r>
              <a:rPr lang="en-US" dirty="0"/>
              <a:t>Rim and </a:t>
            </a:r>
            <a:r>
              <a:rPr lang="en-US" dirty="0" err="1"/>
              <a:t>tyre</a:t>
            </a:r>
            <a:r>
              <a:rPr lang="en-US" dirty="0"/>
              <a:t> influence on motorbike aerodynamic</a:t>
            </a:r>
          </a:p>
        </p:txBody>
      </p:sp>
      <p:sp>
        <p:nvSpPr>
          <p:cNvPr id="7" name="Text Placeholder 6">
            <a:extLst>
              <a:ext uri="{FF2B5EF4-FFF2-40B4-BE49-F238E27FC236}">
                <a16:creationId xmlns:a16="http://schemas.microsoft.com/office/drawing/2014/main" id="{7E50E56C-8108-777E-C4AF-E95A1CDB4B80}"/>
              </a:ext>
            </a:extLst>
          </p:cNvPr>
          <p:cNvSpPr>
            <a:spLocks noGrp="1"/>
          </p:cNvSpPr>
          <p:nvPr>
            <p:ph sz="quarter" idx="13"/>
          </p:nvPr>
        </p:nvSpPr>
        <p:spPr>
          <a:xfrm>
            <a:off x="3657600" y="2674583"/>
            <a:ext cx="7810500" cy="3700462"/>
          </a:xfrm>
        </p:spPr>
        <p:txBody>
          <a:bodyPr>
            <a:normAutofit/>
          </a:bodyPr>
          <a:lstStyle/>
          <a:p>
            <a:r>
              <a:rPr lang="en-US" dirty="0"/>
              <a:t>Influence of Rim Design on Drag and Lift Forces</a:t>
            </a:r>
            <a:r>
              <a:rPr lang="it-IT" dirty="0"/>
              <a:t> </a:t>
            </a:r>
          </a:p>
          <a:p>
            <a:r>
              <a:rPr lang="en-US" dirty="0"/>
              <a:t>Rotation Effects on Aerodynamic Performance</a:t>
            </a:r>
            <a:r>
              <a:rPr lang="it-IT" dirty="0"/>
              <a:t> </a:t>
            </a:r>
          </a:p>
          <a:p>
            <a:r>
              <a:rPr lang="en-US" dirty="0"/>
              <a:t>Impact of Tire Profiles on Aerodynamics</a:t>
            </a:r>
            <a:endParaRPr lang="it-IT" dirty="0"/>
          </a:p>
          <a:p>
            <a:r>
              <a:rPr lang="en-US" dirty="0"/>
              <a:t>Design Trade-offs: Stability vs. Efficiency</a:t>
            </a:r>
            <a:r>
              <a:rPr lang="it-IT" dirty="0"/>
              <a:t> </a:t>
            </a:r>
            <a:endParaRPr lang="en-US" dirty="0"/>
          </a:p>
        </p:txBody>
      </p:sp>
      <p:grpSp>
        <p:nvGrpSpPr>
          <p:cNvPr id="19" name="Group 18">
            <a:extLst>
              <a:ext uri="{FF2B5EF4-FFF2-40B4-BE49-F238E27FC236}">
                <a16:creationId xmlns:a16="http://schemas.microsoft.com/office/drawing/2014/main" id="{26F1B622-6E84-BB93-63C8-CA434BA016ED}"/>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F3D4DA3F-56D9-6876-A9F7-4B9CDAE1E1A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a:ea typeface="+mn-ea"/>
                <a:cs typeface="+mn-cs"/>
              </a:endParaRPr>
            </a:p>
          </p:txBody>
        </p:sp>
        <p:sp>
          <p:nvSpPr>
            <p:cNvPr id="21" name="Freeform 20">
              <a:extLst>
                <a:ext uri="{FF2B5EF4-FFF2-40B4-BE49-F238E27FC236}">
                  <a16:creationId xmlns:a16="http://schemas.microsoft.com/office/drawing/2014/main" id="{7E6C8AE4-FD01-F636-E2FD-87EB14D6FF1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a:ea typeface="+mn-ea"/>
                <a:cs typeface="+mn-cs"/>
              </a:endParaRPr>
            </a:p>
          </p:txBody>
        </p:sp>
        <p:sp>
          <p:nvSpPr>
            <p:cNvPr id="22" name="Freeform 21">
              <a:extLst>
                <a:ext uri="{FF2B5EF4-FFF2-40B4-BE49-F238E27FC236}">
                  <a16:creationId xmlns:a16="http://schemas.microsoft.com/office/drawing/2014/main" id="{4766CC42-0955-F02D-9583-E1D7008D67C8}"/>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a:ea typeface="+mn-ea"/>
                <a:cs typeface="+mn-cs"/>
              </a:endParaRPr>
            </a:p>
          </p:txBody>
        </p:sp>
      </p:grpSp>
      <p:pic>
        <p:nvPicPr>
          <p:cNvPr id="4" name="Picture 3">
            <a:extLst>
              <a:ext uri="{FF2B5EF4-FFF2-40B4-BE49-F238E27FC236}">
                <a16:creationId xmlns:a16="http://schemas.microsoft.com/office/drawing/2014/main" id="{8D51B4A7-BCC0-E6C0-1965-54CEADE5EB9A}"/>
              </a:ext>
            </a:extLst>
          </p:cNvPr>
          <p:cNvPicPr>
            <a:picLocks noChangeAspect="1"/>
          </p:cNvPicPr>
          <p:nvPr/>
        </p:nvPicPr>
        <p:blipFill>
          <a:blip r:embed="rId3"/>
          <a:stretch>
            <a:fillRect/>
          </a:stretch>
        </p:blipFill>
        <p:spPr>
          <a:xfrm>
            <a:off x="11227317" y="102875"/>
            <a:ext cx="876422" cy="838317"/>
          </a:xfrm>
          <a:prstGeom prst="rect">
            <a:avLst/>
          </a:prstGeom>
        </p:spPr>
      </p:pic>
    </p:spTree>
    <p:extLst>
      <p:ext uri="{BB962C8B-B14F-4D97-AF65-F5344CB8AC3E}">
        <p14:creationId xmlns:p14="http://schemas.microsoft.com/office/powerpoint/2010/main" val="1124615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4597B-2673-F45A-FB09-1B178FD1A1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2C742-CEA4-AB52-BC64-81A7E616086D}"/>
              </a:ext>
            </a:extLst>
          </p:cNvPr>
          <p:cNvSpPr>
            <a:spLocks noGrp="1"/>
          </p:cNvSpPr>
          <p:nvPr>
            <p:ph type="title"/>
          </p:nvPr>
        </p:nvSpPr>
        <p:spPr>
          <a:xfrm>
            <a:off x="594360" y="278129"/>
            <a:ext cx="9778365" cy="1494596"/>
          </a:xfrm>
        </p:spPr>
        <p:txBody>
          <a:bodyPr/>
          <a:lstStyle/>
          <a:p>
            <a:r>
              <a:rPr lang="en-US" dirty="0"/>
              <a:t>Influence of Rim Design on Drag and Lift Forces</a:t>
            </a:r>
          </a:p>
        </p:txBody>
      </p:sp>
      <p:pic>
        <p:nvPicPr>
          <p:cNvPr id="3" name="Picture 2">
            <a:extLst>
              <a:ext uri="{FF2B5EF4-FFF2-40B4-BE49-F238E27FC236}">
                <a16:creationId xmlns:a16="http://schemas.microsoft.com/office/drawing/2014/main" id="{85073FCA-8584-0726-98C4-02D32813FEE0}"/>
              </a:ext>
            </a:extLst>
          </p:cNvPr>
          <p:cNvPicPr>
            <a:picLocks noChangeAspect="1"/>
          </p:cNvPicPr>
          <p:nvPr/>
        </p:nvPicPr>
        <p:blipFill>
          <a:blip r:embed="rId3"/>
          <a:stretch>
            <a:fillRect/>
          </a:stretch>
        </p:blipFill>
        <p:spPr>
          <a:xfrm>
            <a:off x="11227317" y="5949493"/>
            <a:ext cx="876422" cy="838317"/>
          </a:xfrm>
          <a:prstGeom prst="rect">
            <a:avLst/>
          </a:prstGeom>
        </p:spPr>
      </p:pic>
      <p:sp>
        <p:nvSpPr>
          <p:cNvPr id="11" name="CasellaDiTesto 10">
            <a:extLst>
              <a:ext uri="{FF2B5EF4-FFF2-40B4-BE49-F238E27FC236}">
                <a16:creationId xmlns:a16="http://schemas.microsoft.com/office/drawing/2014/main" id="{D063A165-4016-C8BE-CC67-50565FB617BF}"/>
              </a:ext>
            </a:extLst>
          </p:cNvPr>
          <p:cNvSpPr txBox="1"/>
          <p:nvPr/>
        </p:nvSpPr>
        <p:spPr>
          <a:xfrm>
            <a:off x="594360" y="2498501"/>
            <a:ext cx="10249651" cy="369332"/>
          </a:xfrm>
          <a:prstGeom prst="rect">
            <a:avLst/>
          </a:prstGeom>
          <a:noFill/>
        </p:spPr>
        <p:txBody>
          <a:bodyPr wrap="square" rtlCol="0">
            <a:spAutoFit/>
          </a:bodyPr>
          <a:lstStyle/>
          <a:p>
            <a:r>
              <a:rPr lang="it-IT" b="1" dirty="0">
                <a:solidFill>
                  <a:srgbClr val="7CA655"/>
                </a:solidFill>
              </a:rPr>
              <a:t>Source: </a:t>
            </a:r>
            <a:r>
              <a:rPr lang="it-IT" dirty="0">
                <a:solidFill>
                  <a:schemeClr val="bg1"/>
                </a:solidFill>
              </a:rPr>
              <a:t>«</a:t>
            </a:r>
            <a:r>
              <a:rPr lang="en-US" dirty="0">
                <a:solidFill>
                  <a:schemeClr val="bg1"/>
                </a:solidFill>
              </a:rPr>
              <a:t>Aerodynamic Study of Motorcycle Racing Wheels</a:t>
            </a:r>
            <a:r>
              <a:rPr lang="it-IT" dirty="0">
                <a:solidFill>
                  <a:schemeClr val="bg1"/>
                </a:solidFill>
              </a:rPr>
              <a:t>», </a:t>
            </a:r>
            <a:r>
              <a:rPr lang="it-IT" dirty="0" err="1">
                <a:solidFill>
                  <a:schemeClr val="bg1"/>
                </a:solidFill>
              </a:rPr>
              <a:t>Concli</a:t>
            </a:r>
            <a:r>
              <a:rPr lang="it-IT" dirty="0">
                <a:solidFill>
                  <a:schemeClr val="bg1"/>
                </a:solidFill>
              </a:rPr>
              <a:t> et al. </a:t>
            </a:r>
            <a:endParaRPr lang="en-GB" dirty="0">
              <a:solidFill>
                <a:schemeClr val="bg1"/>
              </a:solidFill>
            </a:endParaRPr>
          </a:p>
        </p:txBody>
      </p:sp>
      <p:sp>
        <p:nvSpPr>
          <p:cNvPr id="13" name="TextBox 7">
            <a:extLst>
              <a:ext uri="{FF2B5EF4-FFF2-40B4-BE49-F238E27FC236}">
                <a16:creationId xmlns:a16="http://schemas.microsoft.com/office/drawing/2014/main" id="{C125EC08-EA9F-7021-ED5A-AFB2B922C455}"/>
              </a:ext>
            </a:extLst>
          </p:cNvPr>
          <p:cNvSpPr txBox="1"/>
          <p:nvPr/>
        </p:nvSpPr>
        <p:spPr>
          <a:xfrm>
            <a:off x="594360" y="3113005"/>
            <a:ext cx="10056468" cy="1754326"/>
          </a:xfrm>
          <a:prstGeom prst="rect">
            <a:avLst/>
          </a:prstGeom>
          <a:noFill/>
        </p:spPr>
        <p:txBody>
          <a:bodyPr wrap="square" rtlCol="0">
            <a:spAutoFit/>
          </a:bodyPr>
          <a:lstStyle/>
          <a:p>
            <a:r>
              <a:rPr lang="it-IT" b="1" dirty="0">
                <a:solidFill>
                  <a:schemeClr val="tx2"/>
                </a:solidFill>
              </a:rPr>
              <a:t>Highlights:</a:t>
            </a:r>
          </a:p>
          <a:p>
            <a:pPr marL="342900" indent="-342900">
              <a:buFont typeface="Arial" panose="020B0604020202020204" pitchFamily="34" charset="0"/>
              <a:buChar char="•"/>
            </a:pPr>
            <a:r>
              <a:rPr lang="en-US" noProof="0" dirty="0">
                <a:solidFill>
                  <a:schemeClr val="bg1"/>
                </a:solidFill>
              </a:rPr>
              <a:t>Fewer spokes or solid designs improve aerodynamic performance by minimizing turbulence and airflow separation </a:t>
            </a:r>
          </a:p>
          <a:p>
            <a:pPr marL="342900" indent="-342900">
              <a:buFont typeface="Arial" panose="020B0604020202020204" pitchFamily="34" charset="0"/>
              <a:buChar char="•"/>
            </a:pPr>
            <a:r>
              <a:rPr lang="en-US" noProof="0" dirty="0">
                <a:solidFill>
                  <a:schemeClr val="bg1"/>
                </a:solidFill>
              </a:rPr>
              <a:t>However, solid disk wheels (fig. c), have increased axial forces which may compromise handling and maneuverability </a:t>
            </a:r>
          </a:p>
          <a:p>
            <a:pPr marL="342900" indent="-342900">
              <a:buFont typeface="Arial" panose="020B0604020202020204" pitchFamily="34" charset="0"/>
              <a:buChar char="•"/>
            </a:pPr>
            <a:endParaRPr lang="it-IT" dirty="0">
              <a:solidFill>
                <a:schemeClr val="bg1"/>
              </a:solidFill>
            </a:endParaRPr>
          </a:p>
        </p:txBody>
      </p:sp>
      <p:graphicFrame>
        <p:nvGraphicFramePr>
          <p:cNvPr id="15" name="Tabella 14">
            <a:extLst>
              <a:ext uri="{FF2B5EF4-FFF2-40B4-BE49-F238E27FC236}">
                <a16:creationId xmlns:a16="http://schemas.microsoft.com/office/drawing/2014/main" id="{A3C67521-E420-9F83-CE74-1C05F6DBEAAA}"/>
              </a:ext>
            </a:extLst>
          </p:cNvPr>
          <p:cNvGraphicFramePr>
            <a:graphicFrameLocks noGrp="1"/>
          </p:cNvGraphicFramePr>
          <p:nvPr>
            <p:extLst>
              <p:ext uri="{D42A27DB-BD31-4B8C-83A1-F6EECF244321}">
                <p14:modId xmlns:p14="http://schemas.microsoft.com/office/powerpoint/2010/main" val="4227263062"/>
              </p:ext>
            </p:extLst>
          </p:nvPr>
        </p:nvGraphicFramePr>
        <p:xfrm>
          <a:off x="7641975" y="4878737"/>
          <a:ext cx="2975745" cy="1570540"/>
        </p:xfrm>
        <a:graphic>
          <a:graphicData uri="http://schemas.openxmlformats.org/drawingml/2006/table">
            <a:tbl>
              <a:tblPr firstRow="1" bandRow="1">
                <a:tableStyleId>{D7AC3CCA-C797-4891-BE02-D94E43425B78}</a:tableStyleId>
              </a:tblPr>
              <a:tblGrid>
                <a:gridCol w="1390919">
                  <a:extLst>
                    <a:ext uri="{9D8B030D-6E8A-4147-A177-3AD203B41FA5}">
                      <a16:colId xmlns:a16="http://schemas.microsoft.com/office/drawing/2014/main" val="3214625035"/>
                    </a:ext>
                  </a:extLst>
                </a:gridCol>
                <a:gridCol w="792413">
                  <a:extLst>
                    <a:ext uri="{9D8B030D-6E8A-4147-A177-3AD203B41FA5}">
                      <a16:colId xmlns:a16="http://schemas.microsoft.com/office/drawing/2014/main" val="3304543061"/>
                    </a:ext>
                  </a:extLst>
                </a:gridCol>
                <a:gridCol w="792413">
                  <a:extLst>
                    <a:ext uri="{9D8B030D-6E8A-4147-A177-3AD203B41FA5}">
                      <a16:colId xmlns:a16="http://schemas.microsoft.com/office/drawing/2014/main" val="1887977180"/>
                    </a:ext>
                  </a:extLst>
                </a:gridCol>
              </a:tblGrid>
              <a:tr h="392635">
                <a:tc>
                  <a:txBody>
                    <a:bodyPr/>
                    <a:lstStyle/>
                    <a:p>
                      <a:pPr algn="ctr"/>
                      <a:r>
                        <a:rPr lang="en-GB" dirty="0"/>
                        <a:t>Wheel type</a:t>
                      </a:r>
                    </a:p>
                  </a:txBody>
                  <a:tcPr anchor="ctr">
                    <a:solidFill>
                      <a:schemeClr val="bg2">
                        <a:lumMod val="90000"/>
                      </a:schemeClr>
                    </a:solidFill>
                  </a:tcPr>
                </a:tc>
                <a:tc>
                  <a:txBody>
                    <a:bodyPr/>
                    <a:lstStyle/>
                    <a:p>
                      <a:pPr algn="ctr"/>
                      <a:r>
                        <a:rPr lang="en-GB" dirty="0"/>
                        <a:t>C</a:t>
                      </a:r>
                      <a:r>
                        <a:rPr lang="en-GB" baseline="-25000" dirty="0"/>
                        <a:t>d</a:t>
                      </a:r>
                      <a:endParaRPr lang="en-GB" dirty="0"/>
                    </a:p>
                  </a:txBody>
                  <a:tcPr anchor="ctr">
                    <a:solidFill>
                      <a:schemeClr val="bg2">
                        <a:lumMod val="90000"/>
                      </a:schemeClr>
                    </a:solidFill>
                  </a:tcPr>
                </a:tc>
                <a:tc>
                  <a:txBody>
                    <a:bodyPr/>
                    <a:lstStyle/>
                    <a:p>
                      <a:pPr algn="ctr"/>
                      <a:r>
                        <a:rPr lang="en-GB" dirty="0"/>
                        <a:t>C</a:t>
                      </a:r>
                      <a:r>
                        <a:rPr lang="en-GB" baseline="-25000" dirty="0"/>
                        <a:t>L</a:t>
                      </a:r>
                      <a:endParaRPr lang="en-GB" dirty="0"/>
                    </a:p>
                  </a:txBody>
                  <a:tcPr anchor="ctr">
                    <a:solidFill>
                      <a:schemeClr val="bg2">
                        <a:lumMod val="90000"/>
                      </a:schemeClr>
                    </a:solidFill>
                  </a:tcPr>
                </a:tc>
                <a:extLst>
                  <a:ext uri="{0D108BD9-81ED-4DB2-BD59-A6C34878D82A}">
                    <a16:rowId xmlns:a16="http://schemas.microsoft.com/office/drawing/2014/main" val="685955774"/>
                  </a:ext>
                </a:extLst>
              </a:tr>
              <a:tr h="392635">
                <a:tc>
                  <a:txBody>
                    <a:bodyPr/>
                    <a:lstStyle/>
                    <a:p>
                      <a:pPr algn="ctr"/>
                      <a:r>
                        <a:rPr lang="en-GB" dirty="0"/>
                        <a:t>REF7 (a)</a:t>
                      </a:r>
                    </a:p>
                  </a:txBody>
                  <a:tcPr anchor="ctr">
                    <a:solidFill>
                      <a:schemeClr val="tx1">
                        <a:lumMod val="95000"/>
                      </a:schemeClr>
                    </a:solidFill>
                  </a:tcPr>
                </a:tc>
                <a:tc>
                  <a:txBody>
                    <a:bodyPr/>
                    <a:lstStyle/>
                    <a:p>
                      <a:pPr algn="ctr"/>
                      <a:r>
                        <a:rPr lang="en-GB" dirty="0"/>
                        <a:t>0.45</a:t>
                      </a:r>
                    </a:p>
                  </a:txBody>
                  <a:tcPr anchor="ctr">
                    <a:solidFill>
                      <a:schemeClr val="tx1">
                        <a:lumMod val="95000"/>
                      </a:schemeClr>
                    </a:solidFill>
                  </a:tcPr>
                </a:tc>
                <a:tc>
                  <a:txBody>
                    <a:bodyPr/>
                    <a:lstStyle/>
                    <a:p>
                      <a:pPr algn="ctr"/>
                      <a:r>
                        <a:rPr lang="en-GB" dirty="0"/>
                        <a:t>0.16</a:t>
                      </a:r>
                    </a:p>
                  </a:txBody>
                  <a:tcPr anchor="ctr">
                    <a:solidFill>
                      <a:schemeClr val="tx1">
                        <a:lumMod val="95000"/>
                      </a:schemeClr>
                    </a:solidFill>
                  </a:tcPr>
                </a:tc>
                <a:extLst>
                  <a:ext uri="{0D108BD9-81ED-4DB2-BD59-A6C34878D82A}">
                    <a16:rowId xmlns:a16="http://schemas.microsoft.com/office/drawing/2014/main" val="1866505068"/>
                  </a:ext>
                </a:extLst>
              </a:tr>
              <a:tr h="392635">
                <a:tc>
                  <a:txBody>
                    <a:bodyPr/>
                    <a:lstStyle/>
                    <a:p>
                      <a:pPr algn="ctr"/>
                      <a:r>
                        <a:rPr lang="en-GB" dirty="0"/>
                        <a:t>MGD6 (b)</a:t>
                      </a:r>
                    </a:p>
                  </a:txBody>
                  <a:tcPr anchor="ctr">
                    <a:solidFill>
                      <a:schemeClr val="tx1">
                        <a:lumMod val="95000"/>
                      </a:schemeClr>
                    </a:solidFill>
                  </a:tcPr>
                </a:tc>
                <a:tc>
                  <a:txBody>
                    <a:bodyPr/>
                    <a:lstStyle/>
                    <a:p>
                      <a:pPr algn="ctr"/>
                      <a:r>
                        <a:rPr lang="en-GB" dirty="0"/>
                        <a:t>0.47</a:t>
                      </a:r>
                    </a:p>
                  </a:txBody>
                  <a:tcPr anchor="ctr">
                    <a:solidFill>
                      <a:schemeClr val="tx1">
                        <a:lumMod val="95000"/>
                      </a:schemeClr>
                    </a:solidFill>
                  </a:tcPr>
                </a:tc>
                <a:tc>
                  <a:txBody>
                    <a:bodyPr/>
                    <a:lstStyle/>
                    <a:p>
                      <a:pPr algn="ctr"/>
                      <a:r>
                        <a:rPr lang="en-GB" dirty="0"/>
                        <a:t>0.12</a:t>
                      </a:r>
                    </a:p>
                  </a:txBody>
                  <a:tcPr anchor="ctr">
                    <a:solidFill>
                      <a:schemeClr val="tx1">
                        <a:lumMod val="95000"/>
                      </a:schemeClr>
                    </a:solidFill>
                  </a:tcPr>
                </a:tc>
                <a:extLst>
                  <a:ext uri="{0D108BD9-81ED-4DB2-BD59-A6C34878D82A}">
                    <a16:rowId xmlns:a16="http://schemas.microsoft.com/office/drawing/2014/main" val="3307287631"/>
                  </a:ext>
                </a:extLst>
              </a:tr>
              <a:tr h="392635">
                <a:tc>
                  <a:txBody>
                    <a:bodyPr/>
                    <a:lstStyle/>
                    <a:p>
                      <a:pPr algn="ctr"/>
                      <a:r>
                        <a:rPr lang="en-GB" dirty="0"/>
                        <a:t>DSKW (c)</a:t>
                      </a:r>
                    </a:p>
                  </a:txBody>
                  <a:tcPr anchor="ctr">
                    <a:solidFill>
                      <a:schemeClr val="tx1">
                        <a:lumMod val="95000"/>
                      </a:schemeClr>
                    </a:solidFill>
                  </a:tcPr>
                </a:tc>
                <a:tc>
                  <a:txBody>
                    <a:bodyPr/>
                    <a:lstStyle/>
                    <a:p>
                      <a:pPr algn="ctr"/>
                      <a:r>
                        <a:rPr lang="en-GB" dirty="0"/>
                        <a:t>0.36</a:t>
                      </a:r>
                    </a:p>
                  </a:txBody>
                  <a:tcPr anchor="ctr">
                    <a:solidFill>
                      <a:schemeClr val="tx1">
                        <a:lumMod val="95000"/>
                      </a:schemeClr>
                    </a:solidFill>
                  </a:tcPr>
                </a:tc>
                <a:tc>
                  <a:txBody>
                    <a:bodyPr/>
                    <a:lstStyle/>
                    <a:p>
                      <a:pPr algn="ctr"/>
                      <a:r>
                        <a:rPr lang="en-GB" dirty="0"/>
                        <a:t>0.14</a:t>
                      </a:r>
                    </a:p>
                  </a:txBody>
                  <a:tcPr anchor="ctr">
                    <a:solidFill>
                      <a:schemeClr val="tx1">
                        <a:lumMod val="95000"/>
                      </a:schemeClr>
                    </a:solidFill>
                  </a:tcPr>
                </a:tc>
                <a:extLst>
                  <a:ext uri="{0D108BD9-81ED-4DB2-BD59-A6C34878D82A}">
                    <a16:rowId xmlns:a16="http://schemas.microsoft.com/office/drawing/2014/main" val="1252986011"/>
                  </a:ext>
                </a:extLst>
              </a:tr>
            </a:tbl>
          </a:graphicData>
        </a:graphic>
      </p:graphicFrame>
      <p:sp>
        <p:nvSpPr>
          <p:cNvPr id="16" name="CasellaDiTesto 15">
            <a:extLst>
              <a:ext uri="{FF2B5EF4-FFF2-40B4-BE49-F238E27FC236}">
                <a16:creationId xmlns:a16="http://schemas.microsoft.com/office/drawing/2014/main" id="{A0346F49-21D9-2D26-F4CF-EFB1BEB4A28F}"/>
              </a:ext>
            </a:extLst>
          </p:cNvPr>
          <p:cNvSpPr txBox="1">
            <a:spLocks/>
          </p:cNvSpPr>
          <p:nvPr/>
        </p:nvSpPr>
        <p:spPr>
          <a:xfrm>
            <a:off x="7566956" y="6452936"/>
            <a:ext cx="2434107" cy="276999"/>
          </a:xfrm>
          <a:prstGeom prst="rect">
            <a:avLst/>
          </a:prstGeom>
          <a:noFill/>
        </p:spPr>
        <p:txBody>
          <a:bodyPr wrap="square" rtlCol="0">
            <a:spAutoFit/>
          </a:bodyPr>
          <a:lstStyle/>
          <a:p>
            <a:r>
              <a:rPr lang="en-GB" sz="1200" dirty="0">
                <a:solidFill>
                  <a:schemeClr val="bg1"/>
                </a:solidFill>
              </a:rPr>
              <a:t>Reference speed of 60 m/s</a:t>
            </a:r>
          </a:p>
        </p:txBody>
      </p:sp>
      <p:grpSp>
        <p:nvGrpSpPr>
          <p:cNvPr id="6" name="Gruppo 5">
            <a:extLst>
              <a:ext uri="{FF2B5EF4-FFF2-40B4-BE49-F238E27FC236}">
                <a16:creationId xmlns:a16="http://schemas.microsoft.com/office/drawing/2014/main" id="{C7DFF1E8-4534-563D-0B28-78AF6903CC37}"/>
              </a:ext>
            </a:extLst>
          </p:cNvPr>
          <p:cNvGrpSpPr/>
          <p:nvPr/>
        </p:nvGrpSpPr>
        <p:grpSpPr>
          <a:xfrm>
            <a:off x="594360" y="4774731"/>
            <a:ext cx="6623205" cy="1923571"/>
            <a:chOff x="594360" y="4867331"/>
            <a:chExt cx="6623205" cy="1923571"/>
          </a:xfrm>
        </p:grpSpPr>
        <p:pic>
          <p:nvPicPr>
            <p:cNvPr id="14" name="Immagine 13">
              <a:extLst>
                <a:ext uri="{FF2B5EF4-FFF2-40B4-BE49-F238E27FC236}">
                  <a16:creationId xmlns:a16="http://schemas.microsoft.com/office/drawing/2014/main" id="{B33D0634-97F5-A363-14A5-75FB016812BD}"/>
                </a:ext>
              </a:extLst>
            </p:cNvPr>
            <p:cNvPicPr>
              <a:picLocks noChangeAspect="1"/>
            </p:cNvPicPr>
            <p:nvPr/>
          </p:nvPicPr>
          <p:blipFill>
            <a:blip r:embed="rId4"/>
            <a:srcRect r="71013"/>
            <a:stretch/>
          </p:blipFill>
          <p:spPr>
            <a:xfrm>
              <a:off x="594360" y="4867331"/>
              <a:ext cx="2253012" cy="1923571"/>
            </a:xfrm>
            <a:prstGeom prst="rect">
              <a:avLst/>
            </a:prstGeom>
          </p:spPr>
        </p:pic>
        <p:pic>
          <p:nvPicPr>
            <p:cNvPr id="4" name="Immagine 3">
              <a:extLst>
                <a:ext uri="{FF2B5EF4-FFF2-40B4-BE49-F238E27FC236}">
                  <a16:creationId xmlns:a16="http://schemas.microsoft.com/office/drawing/2014/main" id="{809A5A1E-1541-8CB7-CA7E-574D4B8D97B3}"/>
                </a:ext>
              </a:extLst>
            </p:cNvPr>
            <p:cNvPicPr>
              <a:picLocks noChangeAspect="1"/>
            </p:cNvPicPr>
            <p:nvPr/>
          </p:nvPicPr>
          <p:blipFill>
            <a:blip r:embed="rId4"/>
            <a:srcRect l="35391" r="35123"/>
            <a:stretch/>
          </p:blipFill>
          <p:spPr>
            <a:xfrm>
              <a:off x="2812241" y="4867331"/>
              <a:ext cx="2291788" cy="1923571"/>
            </a:xfrm>
            <a:prstGeom prst="rect">
              <a:avLst/>
            </a:prstGeom>
          </p:spPr>
        </p:pic>
        <p:pic>
          <p:nvPicPr>
            <p:cNvPr id="5" name="Immagine 4">
              <a:extLst>
                <a:ext uri="{FF2B5EF4-FFF2-40B4-BE49-F238E27FC236}">
                  <a16:creationId xmlns:a16="http://schemas.microsoft.com/office/drawing/2014/main" id="{4E7FEA1E-4F4E-75A3-49A5-EB0DA40DB319}"/>
                </a:ext>
              </a:extLst>
            </p:cNvPr>
            <p:cNvPicPr>
              <a:picLocks noChangeAspect="1"/>
            </p:cNvPicPr>
            <p:nvPr/>
          </p:nvPicPr>
          <p:blipFill>
            <a:blip r:embed="rId4"/>
            <a:srcRect l="72063"/>
            <a:stretch/>
          </p:blipFill>
          <p:spPr>
            <a:xfrm>
              <a:off x="5046154" y="4867331"/>
              <a:ext cx="2171411" cy="1923571"/>
            </a:xfrm>
            <a:prstGeom prst="rect">
              <a:avLst/>
            </a:prstGeom>
          </p:spPr>
        </p:pic>
      </p:grpSp>
    </p:spTree>
    <p:extLst>
      <p:ext uri="{BB962C8B-B14F-4D97-AF65-F5344CB8AC3E}">
        <p14:creationId xmlns:p14="http://schemas.microsoft.com/office/powerpoint/2010/main" val="1971898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A9FBE-E020-FFFB-242C-C5AA5A8D1C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403E33-E35A-EB0B-E7FD-ACD0239562AE}"/>
              </a:ext>
            </a:extLst>
          </p:cNvPr>
          <p:cNvSpPr>
            <a:spLocks noGrp="1"/>
          </p:cNvSpPr>
          <p:nvPr>
            <p:ph type="title"/>
          </p:nvPr>
        </p:nvSpPr>
        <p:spPr>
          <a:xfrm>
            <a:off x="594360" y="278129"/>
            <a:ext cx="9778365" cy="1494596"/>
          </a:xfrm>
        </p:spPr>
        <p:txBody>
          <a:bodyPr/>
          <a:lstStyle/>
          <a:p>
            <a:r>
              <a:rPr lang="en-US" dirty="0"/>
              <a:t>Design Trade-offs: Stability vs Efficiency</a:t>
            </a:r>
          </a:p>
        </p:txBody>
      </p:sp>
      <p:pic>
        <p:nvPicPr>
          <p:cNvPr id="3" name="Picture 2">
            <a:extLst>
              <a:ext uri="{FF2B5EF4-FFF2-40B4-BE49-F238E27FC236}">
                <a16:creationId xmlns:a16="http://schemas.microsoft.com/office/drawing/2014/main" id="{4C2D5FC7-E304-7F44-F9C0-023525D97481}"/>
              </a:ext>
            </a:extLst>
          </p:cNvPr>
          <p:cNvPicPr>
            <a:picLocks noChangeAspect="1"/>
          </p:cNvPicPr>
          <p:nvPr/>
        </p:nvPicPr>
        <p:blipFill>
          <a:blip r:embed="rId3"/>
          <a:stretch>
            <a:fillRect/>
          </a:stretch>
        </p:blipFill>
        <p:spPr>
          <a:xfrm>
            <a:off x="11227317" y="5949493"/>
            <a:ext cx="876422" cy="838317"/>
          </a:xfrm>
          <a:prstGeom prst="rect">
            <a:avLst/>
          </a:prstGeom>
        </p:spPr>
      </p:pic>
      <p:sp>
        <p:nvSpPr>
          <p:cNvPr id="4" name="CasellaDiTesto 3">
            <a:extLst>
              <a:ext uri="{FF2B5EF4-FFF2-40B4-BE49-F238E27FC236}">
                <a16:creationId xmlns:a16="http://schemas.microsoft.com/office/drawing/2014/main" id="{D415C3A3-AA2A-E51F-B2C9-556FC4CDD2DE}"/>
              </a:ext>
            </a:extLst>
          </p:cNvPr>
          <p:cNvSpPr txBox="1"/>
          <p:nvPr/>
        </p:nvSpPr>
        <p:spPr>
          <a:xfrm>
            <a:off x="594359" y="2609553"/>
            <a:ext cx="9778365" cy="3970318"/>
          </a:xfrm>
          <a:prstGeom prst="rect">
            <a:avLst/>
          </a:prstGeom>
          <a:noFill/>
        </p:spPr>
        <p:txBody>
          <a:bodyPr wrap="square" rtlCol="0">
            <a:spAutoFit/>
          </a:bodyPr>
          <a:lstStyle/>
          <a:p>
            <a:pPr algn="l"/>
            <a:r>
              <a:rPr lang="en-US" b="1" noProof="0" dirty="0">
                <a:solidFill>
                  <a:srgbClr val="7CA655"/>
                </a:solidFill>
              </a:rPr>
              <a:t>Pros:</a:t>
            </a:r>
          </a:p>
          <a:p>
            <a:pPr algn="l">
              <a:buFont typeface="Arial" panose="020B0604020202020204" pitchFamily="34" charset="0"/>
              <a:buChar char="•"/>
            </a:pPr>
            <a:r>
              <a:rPr lang="en-US" noProof="0" dirty="0">
                <a:solidFill>
                  <a:schemeClr val="bg1"/>
                </a:solidFill>
              </a:rPr>
              <a:t>Solid disk wheels reduce drag by 15-20%, making them ideal for high-speed performance.</a:t>
            </a:r>
          </a:p>
          <a:p>
            <a:pPr algn="l">
              <a:buFont typeface="Arial" panose="020B0604020202020204" pitchFamily="34" charset="0"/>
              <a:buChar char="•"/>
            </a:pPr>
            <a:r>
              <a:rPr lang="en-US" noProof="0" dirty="0">
                <a:solidFill>
                  <a:schemeClr val="bg1"/>
                </a:solidFill>
              </a:rPr>
              <a:t>Reduced turbulence around solid designs can enhance straight-line stability.</a:t>
            </a:r>
          </a:p>
          <a:p>
            <a:pPr algn="l">
              <a:buFont typeface="Arial" panose="020B0604020202020204" pitchFamily="34" charset="0"/>
              <a:buChar char="•"/>
            </a:pPr>
            <a:r>
              <a:rPr lang="en-US" noProof="0" dirty="0">
                <a:solidFill>
                  <a:schemeClr val="bg1"/>
                </a:solidFill>
              </a:rPr>
              <a:t>Improved efficiency contributes to better fuel economy and higher speed thresholds.</a:t>
            </a:r>
          </a:p>
          <a:p>
            <a:pPr algn="l"/>
            <a:endParaRPr lang="en-US" noProof="0" dirty="0">
              <a:solidFill>
                <a:schemeClr val="bg1"/>
              </a:solidFill>
            </a:endParaRPr>
          </a:p>
          <a:p>
            <a:pPr algn="l"/>
            <a:r>
              <a:rPr lang="en-US" b="1" noProof="0" dirty="0">
                <a:solidFill>
                  <a:srgbClr val="7CA655"/>
                </a:solidFill>
              </a:rPr>
              <a:t>Cons:</a:t>
            </a:r>
          </a:p>
          <a:p>
            <a:pPr algn="l">
              <a:buFont typeface="Arial" panose="020B0604020202020204" pitchFamily="34" charset="0"/>
              <a:buChar char="•"/>
            </a:pPr>
            <a:r>
              <a:rPr lang="en-US" noProof="0" dirty="0">
                <a:solidFill>
                  <a:schemeClr val="bg1"/>
                </a:solidFill>
              </a:rPr>
              <a:t>Lift forces increased by 8–12%, introducing destabilizing vertical forces that compromise handling</a:t>
            </a:r>
            <a:r>
              <a:rPr lang="en-US" dirty="0">
                <a:solidFill>
                  <a:schemeClr val="bg1"/>
                </a:solidFill>
              </a:rPr>
              <a:t>.</a:t>
            </a:r>
          </a:p>
          <a:p>
            <a:pPr algn="l">
              <a:buFont typeface="Arial" panose="020B0604020202020204" pitchFamily="34" charset="0"/>
              <a:buChar char="•"/>
            </a:pPr>
            <a:r>
              <a:rPr lang="en-US" noProof="0" dirty="0">
                <a:solidFill>
                  <a:schemeClr val="bg1"/>
                </a:solidFill>
              </a:rPr>
              <a:t>Solid wheels lack airflow through spokes, which may affect heat dissipation in brakes.</a:t>
            </a:r>
          </a:p>
          <a:p>
            <a:pPr algn="l">
              <a:buFont typeface="Arial" panose="020B0604020202020204" pitchFamily="34" charset="0"/>
              <a:buChar char="•"/>
            </a:pPr>
            <a:r>
              <a:rPr lang="en-US" noProof="0" dirty="0">
                <a:solidFill>
                  <a:schemeClr val="bg1"/>
                </a:solidFill>
              </a:rPr>
              <a:t>Higher axial forces require structural reinforcements, potentially adding weight.</a:t>
            </a:r>
          </a:p>
          <a:p>
            <a:pPr algn="l"/>
            <a:endParaRPr lang="en-US" noProof="0" dirty="0">
              <a:solidFill>
                <a:schemeClr val="bg1"/>
              </a:solidFill>
            </a:endParaRPr>
          </a:p>
          <a:p>
            <a:pPr algn="l"/>
            <a:r>
              <a:rPr lang="en-US" b="1" noProof="0" dirty="0">
                <a:solidFill>
                  <a:srgbClr val="7CA655"/>
                </a:solidFill>
              </a:rPr>
              <a:t>Design Implications:</a:t>
            </a:r>
          </a:p>
          <a:p>
            <a:pPr algn="l"/>
            <a:r>
              <a:rPr lang="it-IT" noProof="0" dirty="0" err="1">
                <a:solidFill>
                  <a:schemeClr val="bg1"/>
                </a:solidFill>
              </a:rPr>
              <a:t>Hybrid</a:t>
            </a:r>
            <a:r>
              <a:rPr lang="it-IT" noProof="0" dirty="0">
                <a:solidFill>
                  <a:schemeClr val="bg1"/>
                </a:solidFill>
              </a:rPr>
              <a:t> designs with </a:t>
            </a:r>
            <a:r>
              <a:rPr lang="it-IT" noProof="0" dirty="0" err="1">
                <a:solidFill>
                  <a:schemeClr val="bg1"/>
                </a:solidFill>
              </a:rPr>
              <a:t>partial</a:t>
            </a:r>
            <a:r>
              <a:rPr lang="it-IT" noProof="0" dirty="0">
                <a:solidFill>
                  <a:schemeClr val="bg1"/>
                </a:solidFill>
              </a:rPr>
              <a:t> </a:t>
            </a:r>
            <a:r>
              <a:rPr lang="it-IT" noProof="0" dirty="0" err="1">
                <a:solidFill>
                  <a:schemeClr val="bg1"/>
                </a:solidFill>
              </a:rPr>
              <a:t>spokes</a:t>
            </a:r>
            <a:r>
              <a:rPr lang="it-IT" noProof="0" dirty="0">
                <a:solidFill>
                  <a:schemeClr val="bg1"/>
                </a:solidFill>
              </a:rPr>
              <a:t> or </a:t>
            </a:r>
            <a:r>
              <a:rPr lang="it-IT" noProof="0" dirty="0" err="1">
                <a:solidFill>
                  <a:schemeClr val="bg1"/>
                </a:solidFill>
              </a:rPr>
              <a:t>aerodynamic</a:t>
            </a:r>
            <a:r>
              <a:rPr lang="it-IT" noProof="0" dirty="0">
                <a:solidFill>
                  <a:schemeClr val="bg1"/>
                </a:solidFill>
              </a:rPr>
              <a:t> </a:t>
            </a:r>
            <a:r>
              <a:rPr lang="it-IT" noProof="0" dirty="0" err="1">
                <a:solidFill>
                  <a:schemeClr val="bg1"/>
                </a:solidFill>
              </a:rPr>
              <a:t>inserts</a:t>
            </a:r>
            <a:r>
              <a:rPr lang="it-IT" noProof="0" dirty="0">
                <a:solidFill>
                  <a:schemeClr val="bg1"/>
                </a:solidFill>
              </a:rPr>
              <a:t> can balance drag </a:t>
            </a:r>
            <a:r>
              <a:rPr lang="it-IT" noProof="0" dirty="0" err="1">
                <a:solidFill>
                  <a:schemeClr val="bg1"/>
                </a:solidFill>
              </a:rPr>
              <a:t>reduction</a:t>
            </a:r>
            <a:r>
              <a:rPr lang="it-IT" noProof="0" dirty="0">
                <a:solidFill>
                  <a:schemeClr val="bg1"/>
                </a:solidFill>
              </a:rPr>
              <a:t> and </a:t>
            </a:r>
            <a:r>
              <a:rPr lang="it-IT" noProof="0" dirty="0" err="1">
                <a:solidFill>
                  <a:schemeClr val="bg1"/>
                </a:solidFill>
              </a:rPr>
              <a:t>stability</a:t>
            </a:r>
            <a:r>
              <a:rPr lang="it-IT" noProof="0" dirty="0">
                <a:solidFill>
                  <a:schemeClr val="bg1"/>
                </a:solidFill>
              </a:rPr>
              <a:t>, </a:t>
            </a:r>
            <a:r>
              <a:rPr lang="it-IT" noProof="0" dirty="0" err="1">
                <a:solidFill>
                  <a:schemeClr val="bg1"/>
                </a:solidFill>
              </a:rPr>
              <a:t>requiring</a:t>
            </a:r>
            <a:r>
              <a:rPr lang="it-IT" noProof="0" dirty="0">
                <a:solidFill>
                  <a:schemeClr val="bg1"/>
                </a:solidFill>
              </a:rPr>
              <a:t> </a:t>
            </a:r>
            <a:r>
              <a:rPr lang="it-IT" noProof="0" dirty="0" err="1">
                <a:solidFill>
                  <a:schemeClr val="bg1"/>
                </a:solidFill>
              </a:rPr>
              <a:t>further</a:t>
            </a:r>
            <a:r>
              <a:rPr lang="it-IT" noProof="0" dirty="0">
                <a:solidFill>
                  <a:schemeClr val="bg1"/>
                </a:solidFill>
              </a:rPr>
              <a:t> testing for </a:t>
            </a:r>
            <a:r>
              <a:rPr lang="it-IT" noProof="0" dirty="0" err="1">
                <a:solidFill>
                  <a:schemeClr val="bg1"/>
                </a:solidFill>
              </a:rPr>
              <a:t>optimization</a:t>
            </a:r>
            <a:endParaRPr lang="it-IT" dirty="0">
              <a:solidFill>
                <a:schemeClr val="bg1"/>
              </a:solidFill>
            </a:endParaRPr>
          </a:p>
          <a:p>
            <a:endParaRPr lang="en-GB" dirty="0"/>
          </a:p>
        </p:txBody>
      </p:sp>
      <p:sp>
        <p:nvSpPr>
          <p:cNvPr id="5" name="CasellaDiTesto 4">
            <a:extLst>
              <a:ext uri="{FF2B5EF4-FFF2-40B4-BE49-F238E27FC236}">
                <a16:creationId xmlns:a16="http://schemas.microsoft.com/office/drawing/2014/main" id="{3F9A5BA1-1BFB-75F4-8CCA-FA20BE7DA587}"/>
              </a:ext>
            </a:extLst>
          </p:cNvPr>
          <p:cNvSpPr txBox="1"/>
          <p:nvPr/>
        </p:nvSpPr>
        <p:spPr>
          <a:xfrm>
            <a:off x="594359" y="2240221"/>
            <a:ext cx="7184480" cy="369332"/>
          </a:xfrm>
          <a:prstGeom prst="rect">
            <a:avLst/>
          </a:prstGeom>
          <a:noFill/>
        </p:spPr>
        <p:txBody>
          <a:bodyPr wrap="square" rtlCol="0">
            <a:spAutoFit/>
          </a:bodyPr>
          <a:lstStyle/>
          <a:p>
            <a:r>
              <a:rPr lang="it-IT" b="1" dirty="0">
                <a:solidFill>
                  <a:srgbClr val="7CA655"/>
                </a:solidFill>
              </a:rPr>
              <a:t>Source: </a:t>
            </a:r>
            <a:r>
              <a:rPr lang="it-IT" dirty="0">
                <a:solidFill>
                  <a:schemeClr val="bg1"/>
                </a:solidFill>
              </a:rPr>
              <a:t>«</a:t>
            </a:r>
            <a:r>
              <a:rPr lang="en-US" dirty="0">
                <a:solidFill>
                  <a:schemeClr val="bg1"/>
                </a:solidFill>
              </a:rPr>
              <a:t>Aerodynamic Study of Motorcycle Racing Wheels</a:t>
            </a:r>
            <a:r>
              <a:rPr lang="it-IT" dirty="0">
                <a:solidFill>
                  <a:schemeClr val="bg1"/>
                </a:solidFill>
              </a:rPr>
              <a:t>», </a:t>
            </a:r>
            <a:r>
              <a:rPr lang="it-IT" dirty="0" err="1">
                <a:solidFill>
                  <a:schemeClr val="bg1"/>
                </a:solidFill>
              </a:rPr>
              <a:t>Concli</a:t>
            </a:r>
            <a:r>
              <a:rPr lang="it-IT" dirty="0">
                <a:solidFill>
                  <a:schemeClr val="bg1"/>
                </a:solidFill>
              </a:rPr>
              <a:t> et al. </a:t>
            </a:r>
            <a:endParaRPr lang="en-GB" dirty="0">
              <a:solidFill>
                <a:schemeClr val="bg1"/>
              </a:solidFill>
            </a:endParaRPr>
          </a:p>
        </p:txBody>
      </p:sp>
    </p:spTree>
    <p:extLst>
      <p:ext uri="{BB962C8B-B14F-4D97-AF65-F5344CB8AC3E}">
        <p14:creationId xmlns:p14="http://schemas.microsoft.com/office/powerpoint/2010/main" val="3690756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E5253-AC6F-69F9-9AC0-67E9741259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546F38-FD5C-4631-C3DC-96A99B344D6F}"/>
              </a:ext>
            </a:extLst>
          </p:cNvPr>
          <p:cNvSpPr>
            <a:spLocks noGrp="1"/>
          </p:cNvSpPr>
          <p:nvPr>
            <p:ph type="title"/>
          </p:nvPr>
        </p:nvSpPr>
        <p:spPr>
          <a:xfrm>
            <a:off x="594360" y="278129"/>
            <a:ext cx="9778365" cy="1494596"/>
          </a:xfrm>
        </p:spPr>
        <p:txBody>
          <a:bodyPr/>
          <a:lstStyle/>
          <a:p>
            <a:r>
              <a:rPr lang="en-US" dirty="0"/>
              <a:t>Rotation Effects on Aerodynamics Performance</a:t>
            </a:r>
          </a:p>
        </p:txBody>
      </p:sp>
      <p:pic>
        <p:nvPicPr>
          <p:cNvPr id="3" name="Picture 2">
            <a:extLst>
              <a:ext uri="{FF2B5EF4-FFF2-40B4-BE49-F238E27FC236}">
                <a16:creationId xmlns:a16="http://schemas.microsoft.com/office/drawing/2014/main" id="{A99124A7-675C-5CED-5BCA-460D439B8712}"/>
              </a:ext>
            </a:extLst>
          </p:cNvPr>
          <p:cNvPicPr>
            <a:picLocks noChangeAspect="1"/>
          </p:cNvPicPr>
          <p:nvPr/>
        </p:nvPicPr>
        <p:blipFill>
          <a:blip r:embed="rId3"/>
          <a:stretch>
            <a:fillRect/>
          </a:stretch>
        </p:blipFill>
        <p:spPr>
          <a:xfrm>
            <a:off x="11227317" y="5949493"/>
            <a:ext cx="876422" cy="838317"/>
          </a:xfrm>
          <a:prstGeom prst="rect">
            <a:avLst/>
          </a:prstGeom>
        </p:spPr>
      </p:pic>
      <p:sp>
        <p:nvSpPr>
          <p:cNvPr id="11" name="CasellaDiTesto 10">
            <a:extLst>
              <a:ext uri="{FF2B5EF4-FFF2-40B4-BE49-F238E27FC236}">
                <a16:creationId xmlns:a16="http://schemas.microsoft.com/office/drawing/2014/main" id="{E0C20F3C-87ED-28FC-203A-9EF8F3F2B4B7}"/>
              </a:ext>
            </a:extLst>
          </p:cNvPr>
          <p:cNvSpPr txBox="1"/>
          <p:nvPr/>
        </p:nvSpPr>
        <p:spPr>
          <a:xfrm>
            <a:off x="594360" y="2498501"/>
            <a:ext cx="10771979" cy="369332"/>
          </a:xfrm>
          <a:prstGeom prst="rect">
            <a:avLst/>
          </a:prstGeom>
          <a:noFill/>
        </p:spPr>
        <p:txBody>
          <a:bodyPr wrap="square" rtlCol="0">
            <a:spAutoFit/>
          </a:bodyPr>
          <a:lstStyle/>
          <a:p>
            <a:r>
              <a:rPr lang="it-IT" b="1" dirty="0">
                <a:solidFill>
                  <a:srgbClr val="7CA655"/>
                </a:solidFill>
              </a:rPr>
              <a:t>Source: </a:t>
            </a:r>
            <a:r>
              <a:rPr lang="it-IT" i="1" dirty="0">
                <a:solidFill>
                  <a:schemeClr val="bg1"/>
                </a:solidFill>
              </a:rPr>
              <a:t>«</a:t>
            </a:r>
            <a:r>
              <a:rPr lang="it-IT" i="1" dirty="0" err="1">
                <a:solidFill>
                  <a:schemeClr val="bg1"/>
                </a:solidFill>
              </a:rPr>
              <a:t>Aerodynamic</a:t>
            </a:r>
            <a:r>
              <a:rPr lang="it-IT" i="1" dirty="0">
                <a:solidFill>
                  <a:schemeClr val="bg1"/>
                </a:solidFill>
              </a:rPr>
              <a:t> Study of MotoGP </a:t>
            </a:r>
            <a:r>
              <a:rPr lang="it-IT" i="1" dirty="0" err="1">
                <a:solidFill>
                  <a:schemeClr val="bg1"/>
                </a:solidFill>
              </a:rPr>
              <a:t>Motorcycle</a:t>
            </a:r>
            <a:r>
              <a:rPr lang="it-IT" i="1" dirty="0">
                <a:solidFill>
                  <a:schemeClr val="bg1"/>
                </a:solidFill>
              </a:rPr>
              <a:t> Flow </a:t>
            </a:r>
            <a:r>
              <a:rPr lang="it-IT" i="1" dirty="0" err="1">
                <a:solidFill>
                  <a:schemeClr val="bg1"/>
                </a:solidFill>
              </a:rPr>
              <a:t>Redirectors</a:t>
            </a:r>
            <a:r>
              <a:rPr lang="it-IT" i="1" dirty="0">
                <a:solidFill>
                  <a:schemeClr val="bg1"/>
                </a:solidFill>
              </a:rPr>
              <a:t>», B. </a:t>
            </a:r>
            <a:r>
              <a:rPr lang="it-IT" i="1" dirty="0" err="1">
                <a:solidFill>
                  <a:schemeClr val="bg1"/>
                </a:solidFill>
              </a:rPr>
              <a:t>Gonzàles</a:t>
            </a:r>
            <a:r>
              <a:rPr lang="it-IT" i="1" dirty="0">
                <a:solidFill>
                  <a:schemeClr val="bg1"/>
                </a:solidFill>
              </a:rPr>
              <a:t>-Arcos, P.J. </a:t>
            </a:r>
            <a:r>
              <a:rPr lang="it-IT" i="1" dirty="0" err="1">
                <a:solidFill>
                  <a:schemeClr val="bg1"/>
                </a:solidFill>
              </a:rPr>
              <a:t>Gamez</a:t>
            </a:r>
            <a:r>
              <a:rPr lang="it-IT" i="1" dirty="0">
                <a:solidFill>
                  <a:schemeClr val="bg1"/>
                </a:solidFill>
              </a:rPr>
              <a:t>-Montero </a:t>
            </a:r>
            <a:endParaRPr lang="en-GB" i="1" dirty="0">
              <a:solidFill>
                <a:schemeClr val="bg1"/>
              </a:solidFill>
            </a:endParaRPr>
          </a:p>
        </p:txBody>
      </p:sp>
      <p:sp>
        <p:nvSpPr>
          <p:cNvPr id="13" name="TextBox 7">
            <a:extLst>
              <a:ext uri="{FF2B5EF4-FFF2-40B4-BE49-F238E27FC236}">
                <a16:creationId xmlns:a16="http://schemas.microsoft.com/office/drawing/2014/main" id="{822E8908-2C12-E77F-1CB2-B62C16402B6B}"/>
              </a:ext>
            </a:extLst>
          </p:cNvPr>
          <p:cNvSpPr txBox="1"/>
          <p:nvPr/>
        </p:nvSpPr>
        <p:spPr>
          <a:xfrm>
            <a:off x="594360" y="2869932"/>
            <a:ext cx="10056468" cy="2308324"/>
          </a:xfrm>
          <a:prstGeom prst="rect">
            <a:avLst/>
          </a:prstGeom>
          <a:noFill/>
        </p:spPr>
        <p:txBody>
          <a:bodyPr wrap="square" rtlCol="0">
            <a:spAutoFit/>
          </a:bodyPr>
          <a:lstStyle/>
          <a:p>
            <a:pPr algn="just"/>
            <a:r>
              <a:rPr lang="it-IT" b="1" dirty="0">
                <a:solidFill>
                  <a:schemeClr val="tx2"/>
                </a:solidFill>
              </a:rPr>
              <a:t>Highlights:</a:t>
            </a:r>
          </a:p>
          <a:p>
            <a:pPr marL="285750" indent="-285750" algn="just">
              <a:buFont typeface="Arial" panose="020B0604020202020204" pitchFamily="34" charset="0"/>
              <a:buChar char="•"/>
            </a:pPr>
            <a:r>
              <a:rPr lang="en-US" dirty="0">
                <a:solidFill>
                  <a:schemeClr val="bg1"/>
                </a:solidFill>
              </a:rPr>
              <a:t>Rotating wheel has important drag and lift effects both for straight </a:t>
            </a:r>
            <a:r>
              <a:rPr lang="en-US" i="1" dirty="0">
                <a:solidFill>
                  <a:schemeClr val="bg1"/>
                </a:solidFill>
              </a:rPr>
              <a:t>(S.)</a:t>
            </a:r>
            <a:r>
              <a:rPr lang="en-US" dirty="0">
                <a:solidFill>
                  <a:schemeClr val="bg1"/>
                </a:solidFill>
              </a:rPr>
              <a:t> and leaning </a:t>
            </a:r>
            <a:r>
              <a:rPr lang="en-US" i="1" dirty="0">
                <a:solidFill>
                  <a:schemeClr val="bg1"/>
                </a:solidFill>
              </a:rPr>
              <a:t>(L.)</a:t>
            </a:r>
            <a:r>
              <a:rPr lang="en-US" dirty="0">
                <a:solidFill>
                  <a:schemeClr val="bg1"/>
                </a:solidFill>
              </a:rPr>
              <a:t> motorcycle models, as displayed in the table referred to a motorcycle without under-fairings. </a:t>
            </a:r>
          </a:p>
          <a:p>
            <a:pPr marL="285750" indent="-285750" algn="just">
              <a:buFont typeface="Arial" panose="020B0604020202020204" pitchFamily="34" charset="0"/>
              <a:buChar char="•"/>
            </a:pPr>
            <a:r>
              <a:rPr lang="en-US" dirty="0">
                <a:solidFill>
                  <a:schemeClr val="bg1"/>
                </a:solidFill>
              </a:rPr>
              <a:t>The main rotation effect is directing the vortexes under the motorcycle and creating downforce.</a:t>
            </a:r>
          </a:p>
          <a:p>
            <a:pPr marL="285750" indent="-285750" algn="just">
              <a:buFont typeface="Arial" panose="020B0604020202020204" pitchFamily="34" charset="0"/>
              <a:buChar char="•"/>
            </a:pPr>
            <a:r>
              <a:rPr lang="en-US" dirty="0">
                <a:solidFill>
                  <a:schemeClr val="bg1"/>
                </a:solidFill>
              </a:rPr>
              <a:t>The rotation lifts the wheel’s wake and creates high speed flow near the possible underbody fairing, whereas a non-rotating wheel </a:t>
            </a:r>
            <a:r>
              <a:rPr lang="en-US" i="1" dirty="0">
                <a:solidFill>
                  <a:schemeClr val="bg1"/>
                </a:solidFill>
              </a:rPr>
              <a:t>(a)</a:t>
            </a:r>
            <a:r>
              <a:rPr lang="en-US" dirty="0">
                <a:solidFill>
                  <a:schemeClr val="bg1"/>
                </a:solidFill>
              </a:rPr>
              <a:t> let part of the flow to pass around it. Moreover, the rotating wheels </a:t>
            </a:r>
            <a:r>
              <a:rPr lang="en-US" i="1" dirty="0">
                <a:solidFill>
                  <a:schemeClr val="bg1"/>
                </a:solidFill>
              </a:rPr>
              <a:t>(b)</a:t>
            </a:r>
            <a:r>
              <a:rPr lang="en-US" dirty="0">
                <a:solidFill>
                  <a:schemeClr val="bg1"/>
                </a:solidFill>
              </a:rPr>
              <a:t> simulations show that the low pressure-wake on the back of the vehicle is reduced.</a:t>
            </a:r>
          </a:p>
          <a:p>
            <a:pPr marL="342900" indent="-342900">
              <a:buFont typeface="Arial" panose="020B0604020202020204" pitchFamily="34" charset="0"/>
              <a:buChar char="•"/>
            </a:pPr>
            <a:endParaRPr lang="it-IT" dirty="0">
              <a:solidFill>
                <a:schemeClr val="bg1"/>
              </a:solidFill>
            </a:endParaRPr>
          </a:p>
        </p:txBody>
      </p:sp>
      <p:graphicFrame>
        <p:nvGraphicFramePr>
          <p:cNvPr id="4" name="Tabella 3">
            <a:extLst>
              <a:ext uri="{FF2B5EF4-FFF2-40B4-BE49-F238E27FC236}">
                <a16:creationId xmlns:a16="http://schemas.microsoft.com/office/drawing/2014/main" id="{D1EFF462-5338-37E2-1D8F-B13A2FAA4B72}"/>
              </a:ext>
            </a:extLst>
          </p:cNvPr>
          <p:cNvGraphicFramePr>
            <a:graphicFrameLocks noGrp="1"/>
          </p:cNvGraphicFramePr>
          <p:nvPr/>
        </p:nvGraphicFramePr>
        <p:xfrm>
          <a:off x="978231" y="5034341"/>
          <a:ext cx="3099331" cy="1676400"/>
        </p:xfrm>
        <a:graphic>
          <a:graphicData uri="http://schemas.openxmlformats.org/drawingml/2006/table">
            <a:tbl>
              <a:tblPr firstRow="1" bandRow="1">
                <a:tableStyleId>{D7AC3CCA-C797-4891-BE02-D94E43425B78}</a:tableStyleId>
              </a:tblPr>
              <a:tblGrid>
                <a:gridCol w="1535382">
                  <a:extLst>
                    <a:ext uri="{9D8B030D-6E8A-4147-A177-3AD203B41FA5}">
                      <a16:colId xmlns:a16="http://schemas.microsoft.com/office/drawing/2014/main" val="3214625035"/>
                    </a:ext>
                  </a:extLst>
                </a:gridCol>
                <a:gridCol w="738626">
                  <a:extLst>
                    <a:ext uri="{9D8B030D-6E8A-4147-A177-3AD203B41FA5}">
                      <a16:colId xmlns:a16="http://schemas.microsoft.com/office/drawing/2014/main" val="3304543061"/>
                    </a:ext>
                  </a:extLst>
                </a:gridCol>
                <a:gridCol w="825323">
                  <a:extLst>
                    <a:ext uri="{9D8B030D-6E8A-4147-A177-3AD203B41FA5}">
                      <a16:colId xmlns:a16="http://schemas.microsoft.com/office/drawing/2014/main" val="1887977180"/>
                    </a:ext>
                  </a:extLst>
                </a:gridCol>
              </a:tblGrid>
              <a:tr h="324000">
                <a:tc>
                  <a:txBody>
                    <a:bodyPr/>
                    <a:lstStyle/>
                    <a:p>
                      <a:pPr algn="ctr"/>
                      <a:r>
                        <a:rPr lang="en-GB" sz="1600" dirty="0"/>
                        <a:t>Model</a:t>
                      </a:r>
                    </a:p>
                  </a:txBody>
                  <a:tcPr anchor="ctr">
                    <a:solidFill>
                      <a:schemeClr val="bg2">
                        <a:lumMod val="90000"/>
                      </a:schemeClr>
                    </a:solidFill>
                  </a:tcPr>
                </a:tc>
                <a:tc>
                  <a:txBody>
                    <a:bodyPr/>
                    <a:lstStyle/>
                    <a:p>
                      <a:pPr algn="ctr"/>
                      <a:r>
                        <a:rPr lang="en-GB" sz="1600" dirty="0"/>
                        <a:t>C</a:t>
                      </a:r>
                      <a:r>
                        <a:rPr lang="en-GB" sz="1600" baseline="-25000" dirty="0"/>
                        <a:t>d</a:t>
                      </a:r>
                      <a:endParaRPr lang="en-GB" sz="1600" dirty="0"/>
                    </a:p>
                  </a:txBody>
                  <a:tcPr anchor="ctr">
                    <a:solidFill>
                      <a:schemeClr val="bg2">
                        <a:lumMod val="90000"/>
                      </a:schemeClr>
                    </a:solidFill>
                  </a:tcPr>
                </a:tc>
                <a:tc>
                  <a:txBody>
                    <a:bodyPr/>
                    <a:lstStyle/>
                    <a:p>
                      <a:pPr algn="ctr"/>
                      <a:r>
                        <a:rPr lang="en-GB" sz="1600" dirty="0"/>
                        <a:t>C</a:t>
                      </a:r>
                      <a:r>
                        <a:rPr lang="en-GB" sz="1600" baseline="-25000" dirty="0"/>
                        <a:t>L</a:t>
                      </a:r>
                      <a:endParaRPr lang="en-GB" sz="1600" dirty="0"/>
                    </a:p>
                  </a:txBody>
                  <a:tcPr anchor="ctr">
                    <a:solidFill>
                      <a:schemeClr val="bg2">
                        <a:lumMod val="90000"/>
                      </a:schemeClr>
                    </a:solidFill>
                  </a:tcPr>
                </a:tc>
                <a:extLst>
                  <a:ext uri="{0D108BD9-81ED-4DB2-BD59-A6C34878D82A}">
                    <a16:rowId xmlns:a16="http://schemas.microsoft.com/office/drawing/2014/main" val="685955774"/>
                  </a:ext>
                </a:extLst>
              </a:tr>
              <a:tr h="324000">
                <a:tc>
                  <a:txBody>
                    <a:bodyPr/>
                    <a:lstStyle/>
                    <a:p>
                      <a:pPr algn="l"/>
                      <a:r>
                        <a:rPr lang="en-GB" sz="1600" dirty="0"/>
                        <a:t>S. Non-Rotating</a:t>
                      </a:r>
                    </a:p>
                  </a:txBody>
                  <a:tcPr anchor="ctr">
                    <a:solidFill>
                      <a:schemeClr val="tx1">
                        <a:lumMod val="95000"/>
                      </a:schemeClr>
                    </a:solidFill>
                  </a:tcPr>
                </a:tc>
                <a:tc>
                  <a:txBody>
                    <a:bodyPr/>
                    <a:lstStyle/>
                    <a:p>
                      <a:pPr algn="ctr"/>
                      <a:r>
                        <a:rPr lang="en-GB" sz="1600" dirty="0"/>
                        <a:t>0.420</a:t>
                      </a:r>
                    </a:p>
                  </a:txBody>
                  <a:tcPr anchor="ctr">
                    <a:solidFill>
                      <a:schemeClr val="tx1">
                        <a:lumMod val="95000"/>
                      </a:schemeClr>
                    </a:solidFill>
                  </a:tcPr>
                </a:tc>
                <a:tc>
                  <a:txBody>
                    <a:bodyPr/>
                    <a:lstStyle/>
                    <a:p>
                      <a:pPr algn="ctr"/>
                      <a:r>
                        <a:rPr lang="en-GB" sz="1600" dirty="0"/>
                        <a:t>0.04</a:t>
                      </a:r>
                    </a:p>
                  </a:txBody>
                  <a:tcPr anchor="ctr">
                    <a:solidFill>
                      <a:schemeClr val="tx1">
                        <a:lumMod val="95000"/>
                      </a:schemeClr>
                    </a:solidFill>
                  </a:tcPr>
                </a:tc>
                <a:extLst>
                  <a:ext uri="{0D108BD9-81ED-4DB2-BD59-A6C34878D82A}">
                    <a16:rowId xmlns:a16="http://schemas.microsoft.com/office/drawing/2014/main" val="1866505068"/>
                  </a:ext>
                </a:extLst>
              </a:tr>
              <a:tr h="324000">
                <a:tc>
                  <a:txBody>
                    <a:bodyPr/>
                    <a:lstStyle/>
                    <a:p>
                      <a:pPr algn="l"/>
                      <a:r>
                        <a:rPr lang="en-GB" sz="1600" dirty="0"/>
                        <a:t>S. Rotating</a:t>
                      </a:r>
                    </a:p>
                  </a:txBody>
                  <a:tcPr anchor="ctr">
                    <a:solidFill>
                      <a:schemeClr val="tx1">
                        <a:lumMod val="95000"/>
                      </a:schemeClr>
                    </a:solidFill>
                  </a:tcPr>
                </a:tc>
                <a:tc>
                  <a:txBody>
                    <a:bodyPr/>
                    <a:lstStyle/>
                    <a:p>
                      <a:pPr algn="ctr"/>
                      <a:r>
                        <a:rPr lang="en-GB" sz="1600" dirty="0"/>
                        <a:t>0.411</a:t>
                      </a:r>
                    </a:p>
                  </a:txBody>
                  <a:tcPr anchor="ctr">
                    <a:solidFill>
                      <a:schemeClr val="tx1">
                        <a:lumMod val="95000"/>
                      </a:schemeClr>
                    </a:solidFill>
                  </a:tcPr>
                </a:tc>
                <a:tc>
                  <a:txBody>
                    <a:bodyPr/>
                    <a:lstStyle/>
                    <a:p>
                      <a:pPr algn="ctr"/>
                      <a:r>
                        <a:rPr lang="en-GB" sz="1600" dirty="0"/>
                        <a:t>0.05</a:t>
                      </a:r>
                    </a:p>
                  </a:txBody>
                  <a:tcPr anchor="ctr">
                    <a:solidFill>
                      <a:schemeClr val="tx1">
                        <a:lumMod val="95000"/>
                      </a:schemeClr>
                    </a:solidFill>
                  </a:tcPr>
                </a:tc>
                <a:extLst>
                  <a:ext uri="{0D108BD9-81ED-4DB2-BD59-A6C34878D82A}">
                    <a16:rowId xmlns:a16="http://schemas.microsoft.com/office/drawing/2014/main" val="3307287631"/>
                  </a:ext>
                </a:extLst>
              </a:tr>
              <a:tr h="324000">
                <a:tc>
                  <a:txBody>
                    <a:bodyPr/>
                    <a:lstStyle/>
                    <a:p>
                      <a:pPr algn="l"/>
                      <a:r>
                        <a:rPr lang="en-GB" sz="1600" dirty="0"/>
                        <a:t>L. Non-Rotating</a:t>
                      </a:r>
                    </a:p>
                  </a:txBody>
                  <a:tcPr anchor="ctr">
                    <a:solidFill>
                      <a:schemeClr val="tx1">
                        <a:lumMod val="95000"/>
                      </a:schemeClr>
                    </a:solidFill>
                  </a:tcPr>
                </a:tc>
                <a:tc>
                  <a:txBody>
                    <a:bodyPr/>
                    <a:lstStyle/>
                    <a:p>
                      <a:pPr algn="ctr"/>
                      <a:r>
                        <a:rPr lang="en-GB" sz="1600" dirty="0"/>
                        <a:t>0,462</a:t>
                      </a:r>
                    </a:p>
                  </a:txBody>
                  <a:tcPr anchor="ctr">
                    <a:solidFill>
                      <a:schemeClr val="tx1">
                        <a:lumMod val="95000"/>
                      </a:schemeClr>
                    </a:solidFill>
                  </a:tcPr>
                </a:tc>
                <a:tc>
                  <a:txBody>
                    <a:bodyPr/>
                    <a:lstStyle/>
                    <a:p>
                      <a:pPr algn="ctr"/>
                      <a:r>
                        <a:rPr lang="en-GB" sz="1600" dirty="0"/>
                        <a:t>0,09</a:t>
                      </a:r>
                    </a:p>
                  </a:txBody>
                  <a:tcPr anchor="ctr">
                    <a:solidFill>
                      <a:schemeClr val="tx1">
                        <a:lumMod val="95000"/>
                      </a:schemeClr>
                    </a:solidFill>
                  </a:tcPr>
                </a:tc>
                <a:extLst>
                  <a:ext uri="{0D108BD9-81ED-4DB2-BD59-A6C34878D82A}">
                    <a16:rowId xmlns:a16="http://schemas.microsoft.com/office/drawing/2014/main" val="2823719387"/>
                  </a:ext>
                </a:extLst>
              </a:tr>
              <a:tr h="324000">
                <a:tc>
                  <a:txBody>
                    <a:bodyPr/>
                    <a:lstStyle/>
                    <a:p>
                      <a:pPr algn="l"/>
                      <a:r>
                        <a:rPr lang="en-GB" sz="1600" dirty="0"/>
                        <a:t>L. Rotating</a:t>
                      </a:r>
                    </a:p>
                  </a:txBody>
                  <a:tcPr anchor="ctr">
                    <a:solidFill>
                      <a:schemeClr val="tx1">
                        <a:lumMod val="95000"/>
                      </a:schemeClr>
                    </a:solidFill>
                  </a:tcPr>
                </a:tc>
                <a:tc>
                  <a:txBody>
                    <a:bodyPr/>
                    <a:lstStyle/>
                    <a:p>
                      <a:pPr algn="ctr"/>
                      <a:r>
                        <a:rPr lang="en-GB" sz="1600" dirty="0"/>
                        <a:t>0,447</a:t>
                      </a:r>
                    </a:p>
                  </a:txBody>
                  <a:tcPr anchor="ctr">
                    <a:solidFill>
                      <a:schemeClr val="tx1">
                        <a:lumMod val="95000"/>
                      </a:schemeClr>
                    </a:solidFill>
                  </a:tcPr>
                </a:tc>
                <a:tc>
                  <a:txBody>
                    <a:bodyPr/>
                    <a:lstStyle/>
                    <a:p>
                      <a:pPr algn="ctr"/>
                      <a:r>
                        <a:rPr lang="en-GB" sz="1600" dirty="0"/>
                        <a:t>0,12</a:t>
                      </a:r>
                    </a:p>
                  </a:txBody>
                  <a:tcPr anchor="ctr">
                    <a:solidFill>
                      <a:schemeClr val="tx1">
                        <a:lumMod val="95000"/>
                      </a:schemeClr>
                    </a:solidFill>
                  </a:tcPr>
                </a:tc>
                <a:extLst>
                  <a:ext uri="{0D108BD9-81ED-4DB2-BD59-A6C34878D82A}">
                    <a16:rowId xmlns:a16="http://schemas.microsoft.com/office/drawing/2014/main" val="2946202461"/>
                  </a:ext>
                </a:extLst>
              </a:tr>
            </a:tbl>
          </a:graphicData>
        </a:graphic>
      </p:graphicFrame>
      <p:pic>
        <p:nvPicPr>
          <p:cNvPr id="6" name="Immagine 5" descr="Immagine che contiene Elementi grafici, grafica, schermata, aqua&#10;&#10;Descrizione generata automaticamente">
            <a:extLst>
              <a:ext uri="{FF2B5EF4-FFF2-40B4-BE49-F238E27FC236}">
                <a16:creationId xmlns:a16="http://schemas.microsoft.com/office/drawing/2014/main" id="{54E4B3E8-CB68-2F6E-B2C0-A695918676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61432" y="4917131"/>
            <a:ext cx="6189396" cy="1910820"/>
          </a:xfrm>
          <a:prstGeom prst="rect">
            <a:avLst/>
          </a:prstGeom>
        </p:spPr>
      </p:pic>
      <p:sp>
        <p:nvSpPr>
          <p:cNvPr id="7" name="CasellaDiTesto 6">
            <a:extLst>
              <a:ext uri="{FF2B5EF4-FFF2-40B4-BE49-F238E27FC236}">
                <a16:creationId xmlns:a16="http://schemas.microsoft.com/office/drawing/2014/main" id="{3B7435E4-A628-46B7-D2C4-554BB735AF2C}"/>
              </a:ext>
            </a:extLst>
          </p:cNvPr>
          <p:cNvSpPr txBox="1"/>
          <p:nvPr/>
        </p:nvSpPr>
        <p:spPr>
          <a:xfrm>
            <a:off x="7145334" y="6441371"/>
            <a:ext cx="1269460" cy="276999"/>
          </a:xfrm>
          <a:prstGeom prst="rect">
            <a:avLst/>
          </a:prstGeom>
          <a:noFill/>
        </p:spPr>
        <p:txBody>
          <a:bodyPr wrap="square" rtlCol="0">
            <a:spAutoFit/>
          </a:bodyPr>
          <a:lstStyle/>
          <a:p>
            <a:r>
              <a:rPr lang="en-US" sz="1200" i="1" dirty="0">
                <a:solidFill>
                  <a:schemeClr val="bg1"/>
                </a:solidFill>
              </a:rPr>
              <a:t>Straight model</a:t>
            </a:r>
          </a:p>
        </p:txBody>
      </p:sp>
    </p:spTree>
    <p:extLst>
      <p:ext uri="{BB962C8B-B14F-4D97-AF65-F5344CB8AC3E}">
        <p14:creationId xmlns:p14="http://schemas.microsoft.com/office/powerpoint/2010/main" val="3645609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D297E-691D-C257-9180-C07E13F03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A1C648-4940-5221-D7BD-D5540CB5BD30}"/>
              </a:ext>
            </a:extLst>
          </p:cNvPr>
          <p:cNvSpPr>
            <a:spLocks noGrp="1"/>
          </p:cNvSpPr>
          <p:nvPr>
            <p:ph type="title"/>
          </p:nvPr>
        </p:nvSpPr>
        <p:spPr>
          <a:xfrm>
            <a:off x="594360" y="278129"/>
            <a:ext cx="9778365" cy="1494596"/>
          </a:xfrm>
        </p:spPr>
        <p:txBody>
          <a:bodyPr/>
          <a:lstStyle/>
          <a:p>
            <a:r>
              <a:rPr lang="en-US" dirty="0"/>
              <a:t>Impact of Tire Profiles on Aerodynamics</a:t>
            </a:r>
          </a:p>
        </p:txBody>
      </p:sp>
      <p:pic>
        <p:nvPicPr>
          <p:cNvPr id="3" name="Picture 2">
            <a:extLst>
              <a:ext uri="{FF2B5EF4-FFF2-40B4-BE49-F238E27FC236}">
                <a16:creationId xmlns:a16="http://schemas.microsoft.com/office/drawing/2014/main" id="{04206464-847C-AB13-95A2-D6BA89684974}"/>
              </a:ext>
            </a:extLst>
          </p:cNvPr>
          <p:cNvPicPr>
            <a:picLocks noChangeAspect="1"/>
          </p:cNvPicPr>
          <p:nvPr/>
        </p:nvPicPr>
        <p:blipFill>
          <a:blip r:embed="rId3"/>
          <a:stretch>
            <a:fillRect/>
          </a:stretch>
        </p:blipFill>
        <p:spPr>
          <a:xfrm>
            <a:off x="11227317" y="5949493"/>
            <a:ext cx="876422" cy="838317"/>
          </a:xfrm>
          <a:prstGeom prst="rect">
            <a:avLst/>
          </a:prstGeom>
        </p:spPr>
      </p:pic>
      <p:sp>
        <p:nvSpPr>
          <p:cNvPr id="11" name="CasellaDiTesto 10">
            <a:extLst>
              <a:ext uri="{FF2B5EF4-FFF2-40B4-BE49-F238E27FC236}">
                <a16:creationId xmlns:a16="http://schemas.microsoft.com/office/drawing/2014/main" id="{0942F43F-1866-DA4D-5204-2D067CB5264D}"/>
              </a:ext>
            </a:extLst>
          </p:cNvPr>
          <p:cNvSpPr txBox="1"/>
          <p:nvPr/>
        </p:nvSpPr>
        <p:spPr>
          <a:xfrm>
            <a:off x="594360" y="2498501"/>
            <a:ext cx="10771979" cy="369332"/>
          </a:xfrm>
          <a:prstGeom prst="rect">
            <a:avLst/>
          </a:prstGeom>
          <a:noFill/>
        </p:spPr>
        <p:txBody>
          <a:bodyPr wrap="square" rtlCol="0">
            <a:spAutoFit/>
          </a:bodyPr>
          <a:lstStyle/>
          <a:p>
            <a:r>
              <a:rPr lang="it-IT" b="1" dirty="0">
                <a:solidFill>
                  <a:srgbClr val="7CA655"/>
                </a:solidFill>
              </a:rPr>
              <a:t>Source: </a:t>
            </a:r>
            <a:r>
              <a:rPr lang="it-IT" i="1" dirty="0">
                <a:solidFill>
                  <a:schemeClr val="bg1"/>
                </a:solidFill>
              </a:rPr>
              <a:t>«</a:t>
            </a:r>
            <a:r>
              <a:rPr lang="it-IT" i="1" dirty="0" err="1">
                <a:solidFill>
                  <a:schemeClr val="bg1"/>
                </a:solidFill>
              </a:rPr>
              <a:t>Motorbike</a:t>
            </a:r>
            <a:r>
              <a:rPr lang="it-IT" i="1" dirty="0">
                <a:solidFill>
                  <a:schemeClr val="bg1"/>
                </a:solidFill>
              </a:rPr>
              <a:t> CFD Analysis </a:t>
            </a:r>
            <a:r>
              <a:rPr lang="it-IT" i="1" dirty="0" err="1">
                <a:solidFill>
                  <a:schemeClr val="bg1"/>
                </a:solidFill>
              </a:rPr>
              <a:t>Explained</a:t>
            </a:r>
            <a:r>
              <a:rPr lang="it-IT" i="1" dirty="0">
                <a:solidFill>
                  <a:schemeClr val="bg1"/>
                </a:solidFill>
              </a:rPr>
              <a:t>», airshaper.com</a:t>
            </a:r>
            <a:endParaRPr lang="en-GB" i="1" dirty="0">
              <a:solidFill>
                <a:schemeClr val="bg1"/>
              </a:solidFill>
            </a:endParaRPr>
          </a:p>
        </p:txBody>
      </p:sp>
      <p:sp>
        <p:nvSpPr>
          <p:cNvPr id="13" name="TextBox 7">
            <a:extLst>
              <a:ext uri="{FF2B5EF4-FFF2-40B4-BE49-F238E27FC236}">
                <a16:creationId xmlns:a16="http://schemas.microsoft.com/office/drawing/2014/main" id="{AA80A339-F855-0882-2C57-96AA5EE4B822}"/>
              </a:ext>
            </a:extLst>
          </p:cNvPr>
          <p:cNvSpPr txBox="1"/>
          <p:nvPr/>
        </p:nvSpPr>
        <p:spPr>
          <a:xfrm>
            <a:off x="594360" y="3003069"/>
            <a:ext cx="7137529" cy="3693319"/>
          </a:xfrm>
          <a:prstGeom prst="rect">
            <a:avLst/>
          </a:prstGeom>
          <a:noFill/>
        </p:spPr>
        <p:txBody>
          <a:bodyPr wrap="square" rtlCol="0">
            <a:spAutoFit/>
          </a:bodyPr>
          <a:lstStyle/>
          <a:p>
            <a:pPr algn="just"/>
            <a:r>
              <a:rPr lang="it-IT" b="1" dirty="0">
                <a:solidFill>
                  <a:schemeClr val="tx2"/>
                </a:solidFill>
              </a:rPr>
              <a:t>Highlights:</a:t>
            </a:r>
          </a:p>
          <a:p>
            <a:pPr marL="285750" indent="-285750" algn="just">
              <a:buFont typeface="Arial" panose="020B0604020202020204" pitchFamily="34" charset="0"/>
              <a:buChar char="•"/>
            </a:pPr>
            <a:r>
              <a:rPr lang="en-US" dirty="0">
                <a:solidFill>
                  <a:schemeClr val="bg1"/>
                </a:solidFill>
              </a:rPr>
              <a:t>Motorcycle’s tires have a more rounded shape:</a:t>
            </a:r>
          </a:p>
          <a:p>
            <a:pPr algn="just"/>
            <a:r>
              <a:rPr lang="en-US" dirty="0">
                <a:solidFill>
                  <a:schemeClr val="bg1"/>
                </a:solidFill>
              </a:rPr>
              <a:t>       - More rounded tires will have an early flow separation</a:t>
            </a:r>
          </a:p>
          <a:p>
            <a:pPr algn="just"/>
            <a:r>
              <a:rPr lang="en-US" dirty="0">
                <a:solidFill>
                  <a:schemeClr val="bg1"/>
                </a:solidFill>
              </a:rPr>
              <a:t>       - Less rounded/wider tires will keep the flow attached until the edge</a:t>
            </a:r>
          </a:p>
          <a:p>
            <a:pPr algn="just"/>
            <a:r>
              <a:rPr lang="en-US" dirty="0">
                <a:solidFill>
                  <a:schemeClr val="bg1"/>
                </a:solidFill>
              </a:rPr>
              <a:t>       - Trade-off between flow separation and useful flow direction</a:t>
            </a:r>
          </a:p>
          <a:p>
            <a:pPr algn="just"/>
            <a:endParaRPr lang="en-US" dirty="0">
              <a:solidFill>
                <a:schemeClr val="bg1"/>
              </a:solidFill>
            </a:endParaRPr>
          </a:p>
          <a:p>
            <a:pPr marL="285750" indent="-285750" algn="just">
              <a:buFont typeface="Arial" panose="020B0604020202020204" pitchFamily="34" charset="0"/>
              <a:buChar char="•"/>
            </a:pPr>
            <a:r>
              <a:rPr lang="en-US" dirty="0">
                <a:solidFill>
                  <a:schemeClr val="bg1"/>
                </a:solidFill>
              </a:rPr>
              <a:t>Drag Resistance: Slick tires will generate less drag than road tires.</a:t>
            </a:r>
          </a:p>
          <a:p>
            <a:pPr marL="285750" indent="-285750" algn="just">
              <a:buFont typeface="Arial" panose="020B0604020202020204" pitchFamily="34" charset="0"/>
              <a:buChar char="•"/>
            </a:pPr>
            <a:endParaRPr lang="en-US" dirty="0">
              <a:solidFill>
                <a:schemeClr val="bg1"/>
              </a:solidFill>
            </a:endParaRPr>
          </a:p>
          <a:p>
            <a:pPr marL="285750" indent="-285750" algn="just">
              <a:buFont typeface="Arial" panose="020B0604020202020204" pitchFamily="34" charset="0"/>
              <a:buChar char="•"/>
            </a:pPr>
            <a:r>
              <a:rPr lang="en-US" dirty="0">
                <a:solidFill>
                  <a:schemeClr val="bg1"/>
                </a:solidFill>
              </a:rPr>
              <a:t>Front Wheel: it’s a big disturbance for the lower part of the vehicle aerodynamics and on the flow pressure which hits the radiator.</a:t>
            </a:r>
          </a:p>
          <a:p>
            <a:pPr marL="285750" indent="-285750" algn="just">
              <a:buFont typeface="Arial" panose="020B0604020202020204" pitchFamily="34" charset="0"/>
              <a:buChar char="•"/>
            </a:pPr>
            <a:endParaRPr lang="en-US" dirty="0">
              <a:solidFill>
                <a:schemeClr val="bg1"/>
              </a:solidFill>
            </a:endParaRPr>
          </a:p>
          <a:p>
            <a:pPr marL="285750" indent="-285750" algn="just">
              <a:buFont typeface="Arial" panose="020B0604020202020204" pitchFamily="34" charset="0"/>
              <a:buChar char="•"/>
            </a:pPr>
            <a:endParaRPr lang="en-US" dirty="0">
              <a:solidFill>
                <a:schemeClr val="bg1"/>
              </a:solidFill>
            </a:endParaRPr>
          </a:p>
          <a:p>
            <a:pPr marL="342900" indent="-342900">
              <a:buFont typeface="Arial" panose="020B0604020202020204" pitchFamily="34" charset="0"/>
              <a:buChar char="•"/>
            </a:pPr>
            <a:endParaRPr lang="it-IT" dirty="0">
              <a:solidFill>
                <a:schemeClr val="bg1"/>
              </a:solidFill>
            </a:endParaRPr>
          </a:p>
        </p:txBody>
      </p:sp>
      <p:pic>
        <p:nvPicPr>
          <p:cNvPr id="8" name="Immagine 7" descr="Immagine che contiene schermata, design, arte&#10;&#10;Descrizione generata automaticamente">
            <a:extLst>
              <a:ext uri="{FF2B5EF4-FFF2-40B4-BE49-F238E27FC236}">
                <a16:creationId xmlns:a16="http://schemas.microsoft.com/office/drawing/2014/main" id="{63F8FC02-58C6-E7ED-5DD0-677BC0E236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57757" y="3003069"/>
            <a:ext cx="1982713" cy="1789749"/>
          </a:xfrm>
          <a:prstGeom prst="rect">
            <a:avLst/>
          </a:prstGeom>
        </p:spPr>
      </p:pic>
      <p:pic>
        <p:nvPicPr>
          <p:cNvPr id="10" name="Immagine 9" descr="Immagine che contiene Policromia&#10;&#10;Descrizione generata automaticamente">
            <a:extLst>
              <a:ext uri="{FF2B5EF4-FFF2-40B4-BE49-F238E27FC236}">
                <a16:creationId xmlns:a16="http://schemas.microsoft.com/office/drawing/2014/main" id="{CF9A556C-3646-F394-E904-ED67C8BCB93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80335" y="4928054"/>
            <a:ext cx="2537558" cy="1853580"/>
          </a:xfrm>
          <a:prstGeom prst="rect">
            <a:avLst/>
          </a:prstGeom>
        </p:spPr>
      </p:pic>
    </p:spTree>
    <p:extLst>
      <p:ext uri="{BB962C8B-B14F-4D97-AF65-F5344CB8AC3E}">
        <p14:creationId xmlns:p14="http://schemas.microsoft.com/office/powerpoint/2010/main" val="3565408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C185A2E-1259-A512-3ACE-91AADF92316B}"/>
              </a:ext>
            </a:extLst>
          </p:cNvPr>
          <p:cNvSpPr>
            <a:spLocks noGrp="1"/>
          </p:cNvSpPr>
          <p:nvPr>
            <p:ph type="title"/>
          </p:nvPr>
        </p:nvSpPr>
        <p:spPr>
          <a:xfrm>
            <a:off x="594360" y="278129"/>
            <a:ext cx="8235315" cy="1494596"/>
          </a:xfrm>
        </p:spPr>
        <p:txBody>
          <a:bodyPr/>
          <a:lstStyle/>
          <a:p>
            <a:r>
              <a:rPr lang="it-IT" dirty="0" err="1"/>
              <a:t>Conclusions</a:t>
            </a:r>
            <a:r>
              <a:rPr lang="it-IT" dirty="0"/>
              <a:t>: </a:t>
            </a:r>
            <a:r>
              <a:rPr lang="it-IT" dirty="0" err="1"/>
              <a:t>Reflections</a:t>
            </a:r>
            <a:r>
              <a:rPr lang="it-IT" dirty="0"/>
              <a:t> on Car </a:t>
            </a:r>
            <a:r>
              <a:rPr lang="it-IT" dirty="0" err="1"/>
              <a:t>Aerodynamics</a:t>
            </a:r>
            <a:endParaRPr lang="en-GB" dirty="0"/>
          </a:p>
        </p:txBody>
      </p:sp>
      <p:sp>
        <p:nvSpPr>
          <p:cNvPr id="3" name="Segnaposto contenuto 2">
            <a:extLst>
              <a:ext uri="{FF2B5EF4-FFF2-40B4-BE49-F238E27FC236}">
                <a16:creationId xmlns:a16="http://schemas.microsoft.com/office/drawing/2014/main" id="{EBDFF8CD-CFEE-7DEA-89BD-69CBCC7C0F7C}"/>
              </a:ext>
            </a:extLst>
          </p:cNvPr>
          <p:cNvSpPr>
            <a:spLocks noGrp="1"/>
          </p:cNvSpPr>
          <p:nvPr>
            <p:ph sz="quarter" idx="15"/>
          </p:nvPr>
        </p:nvSpPr>
        <p:spPr>
          <a:xfrm>
            <a:off x="594360" y="2662238"/>
            <a:ext cx="9489207" cy="3597470"/>
          </a:xfrm>
        </p:spPr>
        <p:txBody>
          <a:bodyPr/>
          <a:lstStyle/>
          <a:p>
            <a:pPr marL="283464" marR="0" lvl="0" indent="-283464" algn="l" defTabSz="914400" rtl="0" eaLnBrk="1" fontAlgn="auto" latinLnBrk="0" hangingPunct="1">
              <a:lnSpc>
                <a:spcPct val="80000"/>
              </a:lnSpc>
              <a:spcBef>
                <a:spcPts val="2200"/>
              </a:spcBef>
              <a:spcAft>
                <a:spcPts val="0"/>
              </a:spcAft>
              <a:buClrTx/>
              <a:buSzTx/>
              <a:buFont typeface="Arial" panose="020B0604020202020204" pitchFamily="34" charset="0"/>
              <a:buChar char="•"/>
              <a:tabLst/>
              <a:defRPr/>
            </a:pPr>
            <a:r>
              <a:rPr kumimoji="0" lang="it-IT" sz="2000" b="1" i="0" u="none" strike="noStrike" kern="1200" cap="none" spc="0" normalizeH="0" baseline="0" noProof="0" dirty="0" err="1">
                <a:ln>
                  <a:noFill/>
                </a:ln>
                <a:solidFill>
                  <a:srgbClr val="7CA655">
                    <a:lumMod val="75000"/>
                  </a:srgbClr>
                </a:solidFill>
                <a:effectLst/>
                <a:uLnTx/>
                <a:uFillTx/>
                <a:latin typeface="Franklin Gothic Book"/>
                <a:ea typeface="+mn-ea"/>
                <a:cs typeface="+mn-cs"/>
              </a:rPr>
              <a:t>Rotatings</a:t>
            </a:r>
            <a:r>
              <a:rPr kumimoji="0" lang="it-IT" sz="2000" b="1" i="0" u="none" strike="noStrike" kern="1200" cap="none" spc="0" normalizeH="0" baseline="0" noProof="0" dirty="0">
                <a:ln>
                  <a:noFill/>
                </a:ln>
                <a:solidFill>
                  <a:srgbClr val="7CA655">
                    <a:lumMod val="75000"/>
                  </a:srgbClr>
                </a:solidFill>
                <a:effectLst/>
                <a:uLnTx/>
                <a:uFillTx/>
                <a:latin typeface="Franklin Gothic Book"/>
                <a:ea typeface="+mn-ea"/>
                <a:cs typeface="+mn-cs"/>
              </a:rPr>
              <a:t> vs </a:t>
            </a:r>
            <a:r>
              <a:rPr kumimoji="0" lang="it-IT" sz="2000" b="1" i="0" u="none" strike="noStrike" kern="1200" cap="none" spc="0" normalizeH="0" baseline="0" noProof="0" dirty="0" err="1">
                <a:ln>
                  <a:noFill/>
                </a:ln>
                <a:solidFill>
                  <a:srgbClr val="7CA655">
                    <a:lumMod val="75000"/>
                  </a:srgbClr>
                </a:solidFill>
                <a:effectLst/>
                <a:uLnTx/>
                <a:uFillTx/>
                <a:latin typeface="Franklin Gothic Book"/>
                <a:ea typeface="+mn-ea"/>
                <a:cs typeface="+mn-cs"/>
              </a:rPr>
              <a:t>Stationary</a:t>
            </a:r>
            <a:r>
              <a:rPr kumimoji="0" lang="it-IT" sz="2000" b="1" i="0" u="none" strike="noStrike" kern="1200" cap="none" spc="0" normalizeH="0" baseline="0" noProof="0" dirty="0">
                <a:ln>
                  <a:noFill/>
                </a:ln>
                <a:solidFill>
                  <a:srgbClr val="7CA655">
                    <a:lumMod val="75000"/>
                  </a:srgbClr>
                </a:solidFill>
                <a:effectLst/>
                <a:uLnTx/>
                <a:uFillTx/>
                <a:latin typeface="Franklin Gothic Book"/>
                <a:ea typeface="+mn-ea"/>
                <a:cs typeface="+mn-cs"/>
              </a:rPr>
              <a:t> </a:t>
            </a:r>
            <a:r>
              <a:rPr kumimoji="0" lang="it-IT" sz="2000" b="1" i="0" u="none" strike="noStrike" kern="1200" cap="none" spc="0" normalizeH="0" baseline="0" noProof="0" dirty="0" err="1">
                <a:ln>
                  <a:noFill/>
                </a:ln>
                <a:solidFill>
                  <a:srgbClr val="7CA655">
                    <a:lumMod val="75000"/>
                  </a:srgbClr>
                </a:solidFill>
                <a:effectLst/>
                <a:uLnTx/>
                <a:uFillTx/>
                <a:latin typeface="Franklin Gothic Book"/>
                <a:ea typeface="+mn-ea"/>
                <a:cs typeface="+mn-cs"/>
              </a:rPr>
              <a:t>Wheels</a:t>
            </a:r>
            <a:r>
              <a:rPr kumimoji="0" lang="it-IT" sz="2000" b="1" i="0" u="none" strike="noStrike" kern="1200" cap="none" spc="0" normalizeH="0" baseline="0" noProof="0" dirty="0">
                <a:ln>
                  <a:noFill/>
                </a:ln>
                <a:solidFill>
                  <a:srgbClr val="7CA655">
                    <a:lumMod val="75000"/>
                  </a:srgbClr>
                </a:solidFill>
                <a:effectLst/>
                <a:uLnTx/>
                <a:uFillTx/>
                <a:latin typeface="Franklin Gothic Book"/>
                <a:ea typeface="+mn-ea"/>
                <a:cs typeface="+mn-cs"/>
              </a:rPr>
              <a:t>:</a:t>
            </a:r>
          </a:p>
          <a:p>
            <a:pPr marL="283464" marR="0" lvl="0" indent="-283464" algn="l" defTabSz="914400" rtl="0" eaLnBrk="1" fontAlgn="auto" latinLnBrk="0" hangingPunct="1">
              <a:lnSpc>
                <a:spcPct val="80000"/>
              </a:lnSpc>
              <a:spcBef>
                <a:spcPts val="2200"/>
              </a:spcBef>
              <a:spcAft>
                <a:spcPts val="0"/>
              </a:spcAft>
              <a:buClrTx/>
              <a:buSzTx/>
              <a:buFont typeface="Arial" panose="020B0604020202020204" pitchFamily="34" charset="0"/>
              <a:buChar char="•"/>
              <a:tabLst/>
              <a:defRPr/>
            </a:pPr>
            <a:r>
              <a:rPr lang="it-IT" sz="1800" dirty="0">
                <a:solidFill>
                  <a:srgbClr val="000000"/>
                </a:solidFill>
                <a:latin typeface="Franklin Gothic Book"/>
              </a:rPr>
              <a:t>Generation of multiple </a:t>
            </a:r>
            <a:r>
              <a:rPr lang="it-IT" sz="1800" dirty="0" err="1">
                <a:solidFill>
                  <a:srgbClr val="000000"/>
                </a:solidFill>
                <a:latin typeface="Franklin Gothic Book"/>
              </a:rPr>
              <a:t>vortices</a:t>
            </a:r>
            <a:r>
              <a:rPr lang="it-IT" sz="1800" dirty="0">
                <a:solidFill>
                  <a:srgbClr val="000000"/>
                </a:solidFill>
                <a:latin typeface="Franklin Gothic Book"/>
              </a:rPr>
              <a:t> and </a:t>
            </a:r>
            <a:r>
              <a:rPr lang="it-IT" sz="1800" dirty="0" err="1">
                <a:solidFill>
                  <a:srgbClr val="000000"/>
                </a:solidFill>
                <a:latin typeface="Franklin Gothic Book"/>
              </a:rPr>
              <a:t>different</a:t>
            </a:r>
            <a:r>
              <a:rPr lang="it-IT" sz="1800" dirty="0">
                <a:solidFill>
                  <a:srgbClr val="000000"/>
                </a:solidFill>
                <a:latin typeface="Franklin Gothic Book"/>
              </a:rPr>
              <a:t> pressure </a:t>
            </a:r>
            <a:r>
              <a:rPr lang="it-IT" sz="1800" dirty="0" err="1">
                <a:solidFill>
                  <a:srgbClr val="000000"/>
                </a:solidFill>
                <a:latin typeface="Franklin Gothic Book"/>
              </a:rPr>
              <a:t>distributions</a:t>
            </a:r>
            <a:r>
              <a:rPr lang="it-IT" sz="1800" dirty="0">
                <a:solidFill>
                  <a:srgbClr val="000000"/>
                </a:solidFill>
                <a:latin typeface="Franklin Gothic Book"/>
              </a:rPr>
              <a:t>.</a:t>
            </a:r>
          </a:p>
          <a:p>
            <a:pPr marL="283464" marR="0" lvl="0" indent="-283464" algn="l" defTabSz="914400" rtl="0" eaLnBrk="1" fontAlgn="auto" latinLnBrk="0" hangingPunct="1">
              <a:lnSpc>
                <a:spcPct val="80000"/>
              </a:lnSpc>
              <a:spcBef>
                <a:spcPts val="2200"/>
              </a:spcBef>
              <a:spcAft>
                <a:spcPts val="0"/>
              </a:spcAft>
              <a:buClrTx/>
              <a:buSzTx/>
              <a:buFont typeface="Arial" panose="020B0604020202020204" pitchFamily="34" charset="0"/>
              <a:buChar char="•"/>
              <a:tabLst/>
              <a:defRPr/>
            </a:pPr>
            <a:r>
              <a:rPr kumimoji="0" lang="it-IT" sz="1800" b="0" i="0" u="none" strike="noStrike" kern="1200" cap="none" spc="0" normalizeH="0" baseline="0" noProof="0" dirty="0" err="1">
                <a:ln>
                  <a:noFill/>
                </a:ln>
                <a:solidFill>
                  <a:srgbClr val="000000"/>
                </a:solidFill>
                <a:effectLst/>
                <a:uLnTx/>
                <a:uFillTx/>
                <a:latin typeface="Franklin Gothic Book"/>
                <a:ea typeface="+mn-ea"/>
                <a:cs typeface="+mn-cs"/>
              </a:rPr>
              <a:t>Reduction</a:t>
            </a:r>
            <a:r>
              <a:rPr kumimoji="0" lang="it-IT" sz="1800" b="0" i="0" u="none" strike="noStrike" kern="1200" cap="none" spc="0" normalizeH="0" baseline="0" noProof="0" dirty="0">
                <a:ln>
                  <a:noFill/>
                </a:ln>
                <a:solidFill>
                  <a:srgbClr val="000000"/>
                </a:solidFill>
                <a:effectLst/>
                <a:uLnTx/>
                <a:uFillTx/>
                <a:latin typeface="Franklin Gothic Book"/>
                <a:ea typeface="+mn-ea"/>
                <a:cs typeface="+mn-cs"/>
              </a:rPr>
              <a:t> in </a:t>
            </a:r>
            <a:r>
              <a:rPr kumimoji="0" lang="it-IT" sz="1800" b="0" i="0" u="none" strike="noStrike" kern="1200" cap="none" spc="0" normalizeH="0" baseline="0" noProof="0" dirty="0" err="1">
                <a:ln>
                  <a:noFill/>
                </a:ln>
                <a:solidFill>
                  <a:srgbClr val="000000"/>
                </a:solidFill>
                <a:effectLst/>
                <a:uLnTx/>
                <a:uFillTx/>
                <a:latin typeface="Franklin Gothic Book"/>
                <a:ea typeface="+mn-ea"/>
                <a:cs typeface="+mn-cs"/>
              </a:rPr>
              <a:t>aerodynamic</a:t>
            </a:r>
            <a:r>
              <a:rPr lang="it-IT" sz="1800" dirty="0">
                <a:solidFill>
                  <a:srgbClr val="000000"/>
                </a:solidFill>
                <a:latin typeface="Franklin Gothic Book"/>
              </a:rPr>
              <a:t> drag thanks to </a:t>
            </a:r>
            <a:r>
              <a:rPr lang="it-IT" sz="1800" dirty="0" err="1">
                <a:solidFill>
                  <a:srgbClr val="000000"/>
                </a:solidFill>
                <a:latin typeface="Franklin Gothic Book"/>
              </a:rPr>
              <a:t>optimezed</a:t>
            </a:r>
            <a:r>
              <a:rPr lang="it-IT" sz="1800" dirty="0">
                <a:solidFill>
                  <a:srgbClr val="000000"/>
                </a:solidFill>
                <a:latin typeface="Franklin Gothic Book"/>
              </a:rPr>
              <a:t> </a:t>
            </a:r>
            <a:r>
              <a:rPr lang="it-IT" sz="1800" dirty="0" err="1">
                <a:solidFill>
                  <a:srgbClr val="000000"/>
                </a:solidFill>
                <a:latin typeface="Franklin Gothic Book"/>
              </a:rPr>
              <a:t>geometries</a:t>
            </a:r>
            <a:r>
              <a:rPr lang="it-IT" sz="1800" dirty="0">
                <a:solidFill>
                  <a:srgbClr val="000000"/>
                </a:solidFill>
                <a:latin typeface="Franklin Gothic Book"/>
              </a:rPr>
              <a:t> </a:t>
            </a:r>
          </a:p>
          <a:p>
            <a:pPr marL="283464" indent="-283464">
              <a:lnSpc>
                <a:spcPct val="80000"/>
              </a:lnSpc>
              <a:spcBef>
                <a:spcPts val="2200"/>
              </a:spcBef>
              <a:buFont typeface="Arial" panose="020B0604020202020204" pitchFamily="34" charset="0"/>
              <a:buChar char="•"/>
              <a:defRPr/>
            </a:pPr>
            <a:r>
              <a:rPr lang="it-IT" b="1" dirty="0">
                <a:solidFill>
                  <a:srgbClr val="7CA655">
                    <a:lumMod val="75000"/>
                  </a:srgbClr>
                </a:solidFill>
                <a:latin typeface="Franklin Gothic Book"/>
              </a:rPr>
              <a:t>Tyre </a:t>
            </a:r>
            <a:r>
              <a:rPr lang="it-IT" b="1" dirty="0" err="1">
                <a:solidFill>
                  <a:srgbClr val="7CA655">
                    <a:lumMod val="75000"/>
                  </a:srgbClr>
                </a:solidFill>
                <a:latin typeface="Franklin Gothic Book"/>
              </a:rPr>
              <a:t>Geometry</a:t>
            </a:r>
            <a:r>
              <a:rPr kumimoji="0" lang="it-IT" sz="1800" b="1" i="0" u="none" strike="noStrike" kern="1200" cap="none" spc="0" normalizeH="0" baseline="0" noProof="0" dirty="0">
                <a:ln>
                  <a:noFill/>
                </a:ln>
                <a:solidFill>
                  <a:srgbClr val="7CA655">
                    <a:lumMod val="75000"/>
                  </a:srgbClr>
                </a:solidFill>
                <a:effectLst/>
                <a:uLnTx/>
                <a:uFillTx/>
                <a:latin typeface="Franklin Gothic Book"/>
                <a:ea typeface="+mn-ea"/>
                <a:cs typeface="+mn-cs"/>
              </a:rPr>
              <a:t>:</a:t>
            </a:r>
          </a:p>
          <a:p>
            <a:pPr marL="283464" indent="-283464">
              <a:lnSpc>
                <a:spcPct val="80000"/>
              </a:lnSpc>
              <a:spcBef>
                <a:spcPts val="2200"/>
              </a:spcBef>
              <a:buFont typeface="Arial" panose="020B0604020202020204" pitchFamily="34" charset="0"/>
              <a:buChar char="•"/>
              <a:defRPr/>
            </a:pPr>
            <a:r>
              <a:rPr kumimoji="0" lang="it-IT" sz="1800" i="0" u="none" strike="noStrike" kern="1200" cap="none" spc="0" normalizeH="0" baseline="0" noProof="0" dirty="0">
                <a:ln>
                  <a:noFill/>
                </a:ln>
                <a:solidFill>
                  <a:srgbClr val="000000"/>
                </a:solidFill>
                <a:effectLst/>
                <a:uLnTx/>
                <a:uFillTx/>
                <a:latin typeface="Franklin Gothic Book"/>
                <a:ea typeface="+mn-ea"/>
                <a:cs typeface="+mn-cs"/>
              </a:rPr>
              <a:t>D</a:t>
            </a:r>
            <a:r>
              <a:rPr lang="it-IT" sz="1800" dirty="0" err="1">
                <a:solidFill>
                  <a:srgbClr val="000000"/>
                </a:solidFill>
                <a:latin typeface="Franklin Gothic Book"/>
              </a:rPr>
              <a:t>eformations</a:t>
            </a:r>
            <a:r>
              <a:rPr lang="it-IT" sz="1800" dirty="0">
                <a:solidFill>
                  <a:srgbClr val="000000"/>
                </a:solidFill>
                <a:latin typeface="Franklin Gothic Book"/>
              </a:rPr>
              <a:t> and </a:t>
            </a:r>
            <a:r>
              <a:rPr lang="it-IT" sz="1800" dirty="0" err="1">
                <a:solidFill>
                  <a:srgbClr val="000000"/>
                </a:solidFill>
                <a:latin typeface="Franklin Gothic Book"/>
              </a:rPr>
              <a:t>grooves</a:t>
            </a:r>
            <a:r>
              <a:rPr lang="it-IT" sz="1800" dirty="0">
                <a:solidFill>
                  <a:srgbClr val="000000"/>
                </a:solidFill>
                <a:latin typeface="Franklin Gothic Book"/>
              </a:rPr>
              <a:t> </a:t>
            </a:r>
            <a:r>
              <a:rPr lang="it-IT" sz="1800" dirty="0" err="1">
                <a:solidFill>
                  <a:srgbClr val="000000"/>
                </a:solidFill>
                <a:latin typeface="Franklin Gothic Book"/>
              </a:rPr>
              <a:t>significantly</a:t>
            </a:r>
            <a:r>
              <a:rPr lang="it-IT" sz="1800" dirty="0">
                <a:solidFill>
                  <a:srgbClr val="000000"/>
                </a:solidFill>
                <a:latin typeface="Franklin Gothic Book"/>
              </a:rPr>
              <a:t> </a:t>
            </a:r>
            <a:r>
              <a:rPr lang="it-IT" sz="1800" dirty="0" err="1">
                <a:solidFill>
                  <a:srgbClr val="000000"/>
                </a:solidFill>
                <a:latin typeface="Franklin Gothic Book"/>
              </a:rPr>
              <a:t>influence</a:t>
            </a:r>
            <a:r>
              <a:rPr lang="it-IT" sz="1800" dirty="0">
                <a:solidFill>
                  <a:srgbClr val="000000"/>
                </a:solidFill>
                <a:latin typeface="Franklin Gothic Book"/>
              </a:rPr>
              <a:t> </a:t>
            </a:r>
            <a:r>
              <a:rPr lang="it-IT" sz="1800" dirty="0" err="1">
                <a:solidFill>
                  <a:srgbClr val="000000"/>
                </a:solidFill>
                <a:latin typeface="Franklin Gothic Book"/>
              </a:rPr>
              <a:t>airflow</a:t>
            </a:r>
            <a:r>
              <a:rPr lang="it-IT" sz="1800" dirty="0">
                <a:solidFill>
                  <a:srgbClr val="000000"/>
                </a:solidFill>
                <a:latin typeface="Franklin Gothic Book"/>
              </a:rPr>
              <a:t>.</a:t>
            </a:r>
          </a:p>
          <a:p>
            <a:pPr marL="283464" indent="-283464">
              <a:lnSpc>
                <a:spcPct val="80000"/>
              </a:lnSpc>
              <a:spcBef>
                <a:spcPts val="2200"/>
              </a:spcBef>
              <a:buFont typeface="Arial" panose="020B0604020202020204" pitchFamily="34" charset="0"/>
              <a:buChar char="•"/>
              <a:defRPr/>
            </a:pPr>
            <a:r>
              <a:rPr kumimoji="0" lang="it-IT" sz="1800" i="0" u="none" strike="noStrike" kern="1200" cap="none" spc="0" normalizeH="0" baseline="0" noProof="0" dirty="0" err="1">
                <a:ln>
                  <a:noFill/>
                </a:ln>
                <a:solidFill>
                  <a:srgbClr val="000000"/>
                </a:solidFill>
                <a:effectLst/>
                <a:uLnTx/>
                <a:uFillTx/>
                <a:latin typeface="Franklin Gothic Book"/>
                <a:ea typeface="+mn-ea"/>
                <a:cs typeface="+mn-cs"/>
              </a:rPr>
              <a:t>Targeted</a:t>
            </a:r>
            <a:r>
              <a:rPr kumimoji="0" lang="it-IT" sz="1800" i="0" u="none" strike="noStrike" kern="1200" cap="none" spc="0" normalizeH="0" baseline="0" noProof="0" dirty="0">
                <a:ln>
                  <a:noFill/>
                </a:ln>
                <a:solidFill>
                  <a:srgbClr val="000000"/>
                </a:solidFill>
                <a:effectLst/>
                <a:uLnTx/>
                <a:uFillTx/>
                <a:latin typeface="Franklin Gothic Book"/>
                <a:ea typeface="+mn-ea"/>
                <a:cs typeface="+mn-cs"/>
              </a:rPr>
              <a:t> </a:t>
            </a:r>
            <a:r>
              <a:rPr kumimoji="0" lang="it-IT" sz="1800" i="0" u="none" strike="noStrike" kern="1200" cap="none" spc="0" normalizeH="0" baseline="0" noProof="0" dirty="0" err="1">
                <a:ln>
                  <a:noFill/>
                </a:ln>
                <a:solidFill>
                  <a:srgbClr val="000000"/>
                </a:solidFill>
                <a:effectLst/>
                <a:uLnTx/>
                <a:uFillTx/>
                <a:latin typeface="Franklin Gothic Book"/>
                <a:ea typeface="+mn-ea"/>
                <a:cs typeface="+mn-cs"/>
              </a:rPr>
              <a:t>improvements</a:t>
            </a:r>
            <a:r>
              <a:rPr kumimoji="0" lang="it-IT" sz="1800" i="0" u="none" strike="noStrike" kern="1200" cap="none" spc="0" normalizeH="0" baseline="0" noProof="0" dirty="0">
                <a:ln>
                  <a:noFill/>
                </a:ln>
                <a:solidFill>
                  <a:srgbClr val="000000"/>
                </a:solidFill>
                <a:effectLst/>
                <a:uLnTx/>
                <a:uFillTx/>
                <a:latin typeface="Franklin Gothic Book"/>
                <a:ea typeface="+mn-ea"/>
                <a:cs typeface="+mn-cs"/>
              </a:rPr>
              <a:t> reduce drag and </a:t>
            </a:r>
            <a:r>
              <a:rPr kumimoji="0" lang="it-IT" sz="1800" i="0" u="none" strike="noStrike" kern="1200" cap="none" spc="0" normalizeH="0" baseline="0" noProof="0" dirty="0" err="1">
                <a:ln>
                  <a:noFill/>
                </a:ln>
                <a:solidFill>
                  <a:srgbClr val="000000"/>
                </a:solidFill>
                <a:effectLst/>
                <a:uLnTx/>
                <a:uFillTx/>
                <a:latin typeface="Franklin Gothic Book"/>
                <a:ea typeface="+mn-ea"/>
                <a:cs typeface="+mn-cs"/>
              </a:rPr>
              <a:t>increase</a:t>
            </a:r>
            <a:r>
              <a:rPr kumimoji="0" lang="it-IT" sz="1800" i="0" u="none" strike="noStrike" kern="1200" cap="none" spc="0" normalizeH="0" baseline="0" noProof="0" dirty="0">
                <a:ln>
                  <a:noFill/>
                </a:ln>
                <a:solidFill>
                  <a:srgbClr val="000000"/>
                </a:solidFill>
                <a:effectLst/>
                <a:uLnTx/>
                <a:uFillTx/>
                <a:latin typeface="Franklin Gothic Book"/>
                <a:ea typeface="+mn-ea"/>
                <a:cs typeface="+mn-cs"/>
              </a:rPr>
              <a:t> </a:t>
            </a:r>
            <a:r>
              <a:rPr kumimoji="0" lang="it-IT" sz="1800" i="0" u="none" strike="noStrike" kern="1200" cap="none" spc="0" normalizeH="0" baseline="0" noProof="0" dirty="0" err="1">
                <a:ln>
                  <a:noFill/>
                </a:ln>
                <a:solidFill>
                  <a:srgbClr val="000000"/>
                </a:solidFill>
                <a:effectLst/>
                <a:uLnTx/>
                <a:uFillTx/>
                <a:latin typeface="Franklin Gothic Book"/>
                <a:ea typeface="+mn-ea"/>
                <a:cs typeface="+mn-cs"/>
              </a:rPr>
              <a:t>effiency</a:t>
            </a:r>
            <a:r>
              <a:rPr kumimoji="0" lang="it-IT" sz="1800" i="0" u="none" strike="noStrike" kern="1200" cap="none" spc="0" normalizeH="0" baseline="0" noProof="0" dirty="0">
                <a:ln>
                  <a:noFill/>
                </a:ln>
                <a:solidFill>
                  <a:srgbClr val="000000"/>
                </a:solidFill>
                <a:effectLst/>
                <a:uLnTx/>
                <a:uFillTx/>
                <a:latin typeface="Franklin Gothic Book"/>
                <a:ea typeface="+mn-ea"/>
                <a:cs typeface="+mn-cs"/>
              </a:rPr>
              <a:t>. </a:t>
            </a:r>
            <a:endParaRPr kumimoji="0" lang="it-IT" sz="1800" i="0" u="none" strike="noStrike" kern="1200" cap="none" spc="0" normalizeH="0" baseline="0" noProof="0" dirty="0">
              <a:ln>
                <a:noFill/>
              </a:ln>
              <a:solidFill>
                <a:srgbClr val="7CA655">
                  <a:lumMod val="75000"/>
                </a:srgbClr>
              </a:solidFill>
              <a:effectLst/>
              <a:uLnTx/>
              <a:uFillTx/>
              <a:latin typeface="Franklin Gothic Book"/>
              <a:ea typeface="+mn-ea"/>
              <a:cs typeface="+mn-cs"/>
            </a:endParaRPr>
          </a:p>
          <a:p>
            <a:pPr marR="0" lvl="0" algn="l" defTabSz="914400" rtl="0" eaLnBrk="1" fontAlgn="auto" latinLnBrk="0" hangingPunct="1">
              <a:lnSpc>
                <a:spcPct val="80000"/>
              </a:lnSpc>
              <a:spcBef>
                <a:spcPts val="2200"/>
              </a:spcBef>
              <a:spcAft>
                <a:spcPts val="0"/>
              </a:spcAft>
              <a:buClrTx/>
              <a:buSzTx/>
              <a:tabLst/>
              <a:defRPr/>
            </a:pPr>
            <a:endParaRPr kumimoji="0" lang="it-IT" sz="1800" i="0" u="none" strike="noStrike" kern="1200" cap="none" spc="0" normalizeH="0" baseline="0" noProof="0" dirty="0">
              <a:ln>
                <a:noFill/>
              </a:ln>
              <a:solidFill>
                <a:srgbClr val="000000"/>
              </a:solidFill>
              <a:effectLst/>
              <a:uLnTx/>
              <a:uFillTx/>
              <a:latin typeface="Franklin Gothic Book"/>
              <a:ea typeface="+mn-ea"/>
              <a:cs typeface="+mn-cs"/>
            </a:endParaRPr>
          </a:p>
          <a:p>
            <a:endParaRPr lang="en-GB" dirty="0"/>
          </a:p>
        </p:txBody>
      </p:sp>
    </p:spTree>
    <p:extLst>
      <p:ext uri="{BB962C8B-B14F-4D97-AF65-F5344CB8AC3E}">
        <p14:creationId xmlns:p14="http://schemas.microsoft.com/office/powerpoint/2010/main" val="38427573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49D90D-F99D-AACA-4142-49828001478D}"/>
              </a:ext>
            </a:extLst>
          </p:cNvPr>
          <p:cNvSpPr>
            <a:spLocks noGrp="1"/>
          </p:cNvSpPr>
          <p:nvPr>
            <p:ph type="title"/>
          </p:nvPr>
        </p:nvSpPr>
        <p:spPr>
          <a:xfrm>
            <a:off x="594360" y="278129"/>
            <a:ext cx="8263890" cy="1494596"/>
          </a:xfrm>
        </p:spPr>
        <p:txBody>
          <a:bodyPr/>
          <a:lstStyle/>
          <a:p>
            <a:r>
              <a:rPr lang="it-IT" dirty="0"/>
              <a:t>Impacts on </a:t>
            </a:r>
            <a:r>
              <a:rPr lang="it-IT" dirty="0" err="1"/>
              <a:t>Motorcycles</a:t>
            </a:r>
            <a:r>
              <a:rPr lang="it-IT" dirty="0"/>
              <a:t> and General </a:t>
            </a:r>
            <a:r>
              <a:rPr lang="it-IT" dirty="0" err="1"/>
              <a:t>Conclusions</a:t>
            </a:r>
            <a:endParaRPr lang="en-GB" dirty="0"/>
          </a:p>
        </p:txBody>
      </p:sp>
      <p:sp>
        <p:nvSpPr>
          <p:cNvPr id="3" name="Segnaposto contenuto 2">
            <a:extLst>
              <a:ext uri="{FF2B5EF4-FFF2-40B4-BE49-F238E27FC236}">
                <a16:creationId xmlns:a16="http://schemas.microsoft.com/office/drawing/2014/main" id="{CE9603BE-28EA-1810-D234-DA892FF63FE3}"/>
              </a:ext>
            </a:extLst>
          </p:cNvPr>
          <p:cNvSpPr>
            <a:spLocks noGrp="1"/>
          </p:cNvSpPr>
          <p:nvPr>
            <p:ph sz="quarter" idx="15"/>
          </p:nvPr>
        </p:nvSpPr>
        <p:spPr>
          <a:xfrm>
            <a:off x="594360" y="2676525"/>
            <a:ext cx="10578465" cy="3597470"/>
          </a:xfrm>
        </p:spPr>
        <p:txBody>
          <a:bodyPr/>
          <a:lstStyle/>
          <a:p>
            <a:pPr marL="283464" marR="0" lvl="0" indent="-283464" algn="l" defTabSz="914400" rtl="0" eaLnBrk="1" fontAlgn="auto" latinLnBrk="0" hangingPunct="1">
              <a:lnSpc>
                <a:spcPct val="80000"/>
              </a:lnSpc>
              <a:spcBef>
                <a:spcPts val="2200"/>
              </a:spcBef>
              <a:spcAft>
                <a:spcPts val="0"/>
              </a:spcAft>
              <a:buClrTx/>
              <a:buSzTx/>
              <a:buFont typeface="Arial" panose="020B0604020202020204" pitchFamily="34" charset="0"/>
              <a:buChar char="•"/>
              <a:tabLst/>
              <a:defRPr/>
            </a:pPr>
            <a:r>
              <a:rPr lang="it-IT" b="1" dirty="0" err="1">
                <a:solidFill>
                  <a:srgbClr val="7CA655">
                    <a:lumMod val="75000"/>
                  </a:srgbClr>
                </a:solidFill>
                <a:latin typeface="Franklin Gothic Book"/>
              </a:rPr>
              <a:t>Motorcycle</a:t>
            </a:r>
            <a:r>
              <a:rPr lang="it-IT" b="1" dirty="0">
                <a:solidFill>
                  <a:srgbClr val="7CA655">
                    <a:lumMod val="75000"/>
                  </a:srgbClr>
                </a:solidFill>
                <a:latin typeface="Franklin Gothic Book"/>
              </a:rPr>
              <a:t> </a:t>
            </a:r>
            <a:r>
              <a:rPr lang="it-IT" b="1" dirty="0" err="1">
                <a:solidFill>
                  <a:srgbClr val="7CA655">
                    <a:lumMod val="75000"/>
                  </a:srgbClr>
                </a:solidFill>
                <a:latin typeface="Franklin Gothic Book"/>
              </a:rPr>
              <a:t>Aerodynamics</a:t>
            </a:r>
            <a:r>
              <a:rPr kumimoji="0" lang="it-IT" sz="2000" b="1" i="0" u="none" strike="noStrike" kern="1200" cap="none" spc="0" normalizeH="0" baseline="0" noProof="0" dirty="0">
                <a:ln>
                  <a:noFill/>
                </a:ln>
                <a:solidFill>
                  <a:srgbClr val="7CA655">
                    <a:lumMod val="75000"/>
                  </a:srgbClr>
                </a:solidFill>
                <a:effectLst/>
                <a:uLnTx/>
                <a:uFillTx/>
                <a:latin typeface="Franklin Gothic Book"/>
                <a:ea typeface="+mn-ea"/>
                <a:cs typeface="+mn-cs"/>
              </a:rPr>
              <a:t>:</a:t>
            </a:r>
          </a:p>
          <a:p>
            <a:pPr marL="283464" marR="0" lvl="0" indent="-283464" algn="l" defTabSz="914400" rtl="0" eaLnBrk="1" fontAlgn="auto" latinLnBrk="0" hangingPunct="1">
              <a:lnSpc>
                <a:spcPct val="80000"/>
              </a:lnSpc>
              <a:spcBef>
                <a:spcPts val="2200"/>
              </a:spcBef>
              <a:spcAft>
                <a:spcPts val="0"/>
              </a:spcAft>
              <a:buClrTx/>
              <a:buSzTx/>
              <a:buFont typeface="Arial" panose="020B0604020202020204" pitchFamily="34" charset="0"/>
              <a:buChar char="•"/>
              <a:tabLst/>
              <a:defRPr/>
            </a:pPr>
            <a:r>
              <a:rPr lang="it-IT" sz="1800" dirty="0" err="1">
                <a:solidFill>
                  <a:srgbClr val="000000"/>
                </a:solidFill>
                <a:latin typeface="Franklin Gothic Book"/>
              </a:rPr>
              <a:t>Higher</a:t>
            </a:r>
            <a:r>
              <a:rPr lang="it-IT" sz="1800" dirty="0">
                <a:solidFill>
                  <a:srgbClr val="000000"/>
                </a:solidFill>
                <a:latin typeface="Franklin Gothic Book"/>
              </a:rPr>
              <a:t> </a:t>
            </a:r>
            <a:r>
              <a:rPr lang="it-IT" sz="1800" dirty="0" err="1">
                <a:solidFill>
                  <a:srgbClr val="000000"/>
                </a:solidFill>
                <a:latin typeface="Franklin Gothic Book"/>
              </a:rPr>
              <a:t>sensitivity</a:t>
            </a:r>
            <a:r>
              <a:rPr lang="it-IT" sz="1800" dirty="0">
                <a:solidFill>
                  <a:srgbClr val="000000"/>
                </a:solidFill>
                <a:latin typeface="Franklin Gothic Book"/>
              </a:rPr>
              <a:t> to </a:t>
            </a:r>
            <a:r>
              <a:rPr lang="it-IT" sz="1800" dirty="0" err="1">
                <a:solidFill>
                  <a:srgbClr val="000000"/>
                </a:solidFill>
                <a:latin typeface="Franklin Gothic Book"/>
              </a:rPr>
              <a:t>vatiations</a:t>
            </a:r>
            <a:r>
              <a:rPr lang="it-IT" sz="1800" dirty="0">
                <a:solidFill>
                  <a:srgbClr val="000000"/>
                </a:solidFill>
                <a:latin typeface="Franklin Gothic Book"/>
              </a:rPr>
              <a:t> in </a:t>
            </a:r>
            <a:r>
              <a:rPr lang="it-IT" sz="1800" dirty="0" err="1">
                <a:solidFill>
                  <a:srgbClr val="000000"/>
                </a:solidFill>
                <a:latin typeface="Franklin Gothic Book"/>
              </a:rPr>
              <a:t>rims</a:t>
            </a:r>
            <a:r>
              <a:rPr lang="it-IT" sz="1800" dirty="0">
                <a:solidFill>
                  <a:srgbClr val="000000"/>
                </a:solidFill>
                <a:latin typeface="Franklin Gothic Book"/>
              </a:rPr>
              <a:t> and </a:t>
            </a:r>
            <a:r>
              <a:rPr lang="it-IT" sz="1800" dirty="0" err="1">
                <a:solidFill>
                  <a:srgbClr val="000000"/>
                </a:solidFill>
                <a:latin typeface="Franklin Gothic Book"/>
              </a:rPr>
              <a:t>tyres</a:t>
            </a:r>
            <a:r>
              <a:rPr lang="it-IT" sz="1800" dirty="0">
                <a:solidFill>
                  <a:srgbClr val="000000"/>
                </a:solidFill>
                <a:latin typeface="Franklin Gothic Book"/>
              </a:rPr>
              <a:t> </a:t>
            </a:r>
            <a:r>
              <a:rPr lang="it-IT" sz="1800" dirty="0" err="1">
                <a:solidFill>
                  <a:srgbClr val="000000"/>
                </a:solidFill>
                <a:latin typeface="Franklin Gothic Book"/>
              </a:rPr>
              <a:t>compared</a:t>
            </a:r>
            <a:r>
              <a:rPr lang="it-IT" sz="1800" dirty="0">
                <a:solidFill>
                  <a:srgbClr val="000000"/>
                </a:solidFill>
                <a:latin typeface="Franklin Gothic Book"/>
              </a:rPr>
              <a:t> to cars</a:t>
            </a:r>
            <a:r>
              <a:rPr kumimoji="0" lang="it-IT" sz="1800" b="0" i="0" u="none" strike="noStrike" kern="1200" cap="none" spc="0" normalizeH="0" baseline="0" noProof="0" dirty="0">
                <a:ln>
                  <a:noFill/>
                </a:ln>
                <a:solidFill>
                  <a:srgbClr val="000000"/>
                </a:solidFill>
                <a:effectLst/>
                <a:uLnTx/>
                <a:uFillTx/>
                <a:latin typeface="Franklin Gothic Book"/>
                <a:ea typeface="+mn-ea"/>
                <a:cs typeface="+mn-cs"/>
              </a:rPr>
              <a:t>.</a:t>
            </a:r>
          </a:p>
          <a:p>
            <a:pPr marL="283464" marR="0" lvl="0" indent="-283464" algn="l" defTabSz="914400" rtl="0" eaLnBrk="1" fontAlgn="auto" latinLnBrk="0" hangingPunct="1">
              <a:lnSpc>
                <a:spcPct val="80000"/>
              </a:lnSpc>
              <a:spcBef>
                <a:spcPts val="2200"/>
              </a:spcBef>
              <a:spcAft>
                <a:spcPts val="0"/>
              </a:spcAft>
              <a:buClrTx/>
              <a:buSzTx/>
              <a:buFont typeface="Arial" panose="020B0604020202020204" pitchFamily="34" charset="0"/>
              <a:buChar char="•"/>
              <a:tabLst/>
              <a:defRPr/>
            </a:pPr>
            <a:r>
              <a:rPr lang="it-IT" sz="1800" dirty="0">
                <a:solidFill>
                  <a:srgbClr val="000000"/>
                </a:solidFill>
                <a:latin typeface="Franklin Gothic Book"/>
              </a:rPr>
              <a:t>Tyre-</a:t>
            </a:r>
            <a:r>
              <a:rPr lang="it-IT" sz="1800" dirty="0" err="1">
                <a:solidFill>
                  <a:srgbClr val="000000"/>
                </a:solidFill>
                <a:latin typeface="Franklin Gothic Book"/>
              </a:rPr>
              <a:t>fairing</a:t>
            </a:r>
            <a:r>
              <a:rPr lang="it-IT" sz="1800" dirty="0">
                <a:solidFill>
                  <a:srgbClr val="000000"/>
                </a:solidFill>
                <a:latin typeface="Franklin Gothic Book"/>
              </a:rPr>
              <a:t> interactions are </a:t>
            </a:r>
            <a:r>
              <a:rPr lang="it-IT" sz="1800" dirty="0" err="1">
                <a:solidFill>
                  <a:srgbClr val="000000"/>
                </a:solidFill>
                <a:latin typeface="Franklin Gothic Book"/>
              </a:rPr>
              <a:t>crucial</a:t>
            </a:r>
            <a:r>
              <a:rPr lang="it-IT" sz="1800" dirty="0">
                <a:solidFill>
                  <a:srgbClr val="000000"/>
                </a:solidFill>
                <a:latin typeface="Franklin Gothic Book"/>
              </a:rPr>
              <a:t> for </a:t>
            </a:r>
            <a:r>
              <a:rPr lang="it-IT" sz="1800" dirty="0" err="1">
                <a:solidFill>
                  <a:srgbClr val="000000"/>
                </a:solidFill>
                <a:latin typeface="Franklin Gothic Book"/>
              </a:rPr>
              <a:t>stability</a:t>
            </a:r>
            <a:r>
              <a:rPr lang="it-IT" sz="1800" dirty="0">
                <a:solidFill>
                  <a:srgbClr val="000000"/>
                </a:solidFill>
                <a:latin typeface="Franklin Gothic Book"/>
              </a:rPr>
              <a:t>, </a:t>
            </a:r>
            <a:r>
              <a:rPr lang="it-IT" sz="1800" dirty="0" err="1">
                <a:solidFill>
                  <a:srgbClr val="000000"/>
                </a:solidFill>
                <a:latin typeface="Franklin Gothic Book"/>
              </a:rPr>
              <a:t>maneuverability</a:t>
            </a:r>
            <a:r>
              <a:rPr lang="it-IT" sz="1800" dirty="0">
                <a:solidFill>
                  <a:srgbClr val="000000"/>
                </a:solidFill>
                <a:latin typeface="Franklin Gothic Book"/>
              </a:rPr>
              <a:t> and drag </a:t>
            </a:r>
            <a:r>
              <a:rPr lang="it-IT" sz="1800" dirty="0" err="1">
                <a:solidFill>
                  <a:srgbClr val="000000"/>
                </a:solidFill>
                <a:latin typeface="Franklin Gothic Book"/>
              </a:rPr>
              <a:t>resistance</a:t>
            </a:r>
            <a:r>
              <a:rPr lang="it-IT" sz="1800" dirty="0">
                <a:solidFill>
                  <a:srgbClr val="000000"/>
                </a:solidFill>
                <a:latin typeface="Franklin Gothic Book"/>
              </a:rPr>
              <a:t>.</a:t>
            </a:r>
          </a:p>
          <a:p>
            <a:pPr marL="283464" marR="0" lvl="0" indent="-283464" algn="l" defTabSz="914400" rtl="0" eaLnBrk="1" fontAlgn="auto" latinLnBrk="0" hangingPunct="1">
              <a:lnSpc>
                <a:spcPct val="80000"/>
              </a:lnSpc>
              <a:spcBef>
                <a:spcPts val="2200"/>
              </a:spcBef>
              <a:spcAft>
                <a:spcPts val="0"/>
              </a:spcAft>
              <a:buClrTx/>
              <a:buSzTx/>
              <a:buFont typeface="Arial" panose="020B0604020202020204" pitchFamily="34" charset="0"/>
              <a:buChar char="•"/>
              <a:tabLst/>
              <a:defRPr/>
            </a:pPr>
            <a:r>
              <a:rPr lang="it-IT" b="1" dirty="0">
                <a:solidFill>
                  <a:srgbClr val="7CA655">
                    <a:lumMod val="75000"/>
                  </a:srgbClr>
                </a:solidFill>
                <a:latin typeface="Franklin Gothic Book"/>
              </a:rPr>
              <a:t>General </a:t>
            </a:r>
            <a:r>
              <a:rPr lang="it-IT" b="1" dirty="0" err="1">
                <a:solidFill>
                  <a:srgbClr val="7CA655">
                    <a:lumMod val="75000"/>
                  </a:srgbClr>
                </a:solidFill>
                <a:latin typeface="Franklin Gothic Book"/>
              </a:rPr>
              <a:t>Conclusions</a:t>
            </a:r>
            <a:r>
              <a:rPr kumimoji="0" lang="it-IT" sz="2000" b="1" i="0" u="none" strike="noStrike" kern="1200" cap="none" spc="0" normalizeH="0" baseline="0" noProof="0" dirty="0">
                <a:ln>
                  <a:noFill/>
                </a:ln>
                <a:solidFill>
                  <a:srgbClr val="7CA655">
                    <a:lumMod val="75000"/>
                  </a:srgbClr>
                </a:solidFill>
                <a:effectLst/>
                <a:uLnTx/>
                <a:uFillTx/>
                <a:latin typeface="Franklin Gothic Book"/>
                <a:ea typeface="+mn-ea"/>
                <a:cs typeface="+mn-cs"/>
              </a:rPr>
              <a:t>:</a:t>
            </a:r>
          </a:p>
          <a:p>
            <a:pPr marL="283464" marR="0" lvl="0" indent="-283464" algn="l" defTabSz="914400" rtl="0" eaLnBrk="1" fontAlgn="auto" latinLnBrk="0" hangingPunct="1">
              <a:lnSpc>
                <a:spcPct val="80000"/>
              </a:lnSpc>
              <a:spcBef>
                <a:spcPts val="2200"/>
              </a:spcBef>
              <a:spcAft>
                <a:spcPts val="0"/>
              </a:spcAft>
              <a:buClrTx/>
              <a:buSzTx/>
              <a:buFont typeface="Arial" panose="020B0604020202020204" pitchFamily="34" charset="0"/>
              <a:buChar char="•"/>
              <a:tabLst/>
              <a:defRPr/>
            </a:pPr>
            <a:r>
              <a:rPr lang="it-IT" sz="1800" dirty="0" err="1">
                <a:solidFill>
                  <a:srgbClr val="000000"/>
                </a:solidFill>
                <a:latin typeface="Franklin Gothic Book"/>
              </a:rPr>
              <a:t>Optimizations</a:t>
            </a:r>
            <a:r>
              <a:rPr lang="it-IT" sz="1800" dirty="0">
                <a:solidFill>
                  <a:srgbClr val="000000"/>
                </a:solidFill>
                <a:latin typeface="Franklin Gothic Book"/>
              </a:rPr>
              <a:t> in </a:t>
            </a:r>
            <a:r>
              <a:rPr lang="it-IT" sz="1800" dirty="0" err="1">
                <a:solidFill>
                  <a:srgbClr val="000000"/>
                </a:solidFill>
                <a:latin typeface="Franklin Gothic Book"/>
              </a:rPr>
              <a:t>rims</a:t>
            </a:r>
            <a:r>
              <a:rPr lang="it-IT" sz="1800" dirty="0">
                <a:solidFill>
                  <a:srgbClr val="000000"/>
                </a:solidFill>
                <a:latin typeface="Franklin Gothic Book"/>
              </a:rPr>
              <a:t> and </a:t>
            </a:r>
            <a:r>
              <a:rPr lang="it-IT" sz="1800" dirty="0" err="1">
                <a:solidFill>
                  <a:srgbClr val="000000"/>
                </a:solidFill>
                <a:latin typeface="Franklin Gothic Book"/>
              </a:rPr>
              <a:t>tyres</a:t>
            </a:r>
            <a:r>
              <a:rPr lang="it-IT" sz="1800" dirty="0">
                <a:solidFill>
                  <a:srgbClr val="000000"/>
                </a:solidFill>
                <a:latin typeface="Franklin Gothic Book"/>
              </a:rPr>
              <a:t> </a:t>
            </a:r>
            <a:r>
              <a:rPr lang="it-IT" sz="1800" dirty="0" err="1">
                <a:solidFill>
                  <a:srgbClr val="000000"/>
                </a:solidFill>
                <a:latin typeface="Franklin Gothic Book"/>
              </a:rPr>
              <a:t>improve</a:t>
            </a:r>
            <a:r>
              <a:rPr lang="it-IT" sz="1800" dirty="0">
                <a:solidFill>
                  <a:srgbClr val="000000"/>
                </a:solidFill>
                <a:latin typeface="Franklin Gothic Book"/>
              </a:rPr>
              <a:t> </a:t>
            </a:r>
            <a:r>
              <a:rPr lang="it-IT" sz="1800" dirty="0" err="1">
                <a:solidFill>
                  <a:srgbClr val="000000"/>
                </a:solidFill>
                <a:latin typeface="Franklin Gothic Book"/>
              </a:rPr>
              <a:t>both</a:t>
            </a:r>
            <a:r>
              <a:rPr lang="it-IT" sz="1800" dirty="0">
                <a:solidFill>
                  <a:srgbClr val="000000"/>
                </a:solidFill>
                <a:latin typeface="Franklin Gothic Book"/>
              </a:rPr>
              <a:t> performance and </a:t>
            </a:r>
            <a:r>
              <a:rPr lang="it-IT" sz="1800" dirty="0" err="1">
                <a:solidFill>
                  <a:srgbClr val="000000"/>
                </a:solidFill>
                <a:latin typeface="Franklin Gothic Book"/>
              </a:rPr>
              <a:t>safety</a:t>
            </a:r>
            <a:r>
              <a:rPr kumimoji="0" lang="it-IT" sz="1800" b="0" i="0" u="none" strike="noStrike" kern="1200" cap="none" spc="0" normalizeH="0" baseline="0" noProof="0" dirty="0">
                <a:ln>
                  <a:noFill/>
                </a:ln>
                <a:solidFill>
                  <a:srgbClr val="000000"/>
                </a:solidFill>
                <a:effectLst/>
                <a:uLnTx/>
                <a:uFillTx/>
                <a:latin typeface="Franklin Gothic Book"/>
                <a:ea typeface="+mn-ea"/>
                <a:cs typeface="+mn-cs"/>
              </a:rPr>
              <a:t>.</a:t>
            </a:r>
          </a:p>
          <a:p>
            <a:pPr marL="283464" marR="0" lvl="0" indent="-283464" algn="l" defTabSz="914400" rtl="0" eaLnBrk="1" fontAlgn="auto" latinLnBrk="0" hangingPunct="1">
              <a:lnSpc>
                <a:spcPct val="80000"/>
              </a:lnSpc>
              <a:spcBef>
                <a:spcPts val="2200"/>
              </a:spcBef>
              <a:spcAft>
                <a:spcPts val="0"/>
              </a:spcAft>
              <a:buClrTx/>
              <a:buSzTx/>
              <a:buFont typeface="Arial" panose="020B0604020202020204" pitchFamily="34" charset="0"/>
              <a:buChar char="•"/>
              <a:tabLst/>
              <a:defRPr/>
            </a:pPr>
            <a:r>
              <a:rPr lang="it-IT" sz="1800" dirty="0">
                <a:solidFill>
                  <a:srgbClr val="000000"/>
                </a:solidFill>
                <a:latin typeface="Franklin Gothic Book"/>
              </a:rPr>
              <a:t>Next steps: </a:t>
            </a:r>
            <a:r>
              <a:rPr lang="it-IT" sz="1800" dirty="0" err="1">
                <a:solidFill>
                  <a:srgbClr val="000000"/>
                </a:solidFill>
                <a:latin typeface="Franklin Gothic Book"/>
              </a:rPr>
              <a:t>further</a:t>
            </a:r>
            <a:r>
              <a:rPr lang="it-IT" sz="1800" dirty="0">
                <a:solidFill>
                  <a:srgbClr val="000000"/>
                </a:solidFill>
                <a:latin typeface="Franklin Gothic Book"/>
              </a:rPr>
              <a:t> </a:t>
            </a:r>
            <a:r>
              <a:rPr lang="it-IT" sz="1800" dirty="0" err="1">
                <a:solidFill>
                  <a:srgbClr val="000000"/>
                </a:solidFill>
                <a:latin typeface="Franklin Gothic Book"/>
              </a:rPr>
              <a:t>explore</a:t>
            </a:r>
            <a:r>
              <a:rPr lang="it-IT" sz="1800" dirty="0">
                <a:solidFill>
                  <a:srgbClr val="000000"/>
                </a:solidFill>
                <a:latin typeface="Franklin Gothic Book"/>
              </a:rPr>
              <a:t> the </a:t>
            </a:r>
            <a:r>
              <a:rPr lang="it-IT" sz="1800" dirty="0" err="1">
                <a:solidFill>
                  <a:srgbClr val="000000"/>
                </a:solidFill>
                <a:latin typeface="Franklin Gothic Book"/>
              </a:rPr>
              <a:t>synergy</a:t>
            </a:r>
            <a:r>
              <a:rPr lang="it-IT" sz="1800" dirty="0">
                <a:solidFill>
                  <a:srgbClr val="000000"/>
                </a:solidFill>
                <a:latin typeface="Franklin Gothic Book"/>
              </a:rPr>
              <a:t> </a:t>
            </a:r>
            <a:r>
              <a:rPr lang="it-IT" sz="1800" dirty="0" err="1">
                <a:solidFill>
                  <a:srgbClr val="000000"/>
                </a:solidFill>
                <a:latin typeface="Franklin Gothic Book"/>
              </a:rPr>
              <a:t>between</a:t>
            </a:r>
            <a:r>
              <a:rPr lang="it-IT" sz="1800" dirty="0">
                <a:solidFill>
                  <a:srgbClr val="000000"/>
                </a:solidFill>
                <a:latin typeface="Franklin Gothic Book"/>
              </a:rPr>
              <a:t> </a:t>
            </a:r>
            <a:r>
              <a:rPr lang="it-IT" sz="1800" dirty="0" err="1">
                <a:solidFill>
                  <a:srgbClr val="000000"/>
                </a:solidFill>
                <a:latin typeface="Franklin Gothic Book"/>
              </a:rPr>
              <a:t>aerodynamic</a:t>
            </a:r>
            <a:r>
              <a:rPr lang="it-IT" sz="1800" dirty="0">
                <a:solidFill>
                  <a:srgbClr val="000000"/>
                </a:solidFill>
                <a:latin typeface="Franklin Gothic Book"/>
              </a:rPr>
              <a:t> and </a:t>
            </a:r>
            <a:r>
              <a:rPr lang="it-IT" sz="1800" dirty="0" err="1">
                <a:solidFill>
                  <a:srgbClr val="000000"/>
                </a:solidFill>
                <a:latin typeface="Franklin Gothic Book"/>
              </a:rPr>
              <a:t>dynamic</a:t>
            </a:r>
            <a:r>
              <a:rPr lang="it-IT" sz="1800" dirty="0">
                <a:solidFill>
                  <a:srgbClr val="000000"/>
                </a:solidFill>
                <a:latin typeface="Franklin Gothic Book"/>
              </a:rPr>
              <a:t> </a:t>
            </a:r>
            <a:r>
              <a:rPr lang="it-IT" sz="1800" dirty="0" err="1">
                <a:solidFill>
                  <a:srgbClr val="000000"/>
                </a:solidFill>
                <a:latin typeface="Franklin Gothic Book"/>
              </a:rPr>
              <a:t>components</a:t>
            </a:r>
            <a:r>
              <a:rPr lang="it-IT" sz="1800" dirty="0">
                <a:solidFill>
                  <a:srgbClr val="000000"/>
                </a:solidFill>
                <a:latin typeface="Franklin Gothic Book"/>
              </a:rPr>
              <a:t> in </a:t>
            </a:r>
            <a:r>
              <a:rPr lang="it-IT" sz="1800" dirty="0" err="1">
                <a:solidFill>
                  <a:srgbClr val="000000"/>
                </a:solidFill>
                <a:latin typeface="Franklin Gothic Book"/>
              </a:rPr>
              <a:t>real</a:t>
            </a:r>
            <a:r>
              <a:rPr lang="it-IT" sz="1800" dirty="0">
                <a:solidFill>
                  <a:srgbClr val="000000"/>
                </a:solidFill>
                <a:latin typeface="Franklin Gothic Book"/>
              </a:rPr>
              <a:t>-world </a:t>
            </a:r>
            <a:r>
              <a:rPr lang="it-IT" sz="1800" dirty="0" err="1">
                <a:solidFill>
                  <a:srgbClr val="000000"/>
                </a:solidFill>
                <a:latin typeface="Franklin Gothic Book"/>
              </a:rPr>
              <a:t>scenarios</a:t>
            </a:r>
            <a:r>
              <a:rPr lang="it-IT" sz="1800" dirty="0">
                <a:solidFill>
                  <a:srgbClr val="000000"/>
                </a:solidFill>
                <a:latin typeface="Franklin Gothic Book"/>
              </a:rPr>
              <a:t>.</a:t>
            </a:r>
            <a:endParaRPr kumimoji="0" lang="it-IT" sz="1800" b="0" i="0" u="none" strike="noStrike" kern="1200" cap="none" spc="0" normalizeH="0" baseline="0" noProof="0" dirty="0">
              <a:ln>
                <a:noFill/>
              </a:ln>
              <a:solidFill>
                <a:srgbClr val="000000"/>
              </a:solidFill>
              <a:effectLst/>
              <a:uLnTx/>
              <a:uFillTx/>
              <a:latin typeface="Franklin Gothic Book"/>
              <a:ea typeface="+mn-ea"/>
              <a:cs typeface="+mn-cs"/>
            </a:endParaRPr>
          </a:p>
          <a:p>
            <a:pPr marL="283464" marR="0" lvl="0" indent="-283464" algn="l" defTabSz="914400" rtl="0" eaLnBrk="1" fontAlgn="auto" latinLnBrk="0" hangingPunct="1">
              <a:lnSpc>
                <a:spcPct val="80000"/>
              </a:lnSpc>
              <a:spcBef>
                <a:spcPts val="2200"/>
              </a:spcBef>
              <a:spcAft>
                <a:spcPts val="0"/>
              </a:spcAft>
              <a:buClrTx/>
              <a:buSzTx/>
              <a:buFont typeface="Arial" panose="020B0604020202020204" pitchFamily="34" charset="0"/>
              <a:buChar char="•"/>
              <a:tabLst/>
              <a:defRPr/>
            </a:pPr>
            <a:endParaRPr kumimoji="0" lang="it-IT" sz="1800" b="0" i="0" u="none" strike="noStrike" kern="1200" cap="none" spc="0" normalizeH="0" baseline="0" noProof="0" dirty="0">
              <a:ln>
                <a:noFill/>
              </a:ln>
              <a:solidFill>
                <a:srgbClr val="000000"/>
              </a:solidFill>
              <a:effectLst/>
              <a:uLnTx/>
              <a:uFillTx/>
              <a:latin typeface="Franklin Gothic Book"/>
              <a:ea typeface="+mn-ea"/>
              <a:cs typeface="+mn-cs"/>
            </a:endParaRPr>
          </a:p>
          <a:p>
            <a:endParaRPr lang="en-GB" dirty="0"/>
          </a:p>
        </p:txBody>
      </p:sp>
    </p:spTree>
    <p:extLst>
      <p:ext uri="{BB962C8B-B14F-4D97-AF65-F5344CB8AC3E}">
        <p14:creationId xmlns:p14="http://schemas.microsoft.com/office/powerpoint/2010/main" val="12830102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ctrTitle"/>
          </p:nvPr>
        </p:nvSpPr>
        <p:spPr>
          <a:xfrm>
            <a:off x="594360" y="411479"/>
            <a:ext cx="5486400" cy="3291840"/>
          </a:xfrm>
        </p:spPr>
        <p:txBody>
          <a:bodyPr/>
          <a:lstStyle/>
          <a:p>
            <a:r>
              <a:rPr lang="en-US" dirty="0"/>
              <a:t>Thank you</a:t>
            </a:r>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21FFAC0-05A2-416A-B06C-C248395482C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{1F0948CF-DE57-4646-ACF8-D8A6F0CAD7D9}tf78853419_win32</Template>
  <TotalTime>26</TotalTime>
  <Words>2359</Words>
  <Application>Microsoft Office PowerPoint</Application>
  <PresentationFormat>Widescreen</PresentationFormat>
  <Paragraphs>266</Paragraphs>
  <Slides>20</Slides>
  <Notes>18</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20</vt:i4>
      </vt:variant>
    </vt:vector>
  </HeadingPairs>
  <TitlesOfParts>
    <vt:vector size="28" baseType="lpstr">
      <vt:lpstr>Aptos</vt:lpstr>
      <vt:lpstr>Arial</vt:lpstr>
      <vt:lpstr>Arial,Sans-Serif</vt:lpstr>
      <vt:lpstr>Calibri</vt:lpstr>
      <vt:lpstr>Cambria Math</vt:lpstr>
      <vt:lpstr>Franklin Gothic Book</vt:lpstr>
      <vt:lpstr>Franklin Gothic Demi</vt:lpstr>
      <vt:lpstr>Custom</vt:lpstr>
      <vt:lpstr>Aerodynamic</vt:lpstr>
      <vt:lpstr>Outline</vt:lpstr>
      <vt:lpstr>Introduction: General Context </vt:lpstr>
      <vt:lpstr>Specific Topics </vt:lpstr>
      <vt:lpstr>Rim and tyre influence on car aerodynamic</vt:lpstr>
      <vt:lpstr>Stationary vs rotating wheels</vt:lpstr>
      <vt:lpstr>Tyre deformation and contact patch</vt:lpstr>
      <vt:lpstr>Influence of tyre grooves and rim openings </vt:lpstr>
      <vt:lpstr>Influence of tyre grooves</vt:lpstr>
      <vt:lpstr>Influence of tyre grooves</vt:lpstr>
      <vt:lpstr>Influence of rims openings</vt:lpstr>
      <vt:lpstr>Influence of tyre profile </vt:lpstr>
      <vt:lpstr>Rim and tyre influence on motorbike aerodynamic</vt:lpstr>
      <vt:lpstr>Influence of Rim Design on Drag and Lift Forces</vt:lpstr>
      <vt:lpstr>Design Trade-offs: Stability vs Efficiency</vt:lpstr>
      <vt:lpstr>Rotation Effects on Aerodynamics Performance</vt:lpstr>
      <vt:lpstr>Impact of Tire Profiles on Aerodynamics</vt:lpstr>
      <vt:lpstr>Conclusions: Reflections on Car Aerodynamics</vt:lpstr>
      <vt:lpstr>Impacts on Motorcycles and General Conclusions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BERGESE ARIANNA</dc:creator>
  <cp:lastModifiedBy>Massone  Tommaso Francesco</cp:lastModifiedBy>
  <cp:revision>34</cp:revision>
  <dcterms:created xsi:type="dcterms:W3CDTF">2024-12-22T09:16:34Z</dcterms:created>
  <dcterms:modified xsi:type="dcterms:W3CDTF">2025-01-03T16:39:40Z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